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present the rebuild direction and obtain approval to proceed into requirements closure and production data profiling.</a:t>
            </a:r>
          </a:p>
          <a:p>
            <a:r>
              <a:t>Sources:</a:t>
            </a:r>
          </a:p>
          <a:p>
            <a:r>
              <a:t>- OST PPT Template Apr 2026.potx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production migration recommendation remains conditional on profiling a recent sanitized production snapshot.</a:t>
            </a:r>
          </a:p>
          <a:p>
            <a:r>
              <a:t>Sources:</a:t>
            </a:r>
          </a:p>
          <a:p>
            <a:r>
              <a:t>- database-redesign-proposal.docx, sections 1 and 10</a:t>
            </a:r>
          </a:p>
          <a:p>
            <a:r>
              <a:t>- ePTW-Requirements-Review.pdf, pages 5-7 and 93-95</a:t>
            </a:r>
          </a:p>
          <a:p>
            <a:r>
              <a:t>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Verification run: npm.cmd run build and npm.cmd test; 3 test files and 20 tests passed.</a:t>
            </a:r>
          </a:p>
          <a:p>
            <a:r>
              <a:t>Sources:</a:t>
            </a:r>
          </a:p>
          <a:p>
            <a:r>
              <a:t>- ePTW-Requirements-Review.pdf</a:t>
            </a:r>
          </a:p>
          <a:p>
            <a:r>
              <a:t>- database-redesign-proposal.docx</a:t>
            </a:r>
          </a:p>
          <a:p>
            <a:r>
              <a:t>- old-vs-new-schema.docx</a:t>
            </a:r>
          </a:p>
          <a:p>
            <a:r>
              <a:t>- README.md</a:t>
            </a:r>
          </a:p>
          <a:p>
            <a:r>
              <a:t>- package.json</a:t>
            </a:r>
          </a:p>
          <a:p>
            <a:r>
              <a:t>- tests/app.test.tsx</a:t>
            </a:r>
          </a:p>
          <a:p>
            <a:r>
              <a:t>- tests/policy.test.ts</a:t>
            </a:r>
          </a:p>
          <a:p>
            <a:r>
              <a:t>- tests/repository.test.ts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issues shown are code-level findings. Live prevalence remains to be measured against a sanitized production snapshot.</a:t>
            </a:r>
          </a:p>
          <a:p>
            <a:r>
              <a:t>Sources:</a:t>
            </a:r>
          </a:p>
          <a:p>
            <a:r>
              <a:t>- database-redesign-proposal.docx, sections 2-3</a:t>
            </a:r>
          </a:p>
          <a:p>
            <a:r>
              <a:t>- old-vs-new-schema.docx, sections 1-3</a:t>
            </a:r>
          </a:p>
          <a:p>
            <a:r>
              <a:t>- ePTW-Requirements-Review.pdf, pages 5-6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consolidates the proposed end-to-end user journey. Specific workflow roles remain subject to the decisions on slide 9.</a:t>
            </a:r>
          </a:p>
          <a:p>
            <a:r>
              <a:t>Sources:</a:t>
            </a:r>
          </a:p>
          <a:p>
            <a:r>
              <a:t>- ePTW-Requirements-Review.pdf, sections 5-22</a:t>
            </a:r>
          </a:p>
          <a:p>
            <a:r>
              <a:t>- database-redesign-proposal.docx, sections 6-8</a:t>
            </a:r>
          </a:p>
          <a:p>
            <a:r>
              <a:t>- src/App.tsx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current frontend stores seeded data in the browser and explicitly provides no real authentication, upload, notification or backend security.</a:t>
            </a:r>
          </a:p>
          <a:p>
            <a:r>
              <a:t>Sources:</a:t>
            </a:r>
          </a:p>
          <a:p>
            <a:r>
              <a:t>- database-redesign-proposal.docx, sections 4, 5 and 7</a:t>
            </a:r>
          </a:p>
          <a:p>
            <a:r>
              <a:t>- ePTW-Requirements-Review.pdf, sections 15-21</a:t>
            </a:r>
          </a:p>
          <a:p>
            <a:r>
              <a:t>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proposal specifies 27 application tables and three migration-control tables.</a:t>
            </a:r>
          </a:p>
          <a:p>
            <a:r>
              <a:t>Sources:</a:t>
            </a:r>
          </a:p>
          <a:p>
            <a:r>
              <a:t>- database-redesign-proposal.docx, sections 3-7</a:t>
            </a:r>
          </a:p>
          <a:p>
            <a:r>
              <a:t>- old-vs-new-schema.docx, sections 1-9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prototype is a control proof, not the final role model.</a:t>
            </a:r>
          </a:p>
          <a:p>
            <a:r>
              <a:t>Sources:</a:t>
            </a:r>
          </a:p>
          <a:p>
            <a:r>
              <a:t>- src/policy.ts</a:t>
            </a:r>
          </a:p>
          <a:p>
            <a:r>
              <a:t>- src/repository.ts</a:t>
            </a:r>
          </a:p>
          <a:p>
            <a:r>
              <a:t>- src/types.ts</a:t>
            </a:r>
          </a:p>
          <a:p>
            <a:r>
              <a:t>- tests/policy.test.ts</a:t>
            </a:r>
          </a:p>
          <a:p>
            <a:r>
              <a:t>- tests/repository.test.ts</a:t>
            </a:r>
          </a:p>
          <a:p>
            <a:r>
              <a:t>- ePTW-Requirements-Review.pdf, sections 3, 8-10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source conflicts or unresolved questions, not implementation defects in the prototype.</a:t>
            </a:r>
          </a:p>
          <a:p>
            <a:r>
              <a:t>Sources:</a:t>
            </a:r>
          </a:p>
          <a:p>
            <a:r>
              <a:t>- ePTW-Requirements-Review.pdf, pages 21, 35, 37-42, 56, 59, 75-76 and 83</a:t>
            </a:r>
          </a:p>
          <a:p>
            <a:r>
              <a:t>- database-redesign-proposal.docx, sections 4-6 and 12</a:t>
            </a:r>
          </a:p>
          <a:p>
            <a:r>
              <a:t>- src/policy.ts</a:t>
            </a:r>
          </a:p>
          <a:p>
            <a:r>
              <a:t>- src/types.ts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schedule duration is asserted because the sources do not contain production volumes or resource commitments.</a:t>
            </a:r>
          </a:p>
          <a:p>
            <a:r>
              <a:t>Sources:</a:t>
            </a:r>
          </a:p>
          <a:p>
            <a:r>
              <a:t>- database-redesign-proposal.docx, section 10</a:t>
            </a:r>
          </a:p>
          <a:p>
            <a:r>
              <a:t>- old-vs-new-schema.docx, section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sequencing rather than a duration estimate.</a:t>
            </a:r>
          </a:p>
          <a:p>
            <a:r>
              <a:t>Sources:</a:t>
            </a:r>
          </a:p>
          <a:p>
            <a:r>
              <a:t>- database-redesign-proposal.docx, sections 10-11</a:t>
            </a:r>
          </a:p>
          <a:p>
            <a:r>
              <a:t>- ePTW-Requirements-Review.pdf, sections 22-24</a:t>
            </a:r>
          </a:p>
          <a:p>
            <a:r>
              <a:t>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Risks are derived from the supplied design gaps and open questions; no probability scoring is asserted.</a:t>
            </a:r>
          </a:p>
          <a:p>
            <a:r>
              <a:t>Sources:</a:t>
            </a:r>
          </a:p>
          <a:p>
            <a:r>
              <a:t>- database-redesign-proposal.docx, sections 3, 10, 12 and 13</a:t>
            </a:r>
          </a:p>
          <a:p>
            <a:r>
              <a:t>- ePTW-Requirements-Review.pdf, sections 19 and 21-24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requested decision is intentionally limited to direction and controlled discovery.</a:t>
            </a:r>
          </a:p>
          <a:p>
            <a:r>
              <a:t>Sources:</a:t>
            </a:r>
          </a:p>
          <a:p>
            <a:r>
              <a:t>- database-redesign-proposal.docx, sections 1, 10-12</a:t>
            </a:r>
          </a:p>
          <a:p>
            <a:r>
              <a:t>- ePTW-Requirements-Review.pdf, pages 93-95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README explicitly states that the draft has no real authentication, file upload, notification or backend security.</a:t>
            </a:r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src/App.tsx</a:t>
            </a:r>
          </a:p>
          <a:p>
            <a:r>
              <a:t>- src/TemplateBuilderPage.tsx</a:t>
            </a:r>
          </a:p>
          <a:p>
            <a:r>
              <a:t>- src/AdminUsersMaps.tsx</a:t>
            </a:r>
          </a:p>
          <a:p>
            <a:r>
              <a:t>- src/AdminDirectories.tsx</a:t>
            </a:r>
          </a:p>
          <a:p>
            <a:r>
              <a:t>- src/policy.ts</a:t>
            </a:r>
          </a:p>
          <a:p>
            <a:r>
              <a:t>- src/repository.ts</a:t>
            </a:r>
          </a:p>
          <a:p>
            <a:r>
              <a:t>- tests/*.ts and tests/*.tsx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D886DB-98B2-35DE-F8C5-0272A3CB5FF0}"/>
              </a:ext>
            </a:extLst>
          </p:cNvPr>
          <p:cNvSpPr>
            <a:spLocks noGrp="1"/>
          </p:cNvSpPr>
          <p:nvPr/>
        </p:nvSpPr>
        <p:spPr>
          <a:xfrm>
            <a:off x="10027342" y="6413525"/>
            <a:ext cx="19127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80B648-99F0-F3A2-8792-084321849479}"/>
              </a:ext>
            </a:extLst>
          </p:cNvPr>
          <p:cNvSpPr>
            <a:spLocks noGrp="1"/>
          </p:cNvSpPr>
          <p:nvPr/>
        </p:nvSpPr>
        <p:spPr>
          <a:xfrm>
            <a:off x="859367" y="1615183"/>
            <a:ext cx="725390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ONESYSTEMS</a:t>
            </a:r>
            <a:r>
              <a:rPr sz="64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 </a:t>
            </a:r>
          </a:p>
          <a:p>
            <a:r>
              <a:rPr sz="36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TECHNOLOGIES PTE LTD​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3D10E4-676A-0D49-2600-A5B3FC0E295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59367" y="3429000"/>
            <a:ext cx="6126289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pic>
        <p:nvPicPr>
          <p:cNvPr id="1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99" y="406672"/>
            <a:ext cx="1848388" cy="5559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29AF47-3C44-831A-C3EE-C8B2064FF819}"/>
              </a:ext>
            </a:extLst>
          </p:cNvPr>
          <p:cNvSpPr>
            <a:spLocks noGrp="1"/>
          </p:cNvSpPr>
          <p:nvPr/>
        </p:nvSpPr>
        <p:spPr>
          <a:xfrm>
            <a:off x="10027342" y="6413525"/>
            <a:ext cx="19127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Nam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D886DB-98B2-35DE-F8C5-0272A3CB5FF0}"/>
              </a:ext>
            </a:extLst>
          </p:cNvPr>
          <p:cNvSpPr>
            <a:spLocks noGrp="1"/>
          </p:cNvSpPr>
          <p:nvPr/>
        </p:nvSpPr>
        <p:spPr>
          <a:xfrm>
            <a:off x="10027342" y="6413525"/>
            <a:ext cx="19127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3D10E4-676A-0D49-2600-A5B3FC0E295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59367" y="3429000"/>
            <a:ext cx="6126289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pic>
        <p:nvPicPr>
          <p:cNvPr id="16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99" y="406672"/>
            <a:ext cx="1848388" cy="5559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29AF47-3C44-831A-C3EE-C8B2064FF819}"/>
              </a:ext>
            </a:extLst>
          </p:cNvPr>
          <p:cNvSpPr>
            <a:spLocks noGrp="1"/>
          </p:cNvSpPr>
          <p:nvPr/>
        </p:nvSpPr>
        <p:spPr>
          <a:xfrm>
            <a:off x="10027342" y="6413525"/>
            <a:ext cx="19127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A2B08D02-22CB-CF7D-1A31-504CF60ED79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59366" y="2374721"/>
            <a:ext cx="6126289" cy="914400"/>
          </a:xfrm>
          <a:prstGeom prst="rect">
            <a:avLst/>
          </a:prstGeom>
        </p:spPr>
        <p:txBody>
          <a:bodyPr/>
          <a:lstStyle>
            <a:lvl1pPr marL="0" indent="0" algn="l" defTabSz="457200">
              <a:buNone/>
              <a:defRPr sz="63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Company Name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BACKGROUND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0F203D7-0A7A-0DEE-DA2F-CD91F37B6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44" y="272613"/>
            <a:ext cx="8691562" cy="549274"/>
          </a:xfrm>
          <a:prstGeom prst="rect">
            <a:avLst/>
          </a:prstGeom>
        </p:spPr>
        <p:txBody>
          <a:bodyPr/>
          <a:lstStyle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8A55977-7A3F-A9BD-8659-735C9F60666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308893" y="1899548"/>
            <a:ext cx="9574213" cy="38862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pPr lvl="0">
              <a:buNone/>
            </a:pPr>
            <a:r>
              <a:t>BODY TEXT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835BE7-B93B-6F4A-4A50-A7B8159C049C}"/>
              </a:ext>
            </a:extLst>
          </p:cNvPr>
          <p:cNvSpPr>
            <a:spLocks noGrp="1"/>
          </p:cNvSpPr>
          <p:nvPr/>
        </p:nvSpPr>
        <p:spPr>
          <a:xfrm>
            <a:off x="9848777" y="6479823"/>
            <a:ext cx="19127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Ownership. Sustainability. Trustworthy</a:t>
            </a:r>
          </a:p>
        </p:txBody>
      </p:sp>
      <p:pic>
        <p:nvPicPr>
          <p:cNvPr id="1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8057" y="297657"/>
            <a:ext cx="1667688" cy="4895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8E8EB5-F260-83CA-7447-0011100F18B3}"/>
              </a:ext>
            </a:extLst>
          </p:cNvPr>
          <p:cNvSpPr>
            <a:spLocks noGrp="1"/>
          </p:cNvSpPr>
          <p:nvPr/>
        </p:nvSpPr>
        <p:spPr>
          <a:xfrm>
            <a:off x="9848777" y="6479823"/>
            <a:ext cx="19127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Ownership. Sustainability. Trustworthy</a:t>
            </a:r>
          </a:p>
        </p:txBody>
      </p:sp>
      <p:pic>
        <p:nvPicPr>
          <p:cNvPr id="19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8057" y="297657"/>
            <a:ext cx="1667688" cy="489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Us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0F203D7-0A7A-0DEE-DA2F-CD91F37B60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444" y="272613"/>
            <a:ext cx="8691562" cy="549274"/>
          </a:xfrm>
          <a:prstGeom prst="rect">
            <a:avLst/>
          </a:prstGeom>
        </p:spPr>
        <p:txBody>
          <a:bodyPr/>
          <a:lstStyle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sz="3200" b="1">
                <a:latin typeface="Bahnschrift"/>
                <a:ea typeface="Bahnschrift"/>
                <a:cs typeface="Bahnschrift"/>
              </a:rPr>
              <a:t>CONTACT US</a:t>
            </a:r>
            <a:endParaRPr/>
          </a:p>
        </p:txBody>
      </p:sp>
      <p:pic>
        <p:nvPicPr>
          <p:cNvPr id="5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8057" y="297657"/>
            <a:ext cx="1667688" cy="489560"/>
          </a:xfrm>
          <a:prstGeom prst="rect">
            <a:avLst/>
          </a:prstGeom>
        </p:spPr>
      </p:pic>
      <p:sp>
        <p:nvSpPr>
          <p:cNvPr id="2" name="Rounded Rectangle 14">
            <a:extLst>
              <a:ext uri="{FF2B5EF4-FFF2-40B4-BE49-F238E27FC236}">
                <a16:creationId xmlns:a16="http://schemas.microsoft.com/office/drawing/2014/main" id="{7FE9F713-6118-DE25-4BAA-36AFB319FCB2}"/>
              </a:ext>
            </a:extLst>
          </p:cNvPr>
          <p:cNvSpPr>
            <a:spLocks noGrp="1"/>
          </p:cNvSpPr>
          <p:nvPr/>
        </p:nvSpPr>
        <p:spPr>
          <a:xfrm>
            <a:off x="7760865" y="1931899"/>
            <a:ext cx="3918856" cy="3897086"/>
          </a:xfrm>
          <a:prstGeom prst="roundRect">
            <a:avLst>
              <a:gd name="adj" fmla="val 472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56F19B-365D-5465-BF7B-51B5E9CE2747}"/>
              </a:ext>
            </a:extLst>
          </p:cNvPr>
          <p:cNvSpPr>
            <a:spLocks noGrp="1"/>
          </p:cNvSpPr>
          <p:nvPr/>
        </p:nvSpPr>
        <p:spPr>
          <a:xfrm>
            <a:off x="590519" y="1352468"/>
            <a:ext cx="6543776" cy="692704"/>
          </a:xfrm>
          <a:prstGeom prst="rect">
            <a:avLst/>
          </a:prstGeom>
          <a:noFill/>
        </p:spPr>
        <p:txBody>
          <a:bodyPr/>
          <a:lstStyle>
            <a:lvl1pPr marL="0" indent="0" algn="l" defTabSz="914400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/>
              <a:buNone/>
              <a:defRPr sz="1800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9144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2pPr>
            <a:lvl3pPr marL="13716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3pPr>
            <a:lvl4pPr marL="18288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4pPr>
            <a:lvl5pPr marL="22860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5pPr>
            <a:lvl6pPr marL="27432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6pPr>
            <a:lvl7pPr marL="32004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7pPr>
            <a:lvl8pPr marL="36576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8pPr>
            <a:lvl9pPr marL="41148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sz="1400">
                <a:latin typeface="Segoe UI"/>
                <a:ea typeface="Segoe UI"/>
                <a:cs typeface="Segoe UI"/>
              </a:rPr>
              <a:t>Thank you for your interest in </a:t>
            </a:r>
            <a:r>
              <a:rPr sz="1400" b="1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OneSystems Technologies</a:t>
            </a:r>
            <a:r>
              <a:rPr sz="1400">
                <a:latin typeface="Segoe UI"/>
                <a:ea typeface="Segoe UI"/>
                <a:cs typeface="Segoe UI"/>
              </a:rPr>
              <a:t>.</a:t>
            </a:r>
            <a:br/>
            <a:r>
              <a:rPr sz="1400">
                <a:latin typeface="Segoe UI"/>
                <a:ea typeface="Segoe UI"/>
                <a:cs typeface="Segoe UI"/>
              </a:rPr>
              <a:t>Our team is here to help with technical-specific questions or general inquiries.</a:t>
            </a:r>
            <a:br/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55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18380" y="2403443"/>
            <a:ext cx="1026042" cy="10322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141B27-BD35-87EA-F93C-FC7B79BDBC2B}"/>
              </a:ext>
            </a:extLst>
          </p:cNvPr>
          <p:cNvSpPr>
            <a:spLocks noGrp="1"/>
          </p:cNvSpPr>
          <p:nvPr/>
        </p:nvSpPr>
        <p:spPr>
          <a:xfrm>
            <a:off x="8378189" y="3489807"/>
            <a:ext cx="11064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LinkedIn</a:t>
            </a:r>
          </a:p>
        </p:txBody>
      </p:sp>
      <p:pic>
        <p:nvPicPr>
          <p:cNvPr id="57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038293" y="2403443"/>
            <a:ext cx="1026042" cy="10322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01FE7B-3878-CE27-B61E-2E7E3FF2C4C5}"/>
              </a:ext>
            </a:extLst>
          </p:cNvPr>
          <p:cNvSpPr>
            <a:spLocks noGrp="1"/>
          </p:cNvSpPr>
          <p:nvPr/>
        </p:nvSpPr>
        <p:spPr>
          <a:xfrm>
            <a:off x="9998102" y="3483199"/>
            <a:ext cx="11064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Facebook</a:t>
            </a:r>
          </a:p>
        </p:txBody>
      </p:sp>
      <p:pic>
        <p:nvPicPr>
          <p:cNvPr id="59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418380" y="4083306"/>
            <a:ext cx="1026042" cy="103226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819E2B9-3BC6-9B8E-06A2-CE3982E666EC}"/>
              </a:ext>
            </a:extLst>
          </p:cNvPr>
          <p:cNvSpPr>
            <a:spLocks noGrp="1"/>
          </p:cNvSpPr>
          <p:nvPr/>
        </p:nvSpPr>
        <p:spPr>
          <a:xfrm>
            <a:off x="8277605" y="5174587"/>
            <a:ext cx="13075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Instagram</a:t>
            </a:r>
          </a:p>
        </p:txBody>
      </p:sp>
      <p:pic>
        <p:nvPicPr>
          <p:cNvPr id="61" name="Picture 3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078484" y="4083306"/>
            <a:ext cx="1026042" cy="103226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9396DD3-7167-EB99-153D-8E42E4D5F509}"/>
              </a:ext>
            </a:extLst>
          </p:cNvPr>
          <p:cNvSpPr>
            <a:spLocks noGrp="1"/>
          </p:cNvSpPr>
          <p:nvPr/>
        </p:nvSpPr>
        <p:spPr>
          <a:xfrm>
            <a:off x="9937709" y="5161675"/>
            <a:ext cx="13075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YouTube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C44A26-1A86-1BCC-1B1B-D4E87C85FF55}"/>
              </a:ext>
            </a:extLst>
          </p:cNvPr>
          <p:cNvSpPr>
            <a:spLocks noGrp="1"/>
          </p:cNvSpPr>
          <p:nvPr/>
        </p:nvSpPr>
        <p:spPr>
          <a:xfrm>
            <a:off x="1035160" y="2678835"/>
            <a:ext cx="24060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Singapore</a:t>
            </a:r>
          </a:p>
          <a:p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190 Woodlands Industrial Park E5</a:t>
            </a:r>
          </a:p>
          <a:p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#06-11 Woodlands Bizhub S757516</a:t>
            </a:r>
          </a:p>
          <a:p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+65 6776 7611 </a:t>
            </a:r>
          </a:p>
          <a:p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Philippines</a:t>
            </a:r>
          </a:p>
          <a:p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East Tower 1904b Tektite Building, </a:t>
            </a:r>
          </a:p>
          <a:p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Exchange Road, San Antonio Pasig, Philippines 1600</a:t>
            </a:r>
          </a:p>
          <a:p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+63 945 6111 180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C5C708-6F43-6AAF-E593-95DFF2A6681F}"/>
              </a:ext>
            </a:extLst>
          </p:cNvPr>
          <p:cNvSpPr>
            <a:spLocks noGrp="1"/>
          </p:cNvSpPr>
          <p:nvPr/>
        </p:nvSpPr>
        <p:spPr>
          <a:xfrm>
            <a:off x="3733040" y="2678834"/>
            <a:ext cx="2613498" cy="1808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Malaysia</a:t>
            </a:r>
          </a:p>
          <a:p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02-08, Blok G, Komersil Southkey Mozek,</a:t>
            </a:r>
            <a:br/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Persiaran Southkey 1, Kota Southkey, </a:t>
            </a:r>
          </a:p>
          <a:p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80150 Johor Bahru, Malaysia</a:t>
            </a:r>
          </a:p>
          <a:p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+607 6907 866</a:t>
            </a:r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India</a:t>
            </a:r>
          </a:p>
          <a:p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Plot No.23A Kk Salai Main, Road Akkarai, Sholinganallur,Kanchipuram, Saidapet, Tamil Nadu, India, 600119​</a:t>
            </a:r>
          </a:p>
          <a:p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+91 98842 13454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55C82D-CBB2-4F6B-73F1-D6E5D3E78F96}"/>
              </a:ext>
            </a:extLst>
          </p:cNvPr>
          <p:cNvSpPr>
            <a:spLocks noGrp="1"/>
          </p:cNvSpPr>
          <p:nvPr/>
        </p:nvSpPr>
        <p:spPr>
          <a:xfrm>
            <a:off x="1035160" y="2347202"/>
            <a:ext cx="104067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Addresses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100B91-8AC5-DD03-7456-631BD5BA2272}"/>
              </a:ext>
            </a:extLst>
          </p:cNvPr>
          <p:cNvSpPr>
            <a:spLocks noGrp="1"/>
          </p:cNvSpPr>
          <p:nvPr/>
        </p:nvSpPr>
        <p:spPr>
          <a:xfrm>
            <a:off x="3733040" y="4969875"/>
            <a:ext cx="816249" cy="30777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Website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C07FDC-A939-586E-BEFA-80810D7A2259}"/>
              </a:ext>
            </a:extLst>
          </p:cNvPr>
          <p:cNvSpPr>
            <a:spLocks noGrp="1"/>
          </p:cNvSpPr>
          <p:nvPr/>
        </p:nvSpPr>
        <p:spPr>
          <a:xfrm>
            <a:off x="3733040" y="5259310"/>
            <a:ext cx="2406040" cy="2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www.onesystemstech.com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775B8D-3F08-DF9C-9217-4CBD50441917}"/>
              </a:ext>
            </a:extLst>
          </p:cNvPr>
          <p:cNvSpPr>
            <a:spLocks noGrp="1"/>
          </p:cNvSpPr>
          <p:nvPr/>
        </p:nvSpPr>
        <p:spPr>
          <a:xfrm>
            <a:off x="1035160" y="4969875"/>
            <a:ext cx="638316" cy="37126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Email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E8BE22-5F1E-30A1-5847-364F0E8F2F14}"/>
              </a:ext>
            </a:extLst>
          </p:cNvPr>
          <p:cNvSpPr>
            <a:spLocks noGrp="1"/>
          </p:cNvSpPr>
          <p:nvPr/>
        </p:nvSpPr>
        <p:spPr>
          <a:xfrm>
            <a:off x="1035160" y="5157501"/>
            <a:ext cx="2406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enquiries@onesystemstech.com             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Pag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0E5DE6-5090-AD1C-448C-54A9D265A5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marL="384048" indent="-384048" algn="l" defTabSz="914400">
        <a:lnSpc>
          <a:spcPct val="94000"/>
        </a:lnSpc>
        <a:spcBef>
          <a:spcPts val="1000"/>
        </a:spcBef>
        <a:spcAft>
          <a:spcPts val="200"/>
        </a:spcAft>
        <a:buFont typeface="Franklin Gothic Book"/>
        <a:buChar char="■"/>
        <a:defRPr sz="2000" kern="1200" baseline="0">
          <a:solidFill>
            <a:schemeClr val="tx2"/>
          </a:solidFill>
          <a:latin typeface="+mn-lt"/>
          <a:ea typeface="+mn-lt"/>
          <a:cs typeface="+mn-lt"/>
        </a:defRPr>
      </a:lvl1pPr>
      <a:lvl2pPr marL="914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2000" i="1" kern="1200" baseline="0">
          <a:solidFill>
            <a:schemeClr val="tx2"/>
          </a:solidFill>
          <a:latin typeface="+mn-lt"/>
          <a:ea typeface="+mn-lt"/>
          <a:cs typeface="+mn-lt"/>
        </a:defRPr>
      </a:lvl2pPr>
      <a:lvl3pPr marL="1371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800" kern="1200" baseline="0">
          <a:solidFill>
            <a:schemeClr val="tx2"/>
          </a:solidFill>
          <a:latin typeface="+mn-lt"/>
          <a:ea typeface="+mn-lt"/>
          <a:cs typeface="+mn-lt"/>
        </a:defRPr>
      </a:lvl3pPr>
      <a:lvl4pPr marL="1828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800" i="1" kern="1200" baseline="0">
          <a:solidFill>
            <a:schemeClr val="tx2"/>
          </a:solidFill>
          <a:latin typeface="+mn-lt"/>
          <a:ea typeface="+mn-lt"/>
          <a:cs typeface="+mn-lt"/>
        </a:defRPr>
      </a:lvl4pPr>
      <a:lvl5pPr marL="22860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600" kern="1200" baseline="0">
          <a:solidFill>
            <a:schemeClr val="tx2"/>
          </a:solidFill>
          <a:latin typeface="+mn-lt"/>
          <a:ea typeface="+mn-lt"/>
          <a:cs typeface="+mn-lt"/>
        </a:defRPr>
      </a:lvl5pPr>
      <a:lvl6pPr marL="27432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600" i="1" kern="1200" baseline="0">
          <a:solidFill>
            <a:schemeClr val="tx2"/>
          </a:solidFill>
          <a:latin typeface="+mn-lt"/>
          <a:ea typeface="+mn-lt"/>
          <a:cs typeface="+mn-lt"/>
        </a:defRPr>
      </a:lvl6pPr>
      <a:lvl7pPr marL="3200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7pPr>
      <a:lvl8pPr marL="3657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400" i="1" kern="1200" baseline="0">
          <a:solidFill>
            <a:schemeClr val="tx2"/>
          </a:solidFill>
          <a:latin typeface="+mn-lt"/>
          <a:ea typeface="+mn-lt"/>
          <a:cs typeface="+mn-lt"/>
        </a:defRPr>
      </a:lvl8pPr>
      <a:lvl9pPr marL="4114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DC4311-A148-47EA-9565-B55C77D728DC}"/>
              </a:ext>
            </a:extLst>
          </p:cNvPr>
          <p:cNvSpPr>
            <a:spLocks noGrp="1"/>
          </p:cNvSpPr>
          <p:nvPr/>
        </p:nvSpPr>
        <p:spPr>
          <a:xfrm>
            <a:off x="838200" y="3081528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9138" lnSpcReduction="10000"/>
          </a:bodyPr>
          <a:lstStyle/>
          <a:p>
            <a:pPr algn="l">
              <a:defRPr sz="29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9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ePTW SYSTEM REBUILD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DE5606-751E-47C0-8B0A-6EF9910F8330}"/>
              </a:ext>
            </a:extLst>
          </p:cNvPr>
          <p:cNvSpPr>
            <a:spLocks noGrp="1"/>
          </p:cNvSpPr>
          <p:nvPr/>
        </p:nvSpPr>
        <p:spPr>
          <a:xfrm>
            <a:off x="838200" y="3595878"/>
            <a:ext cx="5810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00" b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Proposal for a controlled, secure and maintainable Permit-to-Work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AA75CC-BE2A-4919-ADD3-DFC6328610E2}"/>
              </a:ext>
            </a:extLst>
          </p:cNvPr>
          <p:cNvSpPr>
            <a:spLocks noGrp="1"/>
          </p:cNvSpPr>
          <p:nvPr/>
        </p:nvSpPr>
        <p:spPr>
          <a:xfrm>
            <a:off x="838200" y="4762500"/>
            <a:ext cx="5334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DCEE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EFF"/>
                </a:solidFill>
                <a:latin typeface="Segoe UI"/>
                <a:ea typeface="Segoe UI"/>
                <a:cs typeface="Segoe UI"/>
              </a:rPr>
              <a:t>Prepared for solution alignment and implementation planning</a:t>
            </a:r>
          </a:p>
          <a:p>
            <a:pPr algn="l">
              <a:defRPr sz="1350" b="0">
                <a:solidFill>
                  <a:srgbClr val="DCEE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EFF"/>
                </a:solidFill>
                <a:latin typeface="Segoe UI"/>
                <a:ea typeface="Segoe UI"/>
                <a:cs typeface="Segoe UI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71680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D7284D9-DBD4-49AF-AFC3-DE6565FC0698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419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5F9A3-2FCD-448C-900D-94A3AEAE540B}"/>
              </a:ext>
            </a:extLst>
          </p:cNvPr>
          <p:cNvSpPr>
            <a:spLocks noGrp="1"/>
          </p:cNvSpPr>
          <p:nvPr/>
        </p:nvSpPr>
        <p:spPr>
          <a:xfrm>
            <a:off x="1295400" y="1028700"/>
            <a:ext cx="10039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Executive proposal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384031-5687-4419-A638-C902B8D44C37}"/>
              </a:ext>
            </a:extLst>
          </p:cNvPr>
          <p:cNvSpPr>
            <a:spLocks noGrp="1"/>
          </p:cNvSpPr>
          <p:nvPr/>
        </p:nvSpPr>
        <p:spPr>
          <a:xfrm>
            <a:off x="1295400" y="150495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 requested for the rebuild direction, with policy decisions closed before schema freeze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4B7D53-4CBD-4D7F-B247-1ACC3F5BEA66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RECOMMENDATION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C7CDB2-BBE4-466B-B3AC-61FE7D9D58D5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5982"/>
          </a:bodyPr>
          <a:lstStyle/>
          <a:p>
            <a:pPr algn="l">
              <a:defRPr sz="2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Rebuild ePTW around one controlled permit domain, a server-enforced workflow and a PostgreSQL system of record.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21C7C06D-DAF3-4E0F-9094-7FD2DD600CCD}"/>
              </a:ext>
            </a:extLst>
          </p:cNvPr>
          <p:cNvSpPr>
            <a:spLocks noGrp="1"/>
          </p:cNvSpPr>
          <p:nvPr/>
        </p:nvSpPr>
        <p:spPr>
          <a:xfrm>
            <a:off x="762000" y="4114800"/>
            <a:ext cx="438150" cy="0"/>
          </a:xfrm>
          <a:prstGeom prst="line">
            <a:avLst/>
          </a:prstGeom>
          <a:noFill/>
          <a:ln w="381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24AE36-F4F0-4CBB-8ADF-0E8C05BD01D8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Business outcome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4FA920-B28B-468E-ADCF-9070C52F696F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3143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5588"/>
          </a:bodyPr>
          <a:lstStyle/>
          <a:p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 consistent permit journey with clearer responsibilities, stronger access control and reliable audit history.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F1DC7EE-7867-4E15-A001-24DF511CDAEF}"/>
              </a:ext>
            </a:extLst>
          </p:cNvPr>
          <p:cNvSpPr>
            <a:spLocks noGrp="1"/>
          </p:cNvSpPr>
          <p:nvPr/>
        </p:nvSpPr>
        <p:spPr>
          <a:xfrm>
            <a:off x="4495800" y="4114800"/>
            <a:ext cx="438150" cy="0"/>
          </a:xfrm>
          <a:prstGeom prst="line">
            <a:avLst/>
          </a:prstGeom>
          <a:noFill/>
          <a:ln w="381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84689C-9B3F-43C5-BEF6-E62CCCFFF836}"/>
              </a:ext>
            </a:extLst>
          </p:cNvPr>
          <p:cNvSpPr>
            <a:spLocks noGrp="1"/>
          </p:cNvSpPr>
          <p:nvPr/>
        </p:nvSpPr>
        <p:spPr>
          <a:xfrm>
            <a:off x="4495800" y="369570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Technical direction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FCBFE-78FF-49D1-B87D-88BD48E18416}"/>
              </a:ext>
            </a:extLst>
          </p:cNvPr>
          <p:cNvSpPr>
            <a:spLocks noGrp="1"/>
          </p:cNvSpPr>
          <p:nvPr/>
        </p:nvSpPr>
        <p:spPr>
          <a:xfrm>
            <a:off x="4495800" y="4210050"/>
            <a:ext cx="314325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7227"/>
          </a:bodyPr>
          <a:lstStyle/>
          <a:p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React web application, dedicated API and workflow service, PostgreSQL, protected file storage and a transactional notification outbox.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FEBBB5B-0179-4002-B258-9842AD96E209}"/>
              </a:ext>
            </a:extLst>
          </p:cNvPr>
          <p:cNvSpPr>
            <a:spLocks noGrp="1"/>
          </p:cNvSpPr>
          <p:nvPr/>
        </p:nvSpPr>
        <p:spPr>
          <a:xfrm>
            <a:off x="8229600" y="4114800"/>
            <a:ext cx="438150" cy="0"/>
          </a:xfrm>
          <a:prstGeom prst="line">
            <a:avLst/>
          </a:prstGeom>
          <a:noFill/>
          <a:ln w="38100">
            <a:solidFill>
              <a:srgbClr val="F26B4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629E87-B1FF-4941-9821-F26A1BAC0523}"/>
              </a:ext>
            </a:extLst>
          </p:cNvPr>
          <p:cNvSpPr>
            <a:spLocks noGrp="1"/>
          </p:cNvSpPr>
          <p:nvPr/>
        </p:nvSpPr>
        <p:spPr>
          <a:xfrm>
            <a:off x="8229600" y="369570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Delivery approach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ECDAA5-9855-4CFA-A806-13FB41A2CF7D}"/>
              </a:ext>
            </a:extLst>
          </p:cNvPr>
          <p:cNvSpPr>
            <a:spLocks noGrp="1"/>
          </p:cNvSpPr>
          <p:nvPr/>
        </p:nvSpPr>
        <p:spPr>
          <a:xfrm>
            <a:off x="8229600" y="4210050"/>
            <a:ext cx="314325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7496"/>
          </a:bodyPr>
          <a:lstStyle/>
          <a:p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Freeze policy decisions, profile production data, build in increments, rehearse migration and cut over only after reconciliation gates pass.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C6CCF1-BF35-40C7-ABC9-8E1ED3D5B4D7}"/>
              </a:ext>
            </a:extLst>
          </p:cNvPr>
          <p:cNvSpPr>
            <a:spLocks noGrp="1"/>
          </p:cNvSpPr>
          <p:nvPr/>
        </p:nvSpPr>
        <p:spPr>
          <a:xfrm>
            <a:off x="762000" y="58674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Immediate ask: authorize requirements closure and read-only production data profiling.</a:t>
            </a:r>
          </a:p>
        </p:txBody>
      </p:sp>
    </p:spTree>
    <p:extLst>
      <p:ext uri="{BB962C8B-B14F-4D97-AF65-F5344CB8AC3E}">
        <p14:creationId xmlns:p14="http://schemas.microsoft.com/office/powerpoint/2010/main" val="196164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B81E675-AECE-443A-A311-0C013E282202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419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D12125-0A35-45AE-AE2A-30D55C123C0F}"/>
              </a:ext>
            </a:extLst>
          </p:cNvPr>
          <p:cNvSpPr>
            <a:spLocks noGrp="1"/>
          </p:cNvSpPr>
          <p:nvPr/>
        </p:nvSpPr>
        <p:spPr>
          <a:xfrm>
            <a:off x="1295400" y="1028700"/>
            <a:ext cx="10039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Evidence base and authority order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094899-7D1D-4528-9C80-FB5E17781167}"/>
              </a:ext>
            </a:extLst>
          </p:cNvPr>
          <p:cNvSpPr>
            <a:spLocks noGrp="1"/>
          </p:cNvSpPr>
          <p:nvPr/>
        </p:nvSpPr>
        <p:spPr>
          <a:xfrm>
            <a:off x="1295400" y="150495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Three sources contribute different types of evidence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406C82-F694-4389-8330-2D33E0C2A0A8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7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D22305-88D4-4A33-B9D9-B510239D865F}"/>
              </a:ext>
            </a:extLst>
          </p:cNvPr>
          <p:cNvSpPr>
            <a:spLocks noGrp="1"/>
          </p:cNvSpPr>
          <p:nvPr/>
        </p:nvSpPr>
        <p:spPr>
          <a:xfrm>
            <a:off x="1314450" y="1981200"/>
            <a:ext cx="2619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1477"/>
          </a:bodyPr>
          <a:lstStyle/>
          <a:p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Business requirements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DE87EB-E34C-4223-99DF-6012EF33946F}"/>
              </a:ext>
            </a:extLst>
          </p:cNvPr>
          <p:cNvSpPr>
            <a:spLocks noGrp="1"/>
          </p:cNvSpPr>
          <p:nvPr/>
        </p:nvSpPr>
        <p:spPr>
          <a:xfrm>
            <a:off x="1314450" y="2400300"/>
            <a:ext cx="2619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95-page confirmation deck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F2A302-4BF1-413D-9239-681BAAE4E037}"/>
              </a:ext>
            </a:extLst>
          </p:cNvPr>
          <p:cNvSpPr>
            <a:spLocks noGrp="1"/>
          </p:cNvSpPr>
          <p:nvPr/>
        </p:nvSpPr>
        <p:spPr>
          <a:xfrm>
            <a:off x="762000" y="3067050"/>
            <a:ext cx="3048000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Defines roles, user journeys, visibility, templates, closure, notifications, reporting and 16 open questions.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221B95-D418-40C0-ACF3-32DFF7EA9A17}"/>
              </a:ext>
            </a:extLst>
          </p:cNvPr>
          <p:cNvSpPr>
            <a:spLocks noGrp="1"/>
          </p:cNvSpPr>
          <p:nvPr/>
        </p:nvSpPr>
        <p:spPr>
          <a:xfrm>
            <a:off x="4400550" y="205740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3E5EB0-21C4-42D4-BC9E-D59D0F13A100}"/>
              </a:ext>
            </a:extLst>
          </p:cNvPr>
          <p:cNvSpPr>
            <a:spLocks noGrp="1"/>
          </p:cNvSpPr>
          <p:nvPr/>
        </p:nvSpPr>
        <p:spPr>
          <a:xfrm>
            <a:off x="4953000" y="1981200"/>
            <a:ext cx="2619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Backend redesign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678ECC-D93C-4FE6-B090-F6A38EC64F80}"/>
              </a:ext>
            </a:extLst>
          </p:cNvPr>
          <p:cNvSpPr>
            <a:spLocks noGrp="1"/>
          </p:cNvSpPr>
          <p:nvPr/>
        </p:nvSpPr>
        <p:spPr>
          <a:xfrm>
            <a:off x="4953000" y="2400300"/>
            <a:ext cx="2619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6519"/>
          </a:bodyPr>
          <a:lstStyle/>
          <a:p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PostgreSQL proposal and mapping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8967E3-1074-4B2B-BF5C-7D40739B2D7B}"/>
              </a:ext>
            </a:extLst>
          </p:cNvPr>
          <p:cNvSpPr>
            <a:spLocks noGrp="1"/>
          </p:cNvSpPr>
          <p:nvPr/>
        </p:nvSpPr>
        <p:spPr>
          <a:xfrm>
            <a:off x="4400550" y="3067050"/>
            <a:ext cx="3048000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7507"/>
          </a:bodyPr>
          <a:lstStyle/>
          <a:p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Defines the target domain model, 27 application tables, three migration-control tables and a phased cutover approach.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CD6F9D-20E5-4305-AF0C-C06501E25287}"/>
              </a:ext>
            </a:extLst>
          </p:cNvPr>
          <p:cNvSpPr>
            <a:spLocks noGrp="1"/>
          </p:cNvSpPr>
          <p:nvPr/>
        </p:nvSpPr>
        <p:spPr>
          <a:xfrm>
            <a:off x="8039100" y="205740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40AEA3-8312-4A3D-95A4-982DE4E2274F}"/>
              </a:ext>
            </a:extLst>
          </p:cNvPr>
          <p:cNvSpPr>
            <a:spLocks noGrp="1"/>
          </p:cNvSpPr>
          <p:nvPr/>
        </p:nvSpPr>
        <p:spPr>
          <a:xfrm>
            <a:off x="8591550" y="1981200"/>
            <a:ext cx="2619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Frontend prototype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444844-FA97-4804-90B4-F4B11E0D009F}"/>
              </a:ext>
            </a:extLst>
          </p:cNvPr>
          <p:cNvSpPr>
            <a:spLocks noGrp="1"/>
          </p:cNvSpPr>
          <p:nvPr/>
        </p:nvSpPr>
        <p:spPr>
          <a:xfrm>
            <a:off x="8591550" y="2400300"/>
            <a:ext cx="2619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1564"/>
          </a:bodyPr>
          <a:lstStyle/>
          <a:p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React and TypeScript functional draft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5987C1-DCFD-4A94-8287-DBAE8CB30A84}"/>
              </a:ext>
            </a:extLst>
          </p:cNvPr>
          <p:cNvSpPr>
            <a:spLocks noGrp="1"/>
          </p:cNvSpPr>
          <p:nvPr/>
        </p:nvSpPr>
        <p:spPr>
          <a:xfrm>
            <a:off x="8039100" y="3067050"/>
            <a:ext cx="3048000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4118"/>
          </a:bodyPr>
          <a:lstStyle/>
          <a:p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Demonstrates role-aware navigation, sequential approvals, linked Hot Work permits, revisions, lifecycle actions and audit views.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C816FE89-8764-4118-BCFA-A381BC97C438}"/>
              </a:ext>
            </a:extLst>
          </p:cNvPr>
          <p:cNvSpPr>
            <a:spLocks noGrp="1"/>
          </p:cNvSpPr>
          <p:nvPr/>
        </p:nvSpPr>
        <p:spPr>
          <a:xfrm>
            <a:off x="762000" y="4772025"/>
            <a:ext cx="10477500" cy="0"/>
          </a:xfrm>
          <a:prstGeom prst="line">
            <a:avLst/>
          </a:prstGeom>
          <a:noFill/>
          <a:ln w="9525">
            <a:solidFill>
              <a:srgbClr val="CCD8E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BD6CC4-C399-4CCA-A65A-71828EDA5DE5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4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4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Recommended authority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F7475B-9358-478B-ABFB-9ABAB948ED02}"/>
              </a:ext>
            </a:extLst>
          </p:cNvPr>
          <p:cNvSpPr>
            <a:spLocks noGrp="1"/>
          </p:cNvSpPr>
          <p:nvPr/>
        </p:nvSpPr>
        <p:spPr>
          <a:xfrm>
            <a:off x="2857500" y="4905375"/>
            <a:ext cx="8382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0278"/>
          </a:bodyPr>
          <a:lstStyle/>
          <a:p>
            <a:pPr algn="l">
              <a:defRPr sz="18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Business requirements decide behaviour. The backend proposal decides implementation. The frontend prototype proves interaction patterns and controls, but does not define production architecture.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80A3C3-6F8A-4489-B3A6-B6EBCEEFCF58}"/>
              </a:ext>
            </a:extLst>
          </p:cNvPr>
          <p:cNvSpPr>
            <a:spLocks noGrp="1"/>
          </p:cNvSpPr>
          <p:nvPr/>
        </p:nvSpPr>
        <p:spPr>
          <a:xfrm>
            <a:off x="2857500" y="5781675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3597"/>
          </a:bodyPr>
          <a:lstStyle/>
          <a:p>
            <a:pPr algn="l">
              <a:defRPr sz="1450" b="0">
                <a:solidFill>
                  <a:srgbClr val="2E7D5A"/>
                </a:solidFill>
                <a:latin typeface="Segoe UI"/>
                <a:ea typeface="Segoe UI"/>
                <a:cs typeface="Segoe UI"/>
              </a:defRPr>
            </a:pPr>
            <a:r>
              <a:rPr sz="1450" b="0">
                <a:solidFill>
                  <a:srgbClr val="2E7D5A"/>
                </a:solidFill>
                <a:latin typeface="Segoe UI"/>
                <a:ea typeface="Segoe UI"/>
                <a:cs typeface="Segoe UI"/>
              </a:rPr>
              <a:t>Prototype verification: production build succeeded and all 20 automated tests passed on 11 September 2026.</a:t>
            </a:r>
          </a:p>
        </p:txBody>
      </p:sp>
    </p:spTree>
    <p:extLst>
      <p:ext uri="{BB962C8B-B14F-4D97-AF65-F5344CB8AC3E}">
        <p14:creationId xmlns:p14="http://schemas.microsoft.com/office/powerpoint/2010/main" val="875473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F62E67F-AA36-4B90-9B38-A506A68F8238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419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B43B58-CFDC-4D7C-B4DA-6D418BD15BFC}"/>
              </a:ext>
            </a:extLst>
          </p:cNvPr>
          <p:cNvSpPr>
            <a:spLocks noGrp="1"/>
          </p:cNvSpPr>
          <p:nvPr/>
        </p:nvSpPr>
        <p:spPr>
          <a:xfrm>
            <a:off x="1295400" y="1028700"/>
            <a:ext cx="10039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Why the current platform needs a rebuild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99E8A7-CE99-4792-82ED-7F2D6D132712}"/>
              </a:ext>
            </a:extLst>
          </p:cNvPr>
          <p:cNvSpPr>
            <a:spLocks noGrp="1"/>
          </p:cNvSpPr>
          <p:nvPr/>
        </p:nvSpPr>
        <p:spPr>
          <a:xfrm>
            <a:off x="1295400" y="150495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same defects affect safety control, data integrity and operating effort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F04DFA-C36A-405F-985C-CE11D4A02A6B}"/>
              </a:ext>
            </a:extLst>
          </p:cNvPr>
          <p:cNvSpPr>
            <a:spLocks noGrp="1"/>
          </p:cNvSpPr>
          <p:nvPr/>
        </p:nvSpPr>
        <p:spPr>
          <a:xfrm>
            <a:off x="800100" y="20002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FBB18E-BB72-48C5-ACE6-5CD51FE6571E}"/>
              </a:ext>
            </a:extLst>
          </p:cNvPr>
          <p:cNvSpPr>
            <a:spLocks noGrp="1"/>
          </p:cNvSpPr>
          <p:nvPr/>
        </p:nvSpPr>
        <p:spPr>
          <a:xfrm>
            <a:off x="1381125" y="1971675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Four permit shapes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9DCEB3-9BB8-481F-A8BE-E48716392393}"/>
              </a:ext>
            </a:extLst>
          </p:cNvPr>
          <p:cNvSpPr>
            <a:spLocks noGrp="1"/>
          </p:cNvSpPr>
          <p:nvPr/>
        </p:nvSpPr>
        <p:spPr>
          <a:xfrm>
            <a:off x="4095750" y="1971675"/>
            <a:ext cx="66675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2803"/>
          </a:bodyPr>
          <a:lstStyle/>
          <a:p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Parent permits, drafts, embedded children and child permits require duplicated logic and merged reporting.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9622CBE-66A2-48D5-87CE-4DF632E56670}"/>
              </a:ext>
            </a:extLst>
          </p:cNvPr>
          <p:cNvSpPr>
            <a:spLocks noGrp="1"/>
          </p:cNvSpPr>
          <p:nvPr/>
        </p:nvSpPr>
        <p:spPr>
          <a:xfrm>
            <a:off x="1381125" y="2609850"/>
            <a:ext cx="9382125" cy="0"/>
          </a:xfrm>
          <a:prstGeom prst="line">
            <a:avLst/>
          </a:prstGeom>
          <a:noFill/>
          <a:ln w="9525">
            <a:solidFill>
              <a:srgbClr val="DFE6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741601-B341-451B-B22C-DFC750EF6D43}"/>
              </a:ext>
            </a:extLst>
          </p:cNvPr>
          <p:cNvSpPr>
            <a:spLocks noGrp="1"/>
          </p:cNvSpPr>
          <p:nvPr/>
        </p:nvSpPr>
        <p:spPr>
          <a:xfrm>
            <a:off x="800100" y="2790825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2A7D6F-F7E2-41F9-B1C1-2DDDD90F5360}"/>
              </a:ext>
            </a:extLst>
          </p:cNvPr>
          <p:cNvSpPr>
            <a:spLocks noGrp="1"/>
          </p:cNvSpPr>
          <p:nvPr/>
        </p:nvSpPr>
        <p:spPr>
          <a:xfrm>
            <a:off x="1381125" y="2762250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8481"/>
          </a:bodyPr>
          <a:lstStyle/>
          <a:p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Approval state is implicit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F20180-9485-4346-9F51-0E99429C43A3}"/>
              </a:ext>
            </a:extLst>
          </p:cNvPr>
          <p:cNvSpPr>
            <a:spLocks noGrp="1"/>
          </p:cNvSpPr>
          <p:nvPr/>
        </p:nvSpPr>
        <p:spPr>
          <a:xfrm>
            <a:off x="4095750" y="2762250"/>
            <a:ext cx="66675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2803"/>
          </a:bodyPr>
          <a:lstStyle/>
          <a:p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Reviewer arrays and mutable group membership can change the meaning of an in-flight permit.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DB490E6-BCC0-4A65-9596-70B0741ABD8B}"/>
              </a:ext>
            </a:extLst>
          </p:cNvPr>
          <p:cNvSpPr>
            <a:spLocks noGrp="1"/>
          </p:cNvSpPr>
          <p:nvPr/>
        </p:nvSpPr>
        <p:spPr>
          <a:xfrm>
            <a:off x="1381125" y="3400425"/>
            <a:ext cx="9382125" cy="0"/>
          </a:xfrm>
          <a:prstGeom prst="line">
            <a:avLst/>
          </a:prstGeom>
          <a:noFill/>
          <a:ln w="9525">
            <a:solidFill>
              <a:srgbClr val="DFE6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425891-385D-4E21-833A-2F37E3C79DDC}"/>
              </a:ext>
            </a:extLst>
          </p:cNvPr>
          <p:cNvSpPr>
            <a:spLocks noGrp="1"/>
          </p:cNvSpPr>
          <p:nvPr/>
        </p:nvSpPr>
        <p:spPr>
          <a:xfrm>
            <a:off x="800100" y="358140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B64E6E-5569-4EAC-BA02-6178579B9155}"/>
              </a:ext>
            </a:extLst>
          </p:cNvPr>
          <p:cNvSpPr>
            <a:spLocks noGrp="1"/>
          </p:cNvSpPr>
          <p:nvPr/>
        </p:nvSpPr>
        <p:spPr>
          <a:xfrm>
            <a:off x="1381125" y="3552825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89135"/>
          </a:bodyPr>
          <a:lstStyle/>
          <a:p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Operational data is untyped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CE639A-9390-4499-BA39-7FC984C725A2}"/>
              </a:ext>
            </a:extLst>
          </p:cNvPr>
          <p:cNvSpPr>
            <a:spLocks noGrp="1"/>
          </p:cNvSpPr>
          <p:nvPr/>
        </p:nvSpPr>
        <p:spPr>
          <a:xfrm>
            <a:off x="4095750" y="3552825"/>
            <a:ext cx="66675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2803"/>
          </a:bodyPr>
          <a:lstStyle/>
          <a:p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Dates and key fields appear in several formats and template-specific answer keys.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6389F2E-4F57-48C4-9F70-A5FBBD1DF84A}"/>
              </a:ext>
            </a:extLst>
          </p:cNvPr>
          <p:cNvSpPr>
            <a:spLocks noGrp="1"/>
          </p:cNvSpPr>
          <p:nvPr/>
        </p:nvSpPr>
        <p:spPr>
          <a:xfrm>
            <a:off x="1381125" y="4191000"/>
            <a:ext cx="9382125" cy="0"/>
          </a:xfrm>
          <a:prstGeom prst="line">
            <a:avLst/>
          </a:prstGeom>
          <a:noFill/>
          <a:ln w="9525">
            <a:solidFill>
              <a:srgbClr val="DFE6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AB51AB-1E06-4354-8454-B285CFDD7F94}"/>
              </a:ext>
            </a:extLst>
          </p:cNvPr>
          <p:cNvSpPr>
            <a:spLocks noGrp="1"/>
          </p:cNvSpPr>
          <p:nvPr/>
        </p:nvSpPr>
        <p:spPr>
          <a:xfrm>
            <a:off x="800100" y="4371975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C6F03E-83B9-4520-A78D-795FA858FCAC}"/>
              </a:ext>
            </a:extLst>
          </p:cNvPr>
          <p:cNvSpPr>
            <a:spLocks noGrp="1"/>
          </p:cNvSpPr>
          <p:nvPr/>
        </p:nvSpPr>
        <p:spPr>
          <a:xfrm>
            <a:off x="1381125" y="4343400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5348"/>
          </a:bodyPr>
          <a:lstStyle/>
          <a:p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History is difficult to trust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2F6B71-494A-4210-8017-85911CCE7920}"/>
              </a:ext>
            </a:extLst>
          </p:cNvPr>
          <p:cNvSpPr>
            <a:spLocks noGrp="1"/>
          </p:cNvSpPr>
          <p:nvPr/>
        </p:nvSpPr>
        <p:spPr>
          <a:xfrm>
            <a:off x="4095750" y="4343400"/>
            <a:ext cx="66675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2803"/>
          </a:bodyPr>
          <a:lstStyle/>
          <a:p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String logs and permit-shaped document copies cannot support precise filtering or reconciliation.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2C6BB5B-8931-42E3-9275-DA779D5B7AF7}"/>
              </a:ext>
            </a:extLst>
          </p:cNvPr>
          <p:cNvSpPr>
            <a:spLocks noGrp="1"/>
          </p:cNvSpPr>
          <p:nvPr/>
        </p:nvSpPr>
        <p:spPr>
          <a:xfrm>
            <a:off x="1381125" y="4981575"/>
            <a:ext cx="9382125" cy="0"/>
          </a:xfrm>
          <a:prstGeom prst="line">
            <a:avLst/>
          </a:prstGeom>
          <a:noFill/>
          <a:ln w="9525">
            <a:solidFill>
              <a:srgbClr val="DFE6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991921-9BFB-40B8-B1D8-0AE60FAC7DC1}"/>
              </a:ext>
            </a:extLst>
          </p:cNvPr>
          <p:cNvSpPr>
            <a:spLocks noGrp="1"/>
          </p:cNvSpPr>
          <p:nvPr/>
        </p:nvSpPr>
        <p:spPr>
          <a:xfrm>
            <a:off x="800100" y="51625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4D96CE-0B51-4BAA-96B6-ACA18B49D467}"/>
              </a:ext>
            </a:extLst>
          </p:cNvPr>
          <p:cNvSpPr>
            <a:spLocks noGrp="1"/>
          </p:cNvSpPr>
          <p:nvPr/>
        </p:nvSpPr>
        <p:spPr>
          <a:xfrm>
            <a:off x="1381125" y="5133975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65444"/>
          </a:bodyPr>
          <a:lstStyle/>
          <a:p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Integrity depends on application code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4FB8B3-1F28-4134-B761-43A68308EC6D}"/>
              </a:ext>
            </a:extLst>
          </p:cNvPr>
          <p:cNvSpPr>
            <a:spLocks noGrp="1"/>
          </p:cNvSpPr>
          <p:nvPr/>
        </p:nvSpPr>
        <p:spPr>
          <a:xfrm>
            <a:off x="4095750" y="5133975"/>
            <a:ext cx="66675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2803"/>
          </a:bodyPr>
          <a:lstStyle/>
          <a:p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Numbering races, weak uniqueness and hard-coded identifiers create avoidable failure modes.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7461BB-EE49-4221-8DEC-876409406799}"/>
              </a:ext>
            </a:extLst>
          </p:cNvPr>
          <p:cNvSpPr>
            <a:spLocks noGrp="1"/>
          </p:cNvSpPr>
          <p:nvPr/>
        </p:nvSpPr>
        <p:spPr>
          <a:xfrm>
            <a:off x="762000" y="59531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2589"/>
          </a:bodyPr>
          <a:lstStyle/>
          <a:p>
            <a:pPr algn="l">
              <a:defRPr sz="14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4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Repository inspection cannot quantify live defects. Production profiling must establish row counts, duplicates, nulls, orphaned references and historical variants.</a:t>
            </a:r>
          </a:p>
        </p:txBody>
      </p:sp>
    </p:spTree>
    <p:extLst>
      <p:ext uri="{BB962C8B-B14F-4D97-AF65-F5344CB8AC3E}">
        <p14:creationId xmlns:p14="http://schemas.microsoft.com/office/powerpoint/2010/main" val="612574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A7384AA-CCA1-419A-AADB-88F958962569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419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9733AE-2919-4F36-9510-AA8E8D6D1819}"/>
              </a:ext>
            </a:extLst>
          </p:cNvPr>
          <p:cNvSpPr>
            <a:spLocks noGrp="1"/>
          </p:cNvSpPr>
          <p:nvPr/>
        </p:nvSpPr>
        <p:spPr>
          <a:xfrm>
            <a:off x="1295400" y="1028700"/>
            <a:ext cx="10039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Target user experience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CAF336-DBC7-4AF2-A796-8C1647DB91FA}"/>
              </a:ext>
            </a:extLst>
          </p:cNvPr>
          <p:cNvSpPr>
            <a:spLocks noGrp="1"/>
          </p:cNvSpPr>
          <p:nvPr/>
        </p:nvSpPr>
        <p:spPr>
          <a:xfrm>
            <a:off x="1295400" y="150495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One traceable permit journey from creation to archive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268D94-94F3-4FD8-BC3E-9D3B98519B01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1619250" cy="1600200"/>
          </a:xfrm>
          <a:prstGeom prst="roundRect">
            <a:avLst>
              <a:gd name="adj" fmla="val 7143"/>
            </a:avLst>
          </a:prstGeom>
          <a:solidFill>
            <a:srgbClr val="E8F4FB"/>
          </a:solidFill>
          <a:ln w="9525">
            <a:solidFill>
              <a:srgbClr val="BBD4E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687DA1-28D9-4A28-AE7E-A1F76181EC88}"/>
              </a:ext>
            </a:extLst>
          </p:cNvPr>
          <p:cNvSpPr>
            <a:spLocks noGrp="1"/>
          </p:cNvSpPr>
          <p:nvPr/>
        </p:nvSpPr>
        <p:spPr>
          <a:xfrm>
            <a:off x="800100" y="247650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6154"/>
          </a:bodyPr>
          <a:lstStyle/>
          <a:p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34123C-159E-4EB4-A1B0-ACEAA79AB920}"/>
              </a:ext>
            </a:extLst>
          </p:cNvPr>
          <p:cNvSpPr>
            <a:spLocks noGrp="1"/>
          </p:cNvSpPr>
          <p:nvPr/>
        </p:nvSpPr>
        <p:spPr>
          <a:xfrm>
            <a:off x="800100" y="2838450"/>
            <a:ext cx="133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9286"/>
          </a:bodyPr>
          <a:lstStyle/>
          <a:p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Create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F438B-63D4-4B6F-9C5F-B262F5CCAA64}"/>
              </a:ext>
            </a:extLst>
          </p:cNvPr>
          <p:cNvSpPr>
            <a:spLocks noGrp="1"/>
          </p:cNvSpPr>
          <p:nvPr/>
        </p:nvSpPr>
        <p:spPr>
          <a:xfrm>
            <a:off x="800100" y="3248025"/>
            <a:ext cx="13525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76347"/>
          </a:bodyPr>
          <a:lstStyle/>
          <a:p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Template-driven form, reserved fields, files and linked child permits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AB7844-97E1-4276-9ADE-4ED0E6481E5F}"/>
              </a:ext>
            </a:extLst>
          </p:cNvPr>
          <p:cNvSpPr>
            <a:spLocks noGrp="1"/>
          </p:cNvSpPr>
          <p:nvPr/>
        </p:nvSpPr>
        <p:spPr>
          <a:xfrm>
            <a:off x="2562225" y="2333625"/>
            <a:ext cx="161925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BBD4E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9A8AE7-BB51-4CEF-9D21-0C94C171F31B}"/>
              </a:ext>
            </a:extLst>
          </p:cNvPr>
          <p:cNvSpPr>
            <a:spLocks noGrp="1"/>
          </p:cNvSpPr>
          <p:nvPr/>
        </p:nvSpPr>
        <p:spPr>
          <a:xfrm>
            <a:off x="2695575" y="247650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6154"/>
          </a:bodyPr>
          <a:lstStyle/>
          <a:p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B7514D-84F8-42DF-B0A2-CFC44E852186}"/>
              </a:ext>
            </a:extLst>
          </p:cNvPr>
          <p:cNvSpPr>
            <a:spLocks noGrp="1"/>
          </p:cNvSpPr>
          <p:nvPr/>
        </p:nvSpPr>
        <p:spPr>
          <a:xfrm>
            <a:off x="2695575" y="2838450"/>
            <a:ext cx="133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9286"/>
          </a:bodyPr>
          <a:lstStyle/>
          <a:p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Submit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794663-1F03-41CF-8F55-BDFFB89EAC43}"/>
              </a:ext>
            </a:extLst>
          </p:cNvPr>
          <p:cNvSpPr>
            <a:spLocks noGrp="1"/>
          </p:cNvSpPr>
          <p:nvPr/>
        </p:nvSpPr>
        <p:spPr>
          <a:xfrm>
            <a:off x="2695575" y="3248025"/>
            <a:ext cx="13525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72219"/>
          </a:bodyPr>
          <a:lstStyle/>
          <a:p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Validation completes and the company-specific approval route is fixed</a:t>
            </a:r>
          </a:p>
        </p:txBody>
      </p:sp>
      <p:cxnSp>
        <p:nvCxnSpPr>
          <p:cNvPr id="50" name="Straight Arrow Connector 49"/>
          <p:cNvCxnSpPr>
            <a:stCxn id="4" idx="3"/>
            <a:endCxn id="8" idx="1"/>
          </p:cNvCxnSpPr>
          <p:nvPr/>
        </p:nvCxnSpPr>
        <p:spPr>
          <a:xfrm>
            <a:off x="2286000" y="3133725"/>
            <a:ext cx="276225" cy="0"/>
          </a:xfrm>
          <a:prstGeom prst="straightConnector1">
            <a:avLst/>
          </a:prstGeom>
          <a:ln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817268-B93C-4FB0-BA92-E4C23D06D9BB}"/>
              </a:ext>
            </a:extLst>
          </p:cNvPr>
          <p:cNvSpPr>
            <a:spLocks noGrp="1"/>
          </p:cNvSpPr>
          <p:nvPr/>
        </p:nvSpPr>
        <p:spPr>
          <a:xfrm>
            <a:off x="4457700" y="2333625"/>
            <a:ext cx="1619250" cy="1600200"/>
          </a:xfrm>
          <a:prstGeom prst="roundRect">
            <a:avLst>
              <a:gd name="adj" fmla="val 7143"/>
            </a:avLst>
          </a:prstGeom>
          <a:solidFill>
            <a:srgbClr val="E8F4FB"/>
          </a:solidFill>
          <a:ln w="9525">
            <a:solidFill>
              <a:srgbClr val="BBD4E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B3051-5F50-4DC4-AE11-8CA3C51FF07F}"/>
              </a:ext>
            </a:extLst>
          </p:cNvPr>
          <p:cNvSpPr>
            <a:spLocks noGrp="1"/>
          </p:cNvSpPr>
          <p:nvPr/>
        </p:nvSpPr>
        <p:spPr>
          <a:xfrm>
            <a:off x="4591050" y="247650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6154"/>
          </a:bodyPr>
          <a:lstStyle/>
          <a:p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E3946D-838D-4B9C-9A9D-28D07341965C}"/>
              </a:ext>
            </a:extLst>
          </p:cNvPr>
          <p:cNvSpPr>
            <a:spLocks noGrp="1"/>
          </p:cNvSpPr>
          <p:nvPr/>
        </p:nvSpPr>
        <p:spPr>
          <a:xfrm>
            <a:off x="4591050" y="2838450"/>
            <a:ext cx="133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9286"/>
          </a:bodyPr>
          <a:lstStyle/>
          <a:p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56D42F-E530-45C9-94FF-A696A592ECBC}"/>
              </a:ext>
            </a:extLst>
          </p:cNvPr>
          <p:cNvSpPr>
            <a:spLocks noGrp="1"/>
          </p:cNvSpPr>
          <p:nvPr/>
        </p:nvSpPr>
        <p:spPr>
          <a:xfrm>
            <a:off x="4591050" y="3248025"/>
            <a:ext cx="13525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71961"/>
          </a:bodyPr>
          <a:lstStyle/>
          <a:p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Only the current reviewer can act; reasons and signatures are recorded</a:t>
            </a:r>
          </a:p>
        </p:txBody>
      </p:sp>
      <p:cxnSp>
        <p:nvCxnSpPr>
          <p:cNvPr id="55" name="Straight Arrow Connector 54"/>
          <p:cNvCxnSpPr>
            <a:stCxn id="8" idx="3"/>
            <a:endCxn id="13" idx="1"/>
          </p:cNvCxnSpPr>
          <p:nvPr/>
        </p:nvCxnSpPr>
        <p:spPr>
          <a:xfrm>
            <a:off x="4181475" y="3133725"/>
            <a:ext cx="276225" cy="0"/>
          </a:xfrm>
          <a:prstGeom prst="straightConnector1">
            <a:avLst/>
          </a:prstGeom>
          <a:ln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445D57-2381-42E5-8A30-398D24A7981C}"/>
              </a:ext>
            </a:extLst>
          </p:cNvPr>
          <p:cNvSpPr>
            <a:spLocks noGrp="1"/>
          </p:cNvSpPr>
          <p:nvPr/>
        </p:nvSpPr>
        <p:spPr>
          <a:xfrm>
            <a:off x="6353175" y="2333625"/>
            <a:ext cx="161925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BBD4E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9E9820-E24F-4F32-9BAE-962CA650BC54}"/>
              </a:ext>
            </a:extLst>
          </p:cNvPr>
          <p:cNvSpPr>
            <a:spLocks noGrp="1"/>
          </p:cNvSpPr>
          <p:nvPr/>
        </p:nvSpPr>
        <p:spPr>
          <a:xfrm>
            <a:off x="6486525" y="247650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6154"/>
          </a:bodyPr>
          <a:lstStyle/>
          <a:p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073388-74B5-440A-B3C9-EB2190C2DC25}"/>
              </a:ext>
            </a:extLst>
          </p:cNvPr>
          <p:cNvSpPr>
            <a:spLocks noGrp="1"/>
          </p:cNvSpPr>
          <p:nvPr/>
        </p:nvSpPr>
        <p:spPr>
          <a:xfrm>
            <a:off x="6486525" y="2838450"/>
            <a:ext cx="133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9286"/>
          </a:bodyPr>
          <a:lstStyle/>
          <a:p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Operate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81E833-02CF-444C-9FEC-85E7B59E8293}"/>
              </a:ext>
            </a:extLst>
          </p:cNvPr>
          <p:cNvSpPr>
            <a:spLocks noGrp="1"/>
          </p:cNvSpPr>
          <p:nvPr/>
        </p:nvSpPr>
        <p:spPr>
          <a:xfrm>
            <a:off x="6486525" y="3248025"/>
            <a:ext cx="13525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71397"/>
          </a:bodyPr>
          <a:lstStyle/>
          <a:p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Approved work, readings, controlled amendments and lifecycle actions</a:t>
            </a:r>
          </a:p>
        </p:txBody>
      </p:sp>
      <p:cxnSp>
        <p:nvCxnSpPr>
          <p:cNvPr id="60" name="Straight Arrow Connector 59"/>
          <p:cNvCxnSpPr>
            <a:stCxn id="13" idx="3"/>
            <a:endCxn id="18" idx="1"/>
          </p:cNvCxnSpPr>
          <p:nvPr/>
        </p:nvCxnSpPr>
        <p:spPr>
          <a:xfrm>
            <a:off x="6076950" y="3133725"/>
            <a:ext cx="276225" cy="0"/>
          </a:xfrm>
          <a:prstGeom prst="straightConnector1">
            <a:avLst/>
          </a:prstGeom>
          <a:ln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DA999B3-1F34-4481-BA3B-9E3943F01FD2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619250" cy="1600200"/>
          </a:xfrm>
          <a:prstGeom prst="roundRect">
            <a:avLst>
              <a:gd name="adj" fmla="val 7143"/>
            </a:avLst>
          </a:prstGeom>
          <a:solidFill>
            <a:srgbClr val="E8F4FB"/>
          </a:solidFill>
          <a:ln w="9525">
            <a:solidFill>
              <a:srgbClr val="BBD4E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0F11A6-8EAD-4264-A345-6D38E97ED005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6154"/>
          </a:bodyPr>
          <a:lstStyle/>
          <a:p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44F3E4-34A1-446D-8E53-525E6C15BE92}"/>
              </a:ext>
            </a:extLst>
          </p:cNvPr>
          <p:cNvSpPr>
            <a:spLocks noGrp="1"/>
          </p:cNvSpPr>
          <p:nvPr/>
        </p:nvSpPr>
        <p:spPr>
          <a:xfrm>
            <a:off x="8382000" y="2838450"/>
            <a:ext cx="133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9286"/>
          </a:bodyPr>
          <a:lstStyle/>
          <a:p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Close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9A4F72-FDAD-4D40-BB21-1B9F4DE4DBDE}"/>
              </a:ext>
            </a:extLst>
          </p:cNvPr>
          <p:cNvSpPr>
            <a:spLocks noGrp="1"/>
          </p:cNvSpPr>
          <p:nvPr/>
        </p:nvSpPr>
        <p:spPr>
          <a:xfrm>
            <a:off x="8382000" y="3248025"/>
            <a:ext cx="13525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65000"/>
          </a:bodyPr>
          <a:lstStyle/>
          <a:p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Signed request, authorised confirmation and independent child outcomes</a:t>
            </a:r>
          </a:p>
        </p:txBody>
      </p:sp>
      <p:cxnSp>
        <p:nvCxnSpPr>
          <p:cNvPr id="65" name="Straight Arrow Connector 64"/>
          <p:cNvCxnSpPr>
            <a:stCxn id="18" idx="3"/>
            <a:endCxn id="23" idx="1"/>
          </p:cNvCxnSpPr>
          <p:nvPr/>
        </p:nvCxnSpPr>
        <p:spPr>
          <a:xfrm>
            <a:off x="7972425" y="3133725"/>
            <a:ext cx="276225" cy="0"/>
          </a:xfrm>
          <a:prstGeom prst="straightConnector1">
            <a:avLst/>
          </a:prstGeom>
          <a:ln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491C05F-17FC-4F70-BEA1-A67F144D439A}"/>
              </a:ext>
            </a:extLst>
          </p:cNvPr>
          <p:cNvSpPr>
            <a:spLocks noGrp="1"/>
          </p:cNvSpPr>
          <p:nvPr/>
        </p:nvSpPr>
        <p:spPr>
          <a:xfrm>
            <a:off x="10144125" y="2333625"/>
            <a:ext cx="161925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BBD4E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6E68B8-2A29-4071-98FF-D720C2533451}"/>
              </a:ext>
            </a:extLst>
          </p:cNvPr>
          <p:cNvSpPr>
            <a:spLocks noGrp="1"/>
          </p:cNvSpPr>
          <p:nvPr/>
        </p:nvSpPr>
        <p:spPr>
          <a:xfrm>
            <a:off x="10277475" y="247650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6154"/>
          </a:bodyPr>
          <a:lstStyle/>
          <a:p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E2C908-E8B8-4EDC-A2DC-353D096E54F0}"/>
              </a:ext>
            </a:extLst>
          </p:cNvPr>
          <p:cNvSpPr>
            <a:spLocks noGrp="1"/>
          </p:cNvSpPr>
          <p:nvPr/>
        </p:nvSpPr>
        <p:spPr>
          <a:xfrm>
            <a:off x="10277475" y="2838450"/>
            <a:ext cx="133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9286"/>
          </a:bodyPr>
          <a:lstStyle/>
          <a:p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Report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9FAE4C-0FF9-475C-976F-550042CEB940}"/>
              </a:ext>
            </a:extLst>
          </p:cNvPr>
          <p:cNvSpPr>
            <a:spLocks noGrp="1"/>
          </p:cNvSpPr>
          <p:nvPr/>
        </p:nvSpPr>
        <p:spPr>
          <a:xfrm>
            <a:off x="10277475" y="3248025"/>
            <a:ext cx="13525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76773"/>
          </a:bodyPr>
          <a:lstStyle/>
          <a:p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Search, PDF generation, dashboards and retained audit history</a:t>
            </a:r>
          </a:p>
        </p:txBody>
      </p:sp>
      <p:cxnSp>
        <p:nvCxnSpPr>
          <p:cNvPr id="70" name="Straight Arrow Connector 69"/>
          <p:cNvCxnSpPr>
            <a:stCxn id="23" idx="3"/>
            <a:endCxn id="28" idx="1"/>
          </p:cNvCxnSpPr>
          <p:nvPr/>
        </p:nvCxnSpPr>
        <p:spPr>
          <a:xfrm>
            <a:off x="9867900" y="3133725"/>
            <a:ext cx="276225" cy="0"/>
          </a:xfrm>
          <a:prstGeom prst="straightConnector1">
            <a:avLst/>
          </a:prstGeom>
          <a:ln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0856B1C-F632-4B73-8B81-0062FD3CBF7A}"/>
              </a:ext>
            </a:extLst>
          </p:cNvPr>
          <p:cNvSpPr>
            <a:spLocks noGrp="1"/>
          </p:cNvSpPr>
          <p:nvPr/>
        </p:nvSpPr>
        <p:spPr>
          <a:xfrm>
            <a:off x="762000" y="4581525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3907"/>
          </a:bodyPr>
          <a:lstStyle/>
          <a:p>
            <a:pPr algn="l">
              <a:defRPr sz="16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Cross-cutting controls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53FB12-5774-470A-8E88-BF7557A80467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5365"/>
          </a:bodyPr>
          <a:lstStyle/>
          <a:p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Server-side authorization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CFD305-06AC-4B53-8A45-AD4477BF4FA5}"/>
              </a:ext>
            </a:extLst>
          </p:cNvPr>
          <p:cNvSpPr>
            <a:spLocks noGrp="1"/>
          </p:cNvSpPr>
          <p:nvPr/>
        </p:nvSpPr>
        <p:spPr>
          <a:xfrm>
            <a:off x="3429000" y="50101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5671"/>
          </a:bodyPr>
          <a:lstStyle/>
          <a:p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Versioned templates and revisions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9C272EE-8665-4C3C-A056-FBA07B177D3B}"/>
              </a:ext>
            </a:extLst>
          </p:cNvPr>
          <p:cNvSpPr>
            <a:spLocks noGrp="1"/>
          </p:cNvSpPr>
          <p:nvPr/>
        </p:nvSpPr>
        <p:spPr>
          <a:xfrm>
            <a:off x="6762750" y="501015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Append-only events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F59191-2982-4601-9BE3-38224AF699B5}"/>
              </a:ext>
            </a:extLst>
          </p:cNvPr>
          <p:cNvSpPr>
            <a:spLocks noGrp="1"/>
          </p:cNvSpPr>
          <p:nvPr/>
        </p:nvSpPr>
        <p:spPr>
          <a:xfrm>
            <a:off x="8953500" y="5010150"/>
            <a:ext cx="2571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9844"/>
          </a:bodyPr>
          <a:lstStyle/>
          <a:p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UTC storage with Singapore display time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E1DE610-D10D-4288-90AB-14318A811009}"/>
              </a:ext>
            </a:extLst>
          </p:cNvPr>
          <p:cNvSpPr>
            <a:spLocks noGrp="1"/>
          </p:cNvSpPr>
          <p:nvPr/>
        </p:nvSpPr>
        <p:spPr>
          <a:xfrm>
            <a:off x="762000" y="5743575"/>
            <a:ext cx="1047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4299"/>
          </a:bodyPr>
          <a:lstStyle/>
          <a:p>
            <a:pPr algn="l">
              <a:defRPr sz="15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Administration covers users, companies, sites, maps, disciplines, reviewer groups, templates, announcements and report access.</a:t>
            </a:r>
          </a:p>
        </p:txBody>
      </p:sp>
    </p:spTree>
    <p:extLst>
      <p:ext uri="{BB962C8B-B14F-4D97-AF65-F5344CB8AC3E}">
        <p14:creationId xmlns:p14="http://schemas.microsoft.com/office/powerpoint/2010/main" val="954947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E98D2C-C125-4DAE-BE7D-3D1D8B8A0C89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419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D88695-4C87-4A17-8F5E-8A97B4157B0B}"/>
              </a:ext>
            </a:extLst>
          </p:cNvPr>
          <p:cNvSpPr>
            <a:spLocks noGrp="1"/>
          </p:cNvSpPr>
          <p:nvPr/>
        </p:nvSpPr>
        <p:spPr>
          <a:xfrm>
            <a:off x="1295400" y="1028700"/>
            <a:ext cx="10039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Target application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63FF05-9D85-472F-9566-F0ACB27F56AE}"/>
              </a:ext>
            </a:extLst>
          </p:cNvPr>
          <p:cNvSpPr>
            <a:spLocks noGrp="1"/>
          </p:cNvSpPr>
          <p:nvPr/>
        </p:nvSpPr>
        <p:spPr>
          <a:xfrm>
            <a:off x="1295400" y="150495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dedicated service boundary moves security and workflow rules out of the browser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C04EFD-2CD6-4E37-BFF5-655663B0149F}"/>
              </a:ext>
            </a:extLst>
          </p:cNvPr>
          <p:cNvSpPr>
            <a:spLocks noGrp="1"/>
          </p:cNvSpPr>
          <p:nvPr/>
        </p:nvSpPr>
        <p:spPr>
          <a:xfrm>
            <a:off x="762000" y="2552700"/>
            <a:ext cx="2381250" cy="1752600"/>
          </a:xfrm>
          <a:prstGeom prst="roundRect">
            <a:avLst>
              <a:gd name="adj" fmla="val 6522"/>
            </a:avLst>
          </a:prstGeom>
          <a:solidFill>
            <a:srgbClr val="E8F4FB"/>
          </a:solidFill>
          <a:ln w="9525">
            <a:solidFill>
              <a:srgbClr val="A9CFE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C90C21-7DFE-4DF8-BF3D-AD6C6C86D9CC}"/>
              </a:ext>
            </a:extLst>
          </p:cNvPr>
          <p:cNvSpPr>
            <a:spLocks noGrp="1"/>
          </p:cNvSpPr>
          <p:nvPr/>
        </p:nvSpPr>
        <p:spPr>
          <a:xfrm>
            <a:off x="981075" y="2781300"/>
            <a:ext cx="1943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71666"/>
          </a:bodyPr>
          <a:lstStyle/>
          <a:p>
            <a:pPr algn="ctr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React web application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66973-0F3E-4569-A24F-9882A6104B3A}"/>
              </a:ext>
            </a:extLst>
          </p:cNvPr>
          <p:cNvSpPr>
            <a:spLocks noGrp="1"/>
          </p:cNvSpPr>
          <p:nvPr/>
        </p:nvSpPr>
        <p:spPr>
          <a:xfrm>
            <a:off x="981075" y="3333750"/>
            <a:ext cx="19431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2412"/>
          </a:bodyPr>
          <a:lstStyle/>
          <a:p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Role-aware navigation</a:t>
            </a:r>
          </a:p>
          <a:p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Permit forms and lists</a:t>
            </a:r>
          </a:p>
          <a:p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Admin and reporting views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6F82B8-0B29-4995-810D-BCFAE7848D6F}"/>
              </a:ext>
            </a:extLst>
          </p:cNvPr>
          <p:cNvSpPr>
            <a:spLocks noGrp="1"/>
          </p:cNvSpPr>
          <p:nvPr/>
        </p:nvSpPr>
        <p:spPr>
          <a:xfrm>
            <a:off x="4238625" y="2209800"/>
            <a:ext cx="3476625" cy="24384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C0052-D977-4A46-A2A2-9174853495C5}"/>
              </a:ext>
            </a:extLst>
          </p:cNvPr>
          <p:cNvSpPr>
            <a:spLocks noGrp="1"/>
          </p:cNvSpPr>
          <p:nvPr/>
        </p:nvSpPr>
        <p:spPr>
          <a:xfrm>
            <a:off x="4476750" y="245745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7801"/>
          </a:bodyPr>
          <a:lstStyle/>
          <a:p>
            <a:pPr algn="ctr">
              <a:def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API and workflow service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1CEB45-3536-451F-BE52-82D2790FF137}"/>
              </a:ext>
            </a:extLst>
          </p:cNvPr>
          <p:cNvSpPr>
            <a:spLocks noGrp="1"/>
          </p:cNvSpPr>
          <p:nvPr/>
        </p:nvSpPr>
        <p:spPr>
          <a:xfrm>
            <a:off x="4552950" y="3095625"/>
            <a:ext cx="2857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1199"/>
          </a:bodyPr>
          <a:lstStyle/>
          <a:p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Authentication and authorization</a:t>
            </a:r>
          </a:p>
          <a:p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Validation and state transitions</a:t>
            </a:r>
          </a:p>
          <a:p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Approval sequencing and audit events</a:t>
            </a:r>
          </a:p>
          <a:p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Search, document and report orchestration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F039A66-3790-4A96-8050-EAD928D35463}"/>
              </a:ext>
            </a:extLst>
          </p:cNvPr>
          <p:cNvSpPr>
            <a:spLocks noGrp="1"/>
          </p:cNvSpPr>
          <p:nvPr/>
        </p:nvSpPr>
        <p:spPr>
          <a:xfrm>
            <a:off x="8858250" y="1828800"/>
            <a:ext cx="2476500" cy="1143000"/>
          </a:xfrm>
          <a:prstGeom prst="roundRect">
            <a:avLst>
              <a:gd name="adj" fmla="val 10000"/>
            </a:avLst>
          </a:prstGeom>
          <a:solidFill>
            <a:srgbClr val="0B1F4D"/>
          </a:solidFill>
          <a:ln w="9525">
            <a:solidFill>
              <a:srgbClr val="0B1F4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B2AC70-257C-40FD-85F8-FFA239A7BD23}"/>
              </a:ext>
            </a:extLst>
          </p:cNvPr>
          <p:cNvSpPr>
            <a:spLocks noGrp="1"/>
          </p:cNvSpPr>
          <p:nvPr/>
        </p:nvSpPr>
        <p:spPr>
          <a:xfrm>
            <a:off x="9077325" y="2009775"/>
            <a:ext cx="2038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6956"/>
          </a:bodyPr>
          <a:lstStyle/>
          <a:p>
            <a:pPr algn="ctr">
              <a:defRPr sz="23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PostgreSQL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1222D6-6A6E-4BF3-945E-592FFB271584}"/>
              </a:ext>
            </a:extLst>
          </p:cNvPr>
          <p:cNvSpPr>
            <a:spLocks noGrp="1"/>
          </p:cNvSpPr>
          <p:nvPr/>
        </p:nvSpPr>
        <p:spPr>
          <a:xfrm>
            <a:off x="9077325" y="2457450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8214"/>
          </a:bodyPr>
          <a:lstStyle/>
          <a:p>
            <a:pPr algn="ctr">
              <a:defRPr sz="1400" b="0">
                <a:solidFill>
                  <a:srgbClr val="CFE5F6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CFE5F6"/>
                </a:solidFill>
                <a:latin typeface="Segoe UI"/>
                <a:ea typeface="Segoe UI"/>
                <a:cs typeface="Segoe UI"/>
              </a:rPr>
              <a:t>System of record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C460D9-EADF-4585-BE44-3BF141C39213}"/>
              </a:ext>
            </a:extLst>
          </p:cNvPr>
          <p:cNvSpPr>
            <a:spLocks noGrp="1"/>
          </p:cNvSpPr>
          <p:nvPr/>
        </p:nvSpPr>
        <p:spPr>
          <a:xfrm>
            <a:off x="8858250" y="3333750"/>
            <a:ext cx="24765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B8C7D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F3501B-D12F-405E-A5C5-425BAF578029}"/>
              </a:ext>
            </a:extLst>
          </p:cNvPr>
          <p:cNvSpPr>
            <a:spLocks noGrp="1"/>
          </p:cNvSpPr>
          <p:nvPr/>
        </p:nvSpPr>
        <p:spPr>
          <a:xfrm>
            <a:off x="9029700" y="3514725"/>
            <a:ext cx="2133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0278"/>
          </a:bodyPr>
          <a:lstStyle/>
          <a:p>
            <a:pPr algn="ctr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Protected file storage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ACB091-97FB-4FE3-AFD1-D55D01E312AD}"/>
              </a:ext>
            </a:extLst>
          </p:cNvPr>
          <p:cNvSpPr>
            <a:spLocks noGrp="1"/>
          </p:cNvSpPr>
          <p:nvPr/>
        </p:nvSpPr>
        <p:spPr>
          <a:xfrm>
            <a:off x="9029700" y="3876675"/>
            <a:ext cx="2133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3553"/>
          </a:bodyPr>
          <a:lstStyle/>
          <a:p>
            <a:pPr algn="ctr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Attachments and generated output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B061E44-9533-4867-BAEC-910D0B032E95}"/>
              </a:ext>
            </a:extLst>
          </p:cNvPr>
          <p:cNvSpPr>
            <a:spLocks noGrp="1"/>
          </p:cNvSpPr>
          <p:nvPr/>
        </p:nvSpPr>
        <p:spPr>
          <a:xfrm>
            <a:off x="8858250" y="4591050"/>
            <a:ext cx="24765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B8C7D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2BB634-65F2-45F5-84F6-53EB4168836C}"/>
              </a:ext>
            </a:extLst>
          </p:cNvPr>
          <p:cNvSpPr>
            <a:spLocks noGrp="1"/>
          </p:cNvSpPr>
          <p:nvPr/>
        </p:nvSpPr>
        <p:spPr>
          <a:xfrm>
            <a:off x="9029700" y="4772025"/>
            <a:ext cx="2133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0278"/>
          </a:bodyPr>
          <a:lstStyle/>
          <a:p>
            <a:pPr algn="ctr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Email delivery worker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B4E9D8-D7CF-42A5-B91B-637B77D94273}"/>
              </a:ext>
            </a:extLst>
          </p:cNvPr>
          <p:cNvSpPr>
            <a:spLocks noGrp="1"/>
          </p:cNvSpPr>
          <p:nvPr/>
        </p:nvSpPr>
        <p:spPr>
          <a:xfrm>
            <a:off x="9029700" y="5133975"/>
            <a:ext cx="2133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5000"/>
          </a:bodyPr>
          <a:lstStyle/>
          <a:p>
            <a:pPr algn="ctr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Transactional outbox and retries</a:t>
            </a:r>
          </a:p>
        </p:txBody>
      </p:sp>
      <p:cxnSp>
        <p:nvCxnSpPr>
          <p:cNvPr id="43" name="Straight Arrow Connector 42"/>
          <p:cNvCxnSpPr>
            <a:stCxn id="4" idx="3"/>
            <a:endCxn id="7" idx="1"/>
          </p:cNvCxnSpPr>
          <p:nvPr/>
        </p:nvCxnSpPr>
        <p:spPr>
          <a:xfrm>
            <a:off x="3143250" y="3429000"/>
            <a:ext cx="1095375" cy="0"/>
          </a:xfrm>
          <a:prstGeom prst="straightConnector1">
            <a:avLst/>
          </a:prstGeom>
          <a:ln w="19050">
            <a:solidFill>
              <a:srgbClr val="8CA1B8"/>
            </a:solidFill>
            <a:prstDash val="solid"/>
            <a:tailEnd type="triangle" w="sm" len="sm"/>
          </a:ln>
        </p:spPr>
      </p:cxnSp>
      <p:cxnSp>
        <p:nvCxnSpPr>
          <p:cNvPr id="44" name="Straight Arrow Connector 43"/>
          <p:cNvCxnSpPr>
            <a:stCxn id="7" idx="3"/>
            <a:endCxn id="10" idx="1"/>
          </p:cNvCxnSpPr>
          <p:nvPr/>
        </p:nvCxnSpPr>
        <p:spPr>
          <a:xfrm flipV="1">
            <a:off x="7715250" y="2400300"/>
            <a:ext cx="1143000" cy="1028700"/>
          </a:xfrm>
          <a:prstGeom prst="straightConnector1">
            <a:avLst/>
          </a:prstGeom>
          <a:ln w="19050">
            <a:solidFill>
              <a:srgbClr val="8CA1B8"/>
            </a:solidFill>
            <a:prstDash val="solid"/>
            <a:tailEnd type="triangle" w="sm" len="sm"/>
          </a:ln>
        </p:spPr>
      </p:cxnSp>
      <p:cxnSp>
        <p:nvCxnSpPr>
          <p:cNvPr id="45" name="Straight Arrow Connector 44"/>
          <p:cNvCxnSpPr>
            <a:stCxn id="7" idx="3"/>
            <a:endCxn id="13" idx="1"/>
          </p:cNvCxnSpPr>
          <p:nvPr/>
        </p:nvCxnSpPr>
        <p:spPr>
          <a:xfrm>
            <a:off x="7715250" y="3429000"/>
            <a:ext cx="1143000" cy="352425"/>
          </a:xfrm>
          <a:prstGeom prst="straightConnector1">
            <a:avLst/>
          </a:prstGeom>
          <a:ln w="19050">
            <a:solidFill>
              <a:srgbClr val="8CA1B8"/>
            </a:solidFill>
            <a:prstDash val="solid"/>
            <a:tailEnd type="triangle" w="sm" len="sm"/>
          </a:ln>
        </p:spPr>
      </p:cxnSp>
      <p:cxnSp>
        <p:nvCxnSpPr>
          <p:cNvPr id="46" name="Straight Arrow Connector 45"/>
          <p:cNvCxnSpPr>
            <a:stCxn id="7" idx="3"/>
            <a:endCxn id="16" idx="1"/>
          </p:cNvCxnSpPr>
          <p:nvPr/>
        </p:nvCxnSpPr>
        <p:spPr>
          <a:xfrm>
            <a:off x="7715250" y="3429000"/>
            <a:ext cx="1143000" cy="1609725"/>
          </a:xfrm>
          <a:prstGeom prst="straightConnector1">
            <a:avLst/>
          </a:prstGeom>
          <a:ln w="19050">
            <a:solidFill>
              <a:srgbClr val="8CA1B8"/>
            </a:solidFill>
            <a:prstDash val="solid"/>
            <a:tailEnd type="triangle" w="sm" len="sm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859957E-A419-46D6-972E-0ECB30EDF531}"/>
              </a:ext>
            </a:extLst>
          </p:cNvPr>
          <p:cNvSpPr>
            <a:spLocks noGrp="1"/>
          </p:cNvSpPr>
          <p:nvPr/>
        </p:nvSpPr>
        <p:spPr>
          <a:xfrm>
            <a:off x="3295650" y="2762250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59328"/>
          </a:bodyPr>
          <a:lstStyle/>
          <a:p>
            <a:pPr algn="ctr">
              <a:defRPr sz="1200" b="1">
                <a:solidFill>
                  <a:srgbClr val="F26B4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26B43"/>
                </a:solidFill>
                <a:latin typeface="Segoe UI"/>
                <a:ea typeface="Segoe UI"/>
                <a:cs typeface="Segoe UI"/>
              </a:rPr>
              <a:t>Security boundary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83A7E2-DBBE-4CF7-B9B4-B31F9F87E088}"/>
              </a:ext>
            </a:extLst>
          </p:cNvPr>
          <p:cNvSpPr>
            <a:spLocks noGrp="1"/>
          </p:cNvSpPr>
          <p:nvPr/>
        </p:nvSpPr>
        <p:spPr>
          <a:xfrm>
            <a:off x="4238625" y="5267325"/>
            <a:ext cx="3476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79167"/>
          </a:bodyPr>
          <a:lstStyle/>
          <a:p>
            <a:pPr algn="ctr">
              <a:defRPr sz="1500" b="1">
                <a:solidFill>
                  <a:srgbClr val="2E7D5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E7D5A"/>
                </a:solidFill>
                <a:latin typeface="Segoe UI"/>
                <a:ea typeface="Segoe UI"/>
                <a:cs typeface="Segoe UI"/>
              </a:rPr>
              <a:t>Read models and scheduled exports use the same canonical data and status rules as the operational API.</a:t>
            </a:r>
          </a:p>
        </p:txBody>
      </p:sp>
    </p:spTree>
    <p:extLst>
      <p:ext uri="{BB962C8B-B14F-4D97-AF65-F5344CB8AC3E}">
        <p14:creationId xmlns:p14="http://schemas.microsoft.com/office/powerpoint/2010/main" val="1814748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4744FDE-E83D-4F4A-BAB2-3C63CF3396FF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419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7BCB66-C7EF-4000-BB90-DF7C60833D80}"/>
              </a:ext>
            </a:extLst>
          </p:cNvPr>
          <p:cNvSpPr>
            <a:spLocks noGrp="1"/>
          </p:cNvSpPr>
          <p:nvPr/>
        </p:nvSpPr>
        <p:spPr>
          <a:xfrm>
            <a:off x="1295400" y="1028700"/>
            <a:ext cx="10039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Database redesign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A7374C-B6A5-42B1-8736-718189EF1DA0}"/>
              </a:ext>
            </a:extLst>
          </p:cNvPr>
          <p:cNvSpPr>
            <a:spLocks noGrp="1"/>
          </p:cNvSpPr>
          <p:nvPr/>
        </p:nvSpPr>
        <p:spPr>
          <a:xfrm>
            <a:off x="1295400" y="150495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target model reduces duplication and makes workflow and reporting queryable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762000" y="2076450"/>
          <a:ext cx="10668000" cy="360045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Concern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Current design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Target design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Permit storage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permits, drafts, embedded children and childpermits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One permits table; draft is a status and child is a self-reference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Workflow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Reviewer arrays and overlapping state fields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Ordered approval steps, eligible members and immutable action records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Operational fields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Mixed dates, strings and template-specific keys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Typed canonical columns; JSONB only for dynamic answers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Human-readable strings and permit-shaped PDF copies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Append-only events, immutable revisions and generated document links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Templates and numbering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Mutable template references and application-side counters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Pinned template versions and transactional sequences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C5D7556-EAC3-4F82-A228-9BF768B56A39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Result: predictable filtering, reliable audit reconstruction and a migration path that preserves legacy evidence.</a:t>
            </a:r>
          </a:p>
        </p:txBody>
      </p:sp>
    </p:spTree>
    <p:extLst>
      <p:ext uri="{BB962C8B-B14F-4D97-AF65-F5344CB8AC3E}">
        <p14:creationId xmlns:p14="http://schemas.microsoft.com/office/powerpoint/2010/main" val="770626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CE24F75-CB84-4C58-B489-0E047E3F002D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419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CF3E29-74EF-4668-8E60-2865893BE9CA}"/>
              </a:ext>
            </a:extLst>
          </p:cNvPr>
          <p:cNvSpPr>
            <a:spLocks noGrp="1"/>
          </p:cNvSpPr>
          <p:nvPr/>
        </p:nvSpPr>
        <p:spPr>
          <a:xfrm>
            <a:off x="1295400" y="1028700"/>
            <a:ext cx="10039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Workflow controls proven in the prototype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389804-C77B-4316-B74B-55FDF437F806}"/>
              </a:ext>
            </a:extLst>
          </p:cNvPr>
          <p:cNvSpPr>
            <a:spLocks noGrp="1"/>
          </p:cNvSpPr>
          <p:nvPr/>
        </p:nvSpPr>
        <p:spPr>
          <a:xfrm>
            <a:off x="1295400" y="150495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production service should retain the control intent while adopting the confirmed business chain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9B6B842-803D-44F4-A760-2F1959A2CB3F}"/>
              </a:ext>
            </a:extLst>
          </p:cNvPr>
          <p:cNvSpPr>
            <a:spLocks noGrp="1"/>
          </p:cNvSpPr>
          <p:nvPr/>
        </p:nvSpPr>
        <p:spPr>
          <a:xfrm>
            <a:off x="809625" y="2143125"/>
            <a:ext cx="400050" cy="400050"/>
          </a:xfrm>
          <a:prstGeom prst="ellipse">
            <a:avLst/>
          </a:prstGeom>
          <a:solidFill>
            <a:srgbClr val="0072B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752B70-D6E1-4DF2-9222-9A36B531EB3B}"/>
              </a:ext>
            </a:extLst>
          </p:cNvPr>
          <p:cNvSpPr>
            <a:spLocks noGrp="1"/>
          </p:cNvSpPr>
          <p:nvPr/>
        </p:nvSpPr>
        <p:spPr>
          <a:xfrm>
            <a:off x="1323975" y="2133600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80882"/>
          </a:bodyPr>
          <a:lstStyle/>
          <a:p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Complete permit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FF3DC6-B792-4013-8ED6-ACBC05A91CCC}"/>
              </a:ext>
            </a:extLst>
          </p:cNvPr>
          <p:cNvSpPr>
            <a:spLocks noGrp="1"/>
          </p:cNvSpPr>
          <p:nvPr/>
        </p:nvSpPr>
        <p:spPr>
          <a:xfrm>
            <a:off x="1323975" y="2428875"/>
            <a:ext cx="2724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5679"/>
          </a:bodyPr>
          <a:lstStyle/>
          <a:p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Required permit and safety fields must pass validation before submission.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ECA15D-16B7-4437-B1C4-41886A2FE469}"/>
              </a:ext>
            </a:extLst>
          </p:cNvPr>
          <p:cNvSpPr>
            <a:spLocks noGrp="1"/>
          </p:cNvSpPr>
          <p:nvPr/>
        </p:nvSpPr>
        <p:spPr>
          <a:xfrm>
            <a:off x="4333875" y="2143125"/>
            <a:ext cx="400050" cy="4000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E9E6EE-1E31-43ED-BA49-FDEB431AB9DC}"/>
              </a:ext>
            </a:extLst>
          </p:cNvPr>
          <p:cNvSpPr>
            <a:spLocks noGrp="1"/>
          </p:cNvSpPr>
          <p:nvPr/>
        </p:nvSpPr>
        <p:spPr>
          <a:xfrm>
            <a:off x="4848225" y="2133600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80882"/>
          </a:bodyPr>
          <a:lstStyle/>
          <a:p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Enforce current stage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2A0E5C-AF38-4FC7-99EB-908D2ACEE87A}"/>
              </a:ext>
            </a:extLst>
          </p:cNvPr>
          <p:cNvSpPr>
            <a:spLocks noGrp="1"/>
          </p:cNvSpPr>
          <p:nvPr/>
        </p:nvSpPr>
        <p:spPr>
          <a:xfrm>
            <a:off x="4848225" y="2428875"/>
            <a:ext cx="2724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5679"/>
          </a:bodyPr>
          <a:lstStyle/>
          <a:p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Only the assigned role can act. Separation of duties blocks self-approval.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BECB24-6613-4A3C-80A9-77EB2623DC38}"/>
              </a:ext>
            </a:extLst>
          </p:cNvPr>
          <p:cNvSpPr>
            <a:spLocks noGrp="1"/>
          </p:cNvSpPr>
          <p:nvPr/>
        </p:nvSpPr>
        <p:spPr>
          <a:xfrm>
            <a:off x="7858125" y="2143125"/>
            <a:ext cx="400050" cy="400050"/>
          </a:xfrm>
          <a:prstGeom prst="ellipse">
            <a:avLst/>
          </a:prstGeom>
          <a:solidFill>
            <a:srgbClr val="F26B43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31F548-0A79-4106-A350-1CAF37655EF0}"/>
              </a:ext>
            </a:extLst>
          </p:cNvPr>
          <p:cNvSpPr>
            <a:spLocks noGrp="1"/>
          </p:cNvSpPr>
          <p:nvPr/>
        </p:nvSpPr>
        <p:spPr>
          <a:xfrm>
            <a:off x="8372475" y="2133600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80882"/>
          </a:bodyPr>
          <a:lstStyle/>
          <a:p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Record every decision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7EDD27-C40F-4CDD-BBBF-F10BBC99F023}"/>
              </a:ext>
            </a:extLst>
          </p:cNvPr>
          <p:cNvSpPr>
            <a:spLocks noGrp="1"/>
          </p:cNvSpPr>
          <p:nvPr/>
        </p:nvSpPr>
        <p:spPr>
          <a:xfrm>
            <a:off x="8372475" y="2428875"/>
            <a:ext cx="2724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5679"/>
          </a:bodyPr>
          <a:lstStyle/>
          <a:p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Approvals, rejection reasons, status changes and revision events remain traceable.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F75D261-C4D3-422B-9E95-C82B16548812}"/>
              </a:ext>
            </a:extLst>
          </p:cNvPr>
          <p:cNvSpPr>
            <a:spLocks noGrp="1"/>
          </p:cNvSpPr>
          <p:nvPr/>
        </p:nvSpPr>
        <p:spPr>
          <a:xfrm>
            <a:off x="809625" y="3905250"/>
            <a:ext cx="400050" cy="400050"/>
          </a:xfrm>
          <a:prstGeom prst="ellipse">
            <a:avLst/>
          </a:prstGeom>
          <a:solidFill>
            <a:srgbClr val="F26B43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3AAF9E-6FD1-4A25-BA85-7091BBA8B777}"/>
              </a:ext>
            </a:extLst>
          </p:cNvPr>
          <p:cNvSpPr>
            <a:spLocks noGrp="1"/>
          </p:cNvSpPr>
          <p:nvPr/>
        </p:nvSpPr>
        <p:spPr>
          <a:xfrm>
            <a:off x="1323975" y="38957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80882"/>
          </a:bodyPr>
          <a:lstStyle/>
          <a:p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Control operational actions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2528F0-3246-4A07-BBD8-B60C88E23AB9}"/>
              </a:ext>
            </a:extLst>
          </p:cNvPr>
          <p:cNvSpPr>
            <a:spLocks noGrp="1"/>
          </p:cNvSpPr>
          <p:nvPr/>
        </p:nvSpPr>
        <p:spPr>
          <a:xfrm>
            <a:off x="1323975" y="4191000"/>
            <a:ext cx="2724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5679"/>
          </a:bodyPr>
          <a:lstStyle/>
          <a:p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Activation, suspension, resumption, closure and expiry checks use one policy layer.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6963B79-62D5-497C-AD5D-F7B18CFD5E39}"/>
              </a:ext>
            </a:extLst>
          </p:cNvPr>
          <p:cNvSpPr>
            <a:spLocks noGrp="1"/>
          </p:cNvSpPr>
          <p:nvPr/>
        </p:nvSpPr>
        <p:spPr>
          <a:xfrm>
            <a:off x="4333875" y="3905250"/>
            <a:ext cx="400050" cy="400050"/>
          </a:xfrm>
          <a:prstGeom prst="ellipse">
            <a:avLst/>
          </a:prstGeom>
          <a:solidFill>
            <a:srgbClr val="0072B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522A87-AE83-4FC4-9F53-6B53A8EA39CD}"/>
              </a:ext>
            </a:extLst>
          </p:cNvPr>
          <p:cNvSpPr>
            <a:spLocks noGrp="1"/>
          </p:cNvSpPr>
          <p:nvPr/>
        </p:nvSpPr>
        <p:spPr>
          <a:xfrm>
            <a:off x="4848225" y="38957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80882"/>
          </a:bodyPr>
          <a:lstStyle/>
          <a:p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Preserve revisions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ED103E-AACF-4F31-83F1-9ABD47CF8A5D}"/>
              </a:ext>
            </a:extLst>
          </p:cNvPr>
          <p:cNvSpPr>
            <a:spLocks noGrp="1"/>
          </p:cNvSpPr>
          <p:nvPr/>
        </p:nvSpPr>
        <p:spPr>
          <a:xfrm>
            <a:off x="4848225" y="4191000"/>
            <a:ext cx="2724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5679"/>
          </a:bodyPr>
          <a:lstStyle/>
          <a:p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revised permit returns for approval and prior approved revisions become superseded.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1BEA9B3-8A1C-4DDD-A4AE-A1656D374F3E}"/>
              </a:ext>
            </a:extLst>
          </p:cNvPr>
          <p:cNvSpPr>
            <a:spLocks noGrp="1"/>
          </p:cNvSpPr>
          <p:nvPr/>
        </p:nvSpPr>
        <p:spPr>
          <a:xfrm>
            <a:off x="7858125" y="3905250"/>
            <a:ext cx="400050" cy="4000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B48DE9-4B62-4EA8-86F2-178B32034F69}"/>
              </a:ext>
            </a:extLst>
          </p:cNvPr>
          <p:cNvSpPr>
            <a:spLocks noGrp="1"/>
          </p:cNvSpPr>
          <p:nvPr/>
        </p:nvSpPr>
        <p:spPr>
          <a:xfrm>
            <a:off x="8372475" y="38957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80882"/>
          </a:bodyPr>
          <a:lstStyle/>
          <a:p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Handle linked permits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D6CE35-9819-4AE9-8A36-4FEF1F9C809A}"/>
              </a:ext>
            </a:extLst>
          </p:cNvPr>
          <p:cNvSpPr>
            <a:spLocks noGrp="1"/>
          </p:cNvSpPr>
          <p:nvPr/>
        </p:nvSpPr>
        <p:spPr>
          <a:xfrm>
            <a:off x="8372475" y="4191000"/>
            <a:ext cx="2724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5679"/>
          </a:bodyPr>
          <a:lstStyle/>
          <a:p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Hot Work selection creates a linked child permit; final parent gating remains a policy decision.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DC2C83-AB98-47C0-B41D-1233CB33352E}"/>
              </a:ext>
            </a:extLst>
          </p:cNvPr>
          <p:cNvSpPr>
            <a:spLocks noGrp="1"/>
          </p:cNvSpPr>
          <p:nvPr/>
        </p:nvSpPr>
        <p:spPr>
          <a:xfrm>
            <a:off x="800100" y="5781675"/>
            <a:ext cx="10429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3333"/>
          </a:bodyPr>
          <a:lstStyle/>
          <a:p>
            <a:pPr algn="l">
              <a:defRPr sz="15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Current prototype chain: Individual Reviewer, MT Group, Permit Manager. Requirements propose a company-driven chain with Host, Host Manager, optional stages and OPS.</a:t>
            </a:r>
          </a:p>
        </p:txBody>
      </p:sp>
    </p:spTree>
    <p:extLst>
      <p:ext uri="{BB962C8B-B14F-4D97-AF65-F5344CB8AC3E}">
        <p14:creationId xmlns:p14="http://schemas.microsoft.com/office/powerpoint/2010/main" val="940989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619B1F-6F90-4D9D-A3D3-0F782715E011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419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0D663-EDAC-470D-AC36-A46FEC98B46D}"/>
              </a:ext>
            </a:extLst>
          </p:cNvPr>
          <p:cNvSpPr>
            <a:spLocks noGrp="1"/>
          </p:cNvSpPr>
          <p:nvPr/>
        </p:nvSpPr>
        <p:spPr>
          <a:xfrm>
            <a:off x="1295400" y="1028700"/>
            <a:ext cx="10039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2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Policy decisions required before schema freeze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8A1537-4A99-4C46-BAA6-F922C9ACA583}"/>
              </a:ext>
            </a:extLst>
          </p:cNvPr>
          <p:cNvSpPr>
            <a:spLocks noGrp="1"/>
          </p:cNvSpPr>
          <p:nvPr/>
        </p:nvSpPr>
        <p:spPr>
          <a:xfrm>
            <a:off x="1295400" y="150495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supplied sources differ on six behaviours that directly affect data structures and workflow code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523875" y="2009775"/>
          <a:ext cx="11144250" cy="4048128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3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Decision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Requirements review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Backend or prototype position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Recommended action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Approval roles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Company-driven Host chain with optional stages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uses Individual Reviewer, MT Group and PM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one canonical role and stage model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Parent-child gating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Parent and child approval may proceed independently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blocks parent final approval until required child approval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whether approval or only work start is gated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Reviewer group changes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Changes update every live permit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Database proposal snapshots eligibility at submission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Choose audit certainty or live reassignment semantics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 changes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Labels and ordering may change after publish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Database proposal makes published versions immutable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Version every published change and define edit rules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PDF history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Generate on demand from current state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Schema includes revisions and generated document records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retention, evidence and regeneration policy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Expiry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No dedicated Expired status proposed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contains EXPIRED and automatic expiry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status, flag and reporting behaviour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B53B617-2DB3-4FD4-8D42-A290850AF543}"/>
              </a:ext>
            </a:extLst>
          </p:cNvPr>
          <p:cNvSpPr>
            <a:spLocks noGrp="1"/>
          </p:cNvSpPr>
          <p:nvPr/>
        </p:nvSpPr>
        <p:spPr>
          <a:xfrm>
            <a:off x="666750" y="6181725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Recommendation: close these decisions in a short design authority workshop and record them as testable acceptance rules.</a:t>
            </a:r>
          </a:p>
        </p:txBody>
      </p:sp>
    </p:spTree>
    <p:extLst>
      <p:ext uri="{BB962C8B-B14F-4D97-AF65-F5344CB8AC3E}">
        <p14:creationId xmlns:p14="http://schemas.microsoft.com/office/powerpoint/2010/main" val="745438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FC1F2416-340D-4021-B215-121BFD4B9571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419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BB67B1-AB0B-4842-8019-0C77A90183B0}"/>
              </a:ext>
            </a:extLst>
          </p:cNvPr>
          <p:cNvSpPr>
            <a:spLocks noGrp="1"/>
          </p:cNvSpPr>
          <p:nvPr/>
        </p:nvSpPr>
        <p:spPr>
          <a:xfrm>
            <a:off x="1295400" y="1028700"/>
            <a:ext cx="10039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Migration and cutover approach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AE038C-E888-41D0-81B3-B6003033359B}"/>
              </a:ext>
            </a:extLst>
          </p:cNvPr>
          <p:cNvSpPr>
            <a:spLocks noGrp="1"/>
          </p:cNvSpPr>
          <p:nvPr/>
        </p:nvSpPr>
        <p:spPr>
          <a:xfrm>
            <a:off x="1295400" y="150495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restartable, evidence-preserving migration reduces operational and audit risk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85F059-12DA-468D-AAAC-6680AAE18163}"/>
              </a:ext>
            </a:extLst>
          </p:cNvPr>
          <p:cNvSpPr>
            <a:spLocks noGrp="1"/>
          </p:cNvSpPr>
          <p:nvPr/>
        </p:nvSpPr>
        <p:spPr>
          <a:xfrm>
            <a:off x="619125" y="2305050"/>
            <a:ext cx="2000250" cy="2143125"/>
          </a:xfrm>
          <a:prstGeom prst="roundRect">
            <a:avLst>
              <a:gd name="adj" fmla="val 5714"/>
            </a:avLst>
          </a:prstGeom>
          <a:solidFill>
            <a:srgbClr val="E8F4FB"/>
          </a:solidFill>
          <a:ln w="9525">
            <a:solidFill>
              <a:srgbClr val="BDD2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BD2383-E84A-4D31-AA98-EE1E98135210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5938"/>
          </a:bodyPr>
          <a:lstStyle/>
          <a:p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1CB063-C6F9-4EFB-BE36-D5D64F9012BB}"/>
              </a:ext>
            </a:extLst>
          </p:cNvPr>
          <p:cNvSpPr>
            <a:spLocks noGrp="1"/>
          </p:cNvSpPr>
          <p:nvPr/>
        </p:nvSpPr>
        <p:spPr>
          <a:xfrm>
            <a:off x="762000" y="2847975"/>
            <a:ext cx="1714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79861"/>
          </a:bodyPr>
          <a:lstStyle/>
          <a:p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Inventory and freeze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93D14C-2063-4EC4-B056-F093CCF3F11D}"/>
              </a:ext>
            </a:extLst>
          </p:cNvPr>
          <p:cNvSpPr>
            <a:spLocks noGrp="1"/>
          </p:cNvSpPr>
          <p:nvPr/>
        </p:nvSpPr>
        <p:spPr>
          <a:xfrm>
            <a:off x="762000" y="3438525"/>
            <a:ext cx="1714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78170"/>
          </a:bodyPr>
          <a:lstStyle/>
          <a:p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Profile a sanitized production snapshot. Resolve status, key mapping, numbering, retention and duplicate rules.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7ED619-B342-4D84-B204-16790B6156E0}"/>
              </a:ext>
            </a:extLst>
          </p:cNvPr>
          <p:cNvSpPr>
            <a:spLocks noGrp="1"/>
          </p:cNvSpPr>
          <p:nvPr/>
        </p:nvSpPr>
        <p:spPr>
          <a:xfrm>
            <a:off x="2914650" y="2305050"/>
            <a:ext cx="2000250" cy="2143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BDD2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7CAB82-D5CF-4F7B-9273-0534307C8CE4}"/>
              </a:ext>
            </a:extLst>
          </p:cNvPr>
          <p:cNvSpPr>
            <a:spLocks noGrp="1"/>
          </p:cNvSpPr>
          <p:nvPr/>
        </p:nvSpPr>
        <p:spPr>
          <a:xfrm>
            <a:off x="3057525" y="2457450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5938"/>
          </a:bodyPr>
          <a:lstStyle/>
          <a:p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3F67BA-286A-497C-A323-BB3FC2D5F0B7}"/>
              </a:ext>
            </a:extLst>
          </p:cNvPr>
          <p:cNvSpPr>
            <a:spLocks noGrp="1"/>
          </p:cNvSpPr>
          <p:nvPr/>
        </p:nvSpPr>
        <p:spPr>
          <a:xfrm>
            <a:off x="3057525" y="2847975"/>
            <a:ext cx="1714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4123"/>
          </a:bodyPr>
          <a:lstStyle/>
          <a:p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Build and rehearse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E88723-C508-4CDD-B1D9-4A0F9201FB75}"/>
              </a:ext>
            </a:extLst>
          </p:cNvPr>
          <p:cNvSpPr>
            <a:spLocks noGrp="1"/>
          </p:cNvSpPr>
          <p:nvPr/>
        </p:nvSpPr>
        <p:spPr>
          <a:xfrm>
            <a:off x="3057525" y="3438525"/>
            <a:ext cx="1714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0769"/>
          </a:bodyPr>
          <a:lstStyle/>
          <a:p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Deploy an empty PostgreSQL schema. Load reference data, users, templates and permits with deterministic mappings.</a:t>
            </a:r>
          </a:p>
        </p:txBody>
      </p:sp>
      <p:cxnSp>
        <p:nvCxnSpPr>
          <p:cNvPr id="45" name="Straight Arrow Connector 44"/>
          <p:cNvCxnSpPr>
            <a:stCxn id="4" idx="3"/>
            <a:endCxn id="8" idx="1"/>
          </p:cNvCxnSpPr>
          <p:nvPr/>
        </p:nvCxnSpPr>
        <p:spPr>
          <a:xfrm>
            <a:off x="2619375" y="3376613"/>
            <a:ext cx="295275" cy="0"/>
          </a:xfrm>
          <a:prstGeom prst="straightConnector1">
            <a:avLst/>
          </a:prstGeom>
          <a:ln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EBECC46-829A-4E42-9CDB-CCC504160E9C}"/>
              </a:ext>
            </a:extLst>
          </p:cNvPr>
          <p:cNvSpPr>
            <a:spLocks noGrp="1"/>
          </p:cNvSpPr>
          <p:nvPr/>
        </p:nvSpPr>
        <p:spPr>
          <a:xfrm>
            <a:off x="5210175" y="2305050"/>
            <a:ext cx="2000250" cy="2143125"/>
          </a:xfrm>
          <a:prstGeom prst="roundRect">
            <a:avLst>
              <a:gd name="adj" fmla="val 5714"/>
            </a:avLst>
          </a:prstGeom>
          <a:solidFill>
            <a:srgbClr val="E8F4FB"/>
          </a:solidFill>
          <a:ln w="9525">
            <a:solidFill>
              <a:srgbClr val="BDD2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8D07E7-2110-4FE3-92CB-F3C1D5CCBA71}"/>
              </a:ext>
            </a:extLst>
          </p:cNvPr>
          <p:cNvSpPr>
            <a:spLocks noGrp="1"/>
          </p:cNvSpPr>
          <p:nvPr/>
        </p:nvSpPr>
        <p:spPr>
          <a:xfrm>
            <a:off x="5353050" y="2457450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5938"/>
          </a:bodyPr>
          <a:lstStyle/>
          <a:p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F9E121-A9AE-4E61-8423-34646C870904}"/>
              </a:ext>
            </a:extLst>
          </p:cNvPr>
          <p:cNvSpPr>
            <a:spLocks noGrp="1"/>
          </p:cNvSpPr>
          <p:nvPr/>
        </p:nvSpPr>
        <p:spPr>
          <a:xfrm>
            <a:off x="5353050" y="2847975"/>
            <a:ext cx="1714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79861"/>
          </a:bodyPr>
          <a:lstStyle/>
          <a:p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Reconstruct permit detail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F29834-31FE-4A17-9AC2-2BB64F69E510}"/>
              </a:ext>
            </a:extLst>
          </p:cNvPr>
          <p:cNvSpPr>
            <a:spLocks noGrp="1"/>
          </p:cNvSpPr>
          <p:nvPr/>
        </p:nvSpPr>
        <p:spPr>
          <a:xfrm>
            <a:off x="5353050" y="3438525"/>
            <a:ext cx="1714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0769"/>
          </a:bodyPr>
          <a:lstStyle/>
          <a:p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Extract canonical fields, migrate children and retain the unmodified legacy submission in the first revision.</a:t>
            </a:r>
          </a:p>
        </p:txBody>
      </p:sp>
      <p:cxnSp>
        <p:nvCxnSpPr>
          <p:cNvPr id="50" name="Straight Arrow Connector 49"/>
          <p:cNvCxnSpPr>
            <a:stCxn id="8" idx="3"/>
            <a:endCxn id="13" idx="1"/>
          </p:cNvCxnSpPr>
          <p:nvPr/>
        </p:nvCxnSpPr>
        <p:spPr>
          <a:xfrm>
            <a:off x="4914900" y="3376613"/>
            <a:ext cx="295275" cy="0"/>
          </a:xfrm>
          <a:prstGeom prst="straightConnector1">
            <a:avLst/>
          </a:prstGeom>
          <a:ln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5C6CA74-C61D-4ABC-A6F3-1EAE23BD8FF2}"/>
              </a:ext>
            </a:extLst>
          </p:cNvPr>
          <p:cNvSpPr>
            <a:spLocks noGrp="1"/>
          </p:cNvSpPr>
          <p:nvPr/>
        </p:nvSpPr>
        <p:spPr>
          <a:xfrm>
            <a:off x="7505700" y="2305050"/>
            <a:ext cx="2000250" cy="2143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BDD2E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C84801-F920-48DD-B5F0-AF62105A20E0}"/>
              </a:ext>
            </a:extLst>
          </p:cNvPr>
          <p:cNvSpPr>
            <a:spLocks noGrp="1"/>
          </p:cNvSpPr>
          <p:nvPr/>
        </p:nvSpPr>
        <p:spPr>
          <a:xfrm>
            <a:off x="7648575" y="2457450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5938"/>
          </a:bodyPr>
          <a:lstStyle/>
          <a:p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DAFAE6-7976-4EDF-AE26-C7F30649A433}"/>
              </a:ext>
            </a:extLst>
          </p:cNvPr>
          <p:cNvSpPr>
            <a:spLocks noGrp="1"/>
          </p:cNvSpPr>
          <p:nvPr/>
        </p:nvSpPr>
        <p:spPr>
          <a:xfrm>
            <a:off x="7648575" y="2847975"/>
            <a:ext cx="1714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79861"/>
          </a:bodyPr>
          <a:lstStyle/>
          <a:p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Rebuild workflow history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E92654-6468-4D0A-92E5-8BA95C1E39CE}"/>
              </a:ext>
            </a:extLst>
          </p:cNvPr>
          <p:cNvSpPr>
            <a:spLocks noGrp="1"/>
          </p:cNvSpPr>
          <p:nvPr/>
        </p:nvSpPr>
        <p:spPr>
          <a:xfrm>
            <a:off x="7648575" y="3438525"/>
            <a:ext cx="1714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6074"/>
          </a:bodyPr>
          <a:lstStyle/>
          <a:p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Recreate approval steps and events conservatively. Flag ambiguity instead of inventing historical order.</a:t>
            </a:r>
          </a:p>
        </p:txBody>
      </p:sp>
      <p:cxnSp>
        <p:nvCxnSpPr>
          <p:cNvPr id="55" name="Straight Arrow Connector 54"/>
          <p:cNvCxnSpPr>
            <a:stCxn id="13" idx="3"/>
            <a:endCxn id="18" idx="1"/>
          </p:cNvCxnSpPr>
          <p:nvPr/>
        </p:nvCxnSpPr>
        <p:spPr>
          <a:xfrm>
            <a:off x="7210425" y="3376613"/>
            <a:ext cx="295275" cy="0"/>
          </a:xfrm>
          <a:prstGeom prst="straightConnector1">
            <a:avLst/>
          </a:prstGeom>
          <a:ln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DACAC02-EF33-4DF2-A315-140FFD4A16B4}"/>
              </a:ext>
            </a:extLst>
          </p:cNvPr>
          <p:cNvSpPr>
            <a:spLocks noGrp="1"/>
          </p:cNvSpPr>
          <p:nvPr/>
        </p:nvSpPr>
        <p:spPr>
          <a:xfrm>
            <a:off x="9801225" y="2305050"/>
            <a:ext cx="2000250" cy="2143125"/>
          </a:xfrm>
          <a:prstGeom prst="roundRect">
            <a:avLst>
              <a:gd name="adj" fmla="val 5714"/>
            </a:avLst>
          </a:prstGeom>
          <a:solidFill>
            <a:srgbClr val="FFF1EB"/>
          </a:solidFill>
          <a:ln w="9525">
            <a:solidFill>
              <a:srgbClr val="F2B49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B29DA0-873B-4979-858E-E3324E094255}"/>
              </a:ext>
            </a:extLst>
          </p:cNvPr>
          <p:cNvSpPr>
            <a:spLocks noGrp="1"/>
          </p:cNvSpPr>
          <p:nvPr/>
        </p:nvSpPr>
        <p:spPr>
          <a:xfrm>
            <a:off x="9944100" y="2457450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5938"/>
          </a:bodyPr>
          <a:lstStyle/>
          <a:p>
            <a:pPr algn="l">
              <a:def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E7E08A-2EC0-485C-B516-78563DCB3C61}"/>
              </a:ext>
            </a:extLst>
          </p:cNvPr>
          <p:cNvSpPr>
            <a:spLocks noGrp="1"/>
          </p:cNvSpPr>
          <p:nvPr/>
        </p:nvSpPr>
        <p:spPr>
          <a:xfrm>
            <a:off x="9944100" y="2847975"/>
            <a:ext cx="1714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79861"/>
          </a:bodyPr>
          <a:lstStyle/>
          <a:p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Synchronize and cut over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B78A62-34D6-4435-9CF7-D6491DA88169}"/>
              </a:ext>
            </a:extLst>
          </p:cNvPr>
          <p:cNvSpPr>
            <a:spLocks noGrp="1"/>
          </p:cNvSpPr>
          <p:nvPr/>
        </p:nvSpPr>
        <p:spPr>
          <a:xfrm>
            <a:off x="9944100" y="3438525"/>
            <a:ext cx="1714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2847"/>
          </a:bodyPr>
          <a:lstStyle/>
          <a:p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Run change capture or a short freeze, reconcile, switch traffic and retain a rollback window.</a:t>
            </a:r>
          </a:p>
        </p:txBody>
      </p:sp>
      <p:cxnSp>
        <p:nvCxnSpPr>
          <p:cNvPr id="60" name="Straight Arrow Connector 59"/>
          <p:cNvCxnSpPr>
            <a:stCxn id="18" idx="3"/>
            <a:endCxn id="23" idx="1"/>
          </p:cNvCxnSpPr>
          <p:nvPr/>
        </p:nvCxnSpPr>
        <p:spPr>
          <a:xfrm>
            <a:off x="9505950" y="3376613"/>
            <a:ext cx="295275" cy="0"/>
          </a:xfrm>
          <a:prstGeom prst="straightConnector1">
            <a:avLst/>
          </a:prstGeom>
          <a:ln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051E41D-8613-4A66-AB65-E87EBF23FC1D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5588"/>
          </a:bodyPr>
          <a:lstStyle/>
          <a:p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Reconciliation gates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2A6558-7F57-4CEB-8DF7-35193CA008C1}"/>
              </a:ext>
            </a:extLst>
          </p:cNvPr>
          <p:cNvSpPr>
            <a:spLocks noGrp="1"/>
          </p:cNvSpPr>
          <p:nvPr/>
        </p:nvSpPr>
        <p:spPr>
          <a:xfrm>
            <a:off x="762000" y="5505450"/>
            <a:ext cx="66675" cy="66675"/>
          </a:xfrm>
          <a:prstGeom prst="rect">
            <a:avLst/>
          </a:prstGeom>
          <a:solidFill>
            <a:srgbClr val="F26B43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18A8E1-983A-4D88-9D47-A674A57ED852}"/>
              </a:ext>
            </a:extLst>
          </p:cNvPr>
          <p:cNvSpPr>
            <a:spLocks noGrp="1"/>
          </p:cNvSpPr>
          <p:nvPr/>
        </p:nvSpPr>
        <p:spPr>
          <a:xfrm>
            <a:off x="933450" y="542925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8710"/>
          </a:bodyPr>
          <a:lstStyle/>
          <a:p>
            <a:pPr algn="l">
              <a:defRPr sz="15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Every source record is migrated, explicitly excluded or quarantined with a reason.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FB8671-12BF-4540-9FD1-4D933946D7B8}"/>
              </a:ext>
            </a:extLst>
          </p:cNvPr>
          <p:cNvSpPr>
            <a:spLocks noGrp="1"/>
          </p:cNvSpPr>
          <p:nvPr/>
        </p:nvSpPr>
        <p:spPr>
          <a:xfrm>
            <a:off x="6191250" y="5505450"/>
            <a:ext cx="66675" cy="66675"/>
          </a:xfrm>
          <a:prstGeom prst="rect">
            <a:avLst/>
          </a:prstGeom>
          <a:solidFill>
            <a:srgbClr val="F26B43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DB9B06-DD90-42B9-BA45-BA3890E42BD5}"/>
              </a:ext>
            </a:extLst>
          </p:cNvPr>
          <p:cNvSpPr>
            <a:spLocks noGrp="1"/>
          </p:cNvSpPr>
          <p:nvPr/>
        </p:nvSpPr>
        <p:spPr>
          <a:xfrm>
            <a:off x="6362700" y="542925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8710"/>
          </a:bodyPr>
          <a:lstStyle/>
          <a:p>
            <a:pPr algn="l">
              <a:defRPr sz="15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Counts reconcile by status, site, template, parent-child relationship and approval outcome.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9ABF8C-9DFD-4E12-B758-E9E7B34F38B1}"/>
              </a:ext>
            </a:extLst>
          </p:cNvPr>
          <p:cNvSpPr>
            <a:spLocks noGrp="1"/>
          </p:cNvSpPr>
          <p:nvPr/>
        </p:nvSpPr>
        <p:spPr>
          <a:xfrm>
            <a:off x="762000" y="61055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Cutover proceeds only after critical reconciliation gates pass.</a:t>
            </a:r>
          </a:p>
        </p:txBody>
      </p:sp>
    </p:spTree>
    <p:extLst>
      <p:ext uri="{BB962C8B-B14F-4D97-AF65-F5344CB8AC3E}">
        <p14:creationId xmlns:p14="http://schemas.microsoft.com/office/powerpoint/2010/main" val="1277347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5C53510-337E-439F-958B-F44A8F4D3E00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419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550114-2E27-47C2-B0CB-106B82CBB68E}"/>
              </a:ext>
            </a:extLst>
          </p:cNvPr>
          <p:cNvSpPr>
            <a:spLocks noGrp="1"/>
          </p:cNvSpPr>
          <p:nvPr/>
        </p:nvSpPr>
        <p:spPr>
          <a:xfrm>
            <a:off x="1295400" y="1028700"/>
            <a:ext cx="10039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Delivery sequencing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D90C1C-C57B-4121-A712-0596807AB5C1}"/>
              </a:ext>
            </a:extLst>
          </p:cNvPr>
          <p:cNvSpPr>
            <a:spLocks noGrp="1"/>
          </p:cNvSpPr>
          <p:nvPr/>
        </p:nvSpPr>
        <p:spPr>
          <a:xfrm>
            <a:off x="1295400" y="150495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sequence protects domain decisions first and postpones irreversible migration work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1A9FF6-F67E-4B77-8B64-FB11F8314E88}"/>
              </a:ext>
            </a:extLst>
          </p:cNvPr>
          <p:cNvSpPr>
            <a:spLocks noGrp="1"/>
          </p:cNvSpPr>
          <p:nvPr/>
        </p:nvSpPr>
        <p:spPr>
          <a:xfrm>
            <a:off x="790575" y="2057400"/>
            <a:ext cx="514350" cy="495300"/>
          </a:xfrm>
          <a:prstGeom prst="roundRect">
            <a:avLst>
              <a:gd name="adj" fmla="val 19231"/>
            </a:avLst>
          </a:prstGeom>
          <a:solidFill>
            <a:srgbClr val="F26B43"/>
          </a:solidFill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D9C39-5936-4F77-A53D-68ACE35DCB60}"/>
              </a:ext>
            </a:extLst>
          </p:cNvPr>
          <p:cNvSpPr>
            <a:spLocks noGrp="1"/>
          </p:cNvSpPr>
          <p:nvPr/>
        </p:nvSpPr>
        <p:spPr>
          <a:xfrm>
            <a:off x="1581150" y="2038350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Domain alignment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F6DB8B-D785-489F-A0F9-01772E4C80D9}"/>
              </a:ext>
            </a:extLst>
          </p:cNvPr>
          <p:cNvSpPr>
            <a:spLocks noGrp="1"/>
          </p:cNvSpPr>
          <p:nvPr/>
        </p:nvSpPr>
        <p:spPr>
          <a:xfrm>
            <a:off x="4381500" y="2038350"/>
            <a:ext cx="6572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Close the six policy decisions, acceptance rules and role matrix.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D99F2B9-3A7C-4D62-8509-C3249E01E9D4}"/>
              </a:ext>
            </a:extLst>
          </p:cNvPr>
          <p:cNvSpPr>
            <a:spLocks noGrp="1"/>
          </p:cNvSpPr>
          <p:nvPr/>
        </p:nvSpPr>
        <p:spPr>
          <a:xfrm>
            <a:off x="1047750" y="2609850"/>
            <a:ext cx="0" cy="266700"/>
          </a:xfrm>
          <a:prstGeom prst="line">
            <a:avLst/>
          </a:prstGeom>
          <a:noFill/>
          <a:ln w="19050">
            <a:solidFill>
              <a:srgbClr val="B6C4D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21A47C-3D98-436B-B903-CC8BACA81EA7}"/>
              </a:ext>
            </a:extLst>
          </p:cNvPr>
          <p:cNvSpPr>
            <a:spLocks noGrp="1"/>
          </p:cNvSpPr>
          <p:nvPr/>
        </p:nvSpPr>
        <p:spPr>
          <a:xfrm>
            <a:off x="790575" y="2876550"/>
            <a:ext cx="514350" cy="495300"/>
          </a:xfrm>
          <a:prstGeom prst="roundRect">
            <a:avLst>
              <a:gd name="adj" fmla="val 19231"/>
            </a:avLst>
          </a:prstGeom>
          <a:solidFill>
            <a:srgbClr val="0072BC"/>
          </a:solidFill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A5DFC6-F3C3-4506-91B2-6C12092CC2B5}"/>
              </a:ext>
            </a:extLst>
          </p:cNvPr>
          <p:cNvSpPr>
            <a:spLocks noGrp="1"/>
          </p:cNvSpPr>
          <p:nvPr/>
        </p:nvSpPr>
        <p:spPr>
          <a:xfrm>
            <a:off x="1581150" y="2857500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Platform foundation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F9026D-0148-4709-8AE4-60D0BB3916E5}"/>
              </a:ext>
            </a:extLst>
          </p:cNvPr>
          <p:cNvSpPr>
            <a:spLocks noGrp="1"/>
          </p:cNvSpPr>
          <p:nvPr/>
        </p:nvSpPr>
        <p:spPr>
          <a:xfrm>
            <a:off x="4381500" y="2857500"/>
            <a:ext cx="6572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9844"/>
          </a:bodyPr>
          <a:lstStyle/>
          <a:p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Authentication, authorization, schema, files, event logging and deployment pipeline.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BFC62BB-F994-4A5F-8FBD-530E8EAD9AD2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0" cy="266700"/>
          </a:xfrm>
          <a:prstGeom prst="line">
            <a:avLst/>
          </a:prstGeom>
          <a:noFill/>
          <a:ln w="19050">
            <a:solidFill>
              <a:srgbClr val="B6C4D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5DC66D-50C1-4172-996C-6B9399D226DA}"/>
              </a:ext>
            </a:extLst>
          </p:cNvPr>
          <p:cNvSpPr>
            <a:spLocks noGrp="1"/>
          </p:cNvSpPr>
          <p:nvPr/>
        </p:nvSpPr>
        <p:spPr>
          <a:xfrm>
            <a:off x="790575" y="3695700"/>
            <a:ext cx="514350" cy="495300"/>
          </a:xfrm>
          <a:prstGeom prst="roundRect">
            <a:avLst>
              <a:gd name="adj" fmla="val 19231"/>
            </a:avLst>
          </a:prstGeom>
          <a:solidFill>
            <a:srgbClr val="0072BC"/>
          </a:solidFill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61A456-7B95-4882-A699-020FF4A01526}"/>
              </a:ext>
            </a:extLst>
          </p:cNvPr>
          <p:cNvSpPr>
            <a:spLocks noGrp="1"/>
          </p:cNvSpPr>
          <p:nvPr/>
        </p:nvSpPr>
        <p:spPr>
          <a:xfrm>
            <a:off x="1581150" y="3676650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Permit lifecycle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67AF45-5B96-458E-AA44-C8F4A444207B}"/>
              </a:ext>
            </a:extLst>
          </p:cNvPr>
          <p:cNvSpPr>
            <a:spLocks noGrp="1"/>
          </p:cNvSpPr>
          <p:nvPr/>
        </p:nvSpPr>
        <p:spPr>
          <a:xfrm>
            <a:off x="4381500" y="3676650"/>
            <a:ext cx="6572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8829"/>
          </a:bodyPr>
          <a:lstStyle/>
          <a:p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Creation, child logic, approvals, operational actions, closure and revisions.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BB517F3-F01E-40FF-8DC0-30CCA4588F9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0" cy="266700"/>
          </a:xfrm>
          <a:prstGeom prst="line">
            <a:avLst/>
          </a:prstGeom>
          <a:noFill/>
          <a:ln w="19050">
            <a:solidFill>
              <a:srgbClr val="B6C4D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41FBCBD-E6A8-4455-8690-8ED67C9DD93F}"/>
              </a:ext>
            </a:extLst>
          </p:cNvPr>
          <p:cNvSpPr>
            <a:spLocks noGrp="1"/>
          </p:cNvSpPr>
          <p:nvPr/>
        </p:nvSpPr>
        <p:spPr>
          <a:xfrm>
            <a:off x="790575" y="4514850"/>
            <a:ext cx="514350" cy="495300"/>
          </a:xfrm>
          <a:prstGeom prst="roundRect">
            <a:avLst>
              <a:gd name="adj" fmla="val 19231"/>
            </a:avLst>
          </a:prstGeom>
          <a:solidFill>
            <a:srgbClr val="0072BC"/>
          </a:solidFill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F3C16B-391B-41BF-B845-EFF267983097}"/>
              </a:ext>
            </a:extLst>
          </p:cNvPr>
          <p:cNvSpPr>
            <a:spLocks noGrp="1"/>
          </p:cNvSpPr>
          <p:nvPr/>
        </p:nvSpPr>
        <p:spPr>
          <a:xfrm>
            <a:off x="1581150" y="4495800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83090"/>
          </a:bodyPr>
          <a:lstStyle/>
          <a:p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Administration and reporting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EEEC38-81F8-46A4-9229-3A4FFAE65BBC}"/>
              </a:ext>
            </a:extLst>
          </p:cNvPr>
          <p:cNvSpPr>
            <a:spLocks noGrp="1"/>
          </p:cNvSpPr>
          <p:nvPr/>
        </p:nvSpPr>
        <p:spPr>
          <a:xfrm>
            <a:off x="4381500" y="4495800"/>
            <a:ext cx="6572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Configuration screens, search, dashboards, PDF and scheduled exports.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9410598-A78C-4FAD-B726-48C15C3CFB08}"/>
              </a:ext>
            </a:extLst>
          </p:cNvPr>
          <p:cNvSpPr>
            <a:spLocks noGrp="1"/>
          </p:cNvSpPr>
          <p:nvPr/>
        </p:nvSpPr>
        <p:spPr>
          <a:xfrm>
            <a:off x="1047750" y="5067300"/>
            <a:ext cx="0" cy="266700"/>
          </a:xfrm>
          <a:prstGeom prst="line">
            <a:avLst/>
          </a:prstGeom>
          <a:noFill/>
          <a:ln w="19050">
            <a:solidFill>
              <a:srgbClr val="B6C4D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ABF4C8B-0478-4420-9E67-549EAEDE49C6}"/>
              </a:ext>
            </a:extLst>
          </p:cNvPr>
          <p:cNvSpPr>
            <a:spLocks noGrp="1"/>
          </p:cNvSpPr>
          <p:nvPr/>
        </p:nvSpPr>
        <p:spPr>
          <a:xfrm>
            <a:off x="790575" y="5334000"/>
            <a:ext cx="514350" cy="495300"/>
          </a:xfrm>
          <a:prstGeom prst="roundRect">
            <a:avLst>
              <a:gd name="adj" fmla="val 19231"/>
            </a:avLst>
          </a:prstGeom>
          <a:solidFill>
            <a:srgbClr val="0072BC"/>
          </a:solidFill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0988CB-50C1-4B5E-B698-4A693DD70812}"/>
              </a:ext>
            </a:extLst>
          </p:cNvPr>
          <p:cNvSpPr>
            <a:spLocks noGrp="1"/>
          </p:cNvSpPr>
          <p:nvPr/>
        </p:nvSpPr>
        <p:spPr>
          <a:xfrm>
            <a:off x="1581150" y="5314950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Migration and launch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0DFD4C-D051-4CE4-900B-BF1ACADD789B}"/>
              </a:ext>
            </a:extLst>
          </p:cNvPr>
          <p:cNvSpPr>
            <a:spLocks noGrp="1"/>
          </p:cNvSpPr>
          <p:nvPr/>
        </p:nvSpPr>
        <p:spPr>
          <a:xfrm>
            <a:off x="4381500" y="5314950"/>
            <a:ext cx="6572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Profiling, ETL rehearsals, reconciliation, training, cutover and hypercare.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0A7B75-EB6F-470B-8114-A71984A20917}"/>
              </a:ext>
            </a:extLst>
          </p:cNvPr>
          <p:cNvSpPr>
            <a:spLocks noGrp="1"/>
          </p:cNvSpPr>
          <p:nvPr/>
        </p:nvSpPr>
        <p:spPr>
          <a:xfrm>
            <a:off x="762000" y="61531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76712"/>
          </a:bodyPr>
          <a:lstStyle/>
          <a:p>
            <a:pPr algn="l">
              <a:defRPr sz="1400" b="1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1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Each track ends with working software, automated controls and explicit exit criteria. Time and staffing estimates follow the profiling and domain-alignment work.</a:t>
            </a:r>
          </a:p>
        </p:txBody>
      </p:sp>
    </p:spTree>
    <p:extLst>
      <p:ext uri="{BB962C8B-B14F-4D97-AF65-F5344CB8AC3E}">
        <p14:creationId xmlns:p14="http://schemas.microsoft.com/office/powerpoint/2010/main" val="1764776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92AF71A-E226-4E51-A5B3-C9FE53A37248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419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42447-0806-466A-B07F-7A0BE9F63F5E}"/>
              </a:ext>
            </a:extLst>
          </p:cNvPr>
          <p:cNvSpPr>
            <a:spLocks noGrp="1"/>
          </p:cNvSpPr>
          <p:nvPr/>
        </p:nvSpPr>
        <p:spPr>
          <a:xfrm>
            <a:off x="1295400" y="1028700"/>
            <a:ext cx="10039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Principal delivery risks and controls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8FE261-FCE9-4051-85BD-4E37CEE61EA3}"/>
              </a:ext>
            </a:extLst>
          </p:cNvPr>
          <p:cNvSpPr>
            <a:spLocks noGrp="1"/>
          </p:cNvSpPr>
          <p:nvPr/>
        </p:nvSpPr>
        <p:spPr>
          <a:xfrm>
            <a:off x="1295400" y="150495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main risks can be reduced before production migration begins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66750" y="2076450"/>
          <a:ext cx="10858500" cy="3981453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77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Risk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Potential impact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Primary control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Unresolved workflow policy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Schema rework and inconsistent approvals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Design authority workshop with signed acceptance rules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Unknown legacy data variants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Migration errors or incomplete 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Sanitized snapshot profiling, quarantine and reconciliation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Authorization implemented only in UI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Approval bypass or cross-company exposure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Server-side policy checks and negative security tests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Mutable configuration changes 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Past permits become difficult to explain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Versioned templates and explicit reviewer-change events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Reporting logic diverges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Dashboards disagree and trust falls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Canonical date/status definitions and shared read models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Cutover without rollback evidence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Extended operational disruption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Rehearsed cutover, rollback window and post-switch reconciliation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491B16C-922B-46D7-9D91-BB713A596B63}"/>
              </a:ext>
            </a:extLst>
          </p:cNvPr>
          <p:cNvSpPr>
            <a:spLocks noGrp="1"/>
          </p:cNvSpPr>
          <p:nvPr/>
        </p:nvSpPr>
        <p:spPr>
          <a:xfrm>
            <a:off x="762000" y="61817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4828"/>
          </a:bodyPr>
          <a:lstStyle/>
          <a:p>
            <a:pPr algn="l">
              <a:def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Risk ownership and thresholds should be assigned during implementation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174369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47D4910-0D64-4365-B8D8-A791E47E8329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419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5C601D-14C3-4DC1-8836-0F1F4089F557}"/>
              </a:ext>
            </a:extLst>
          </p:cNvPr>
          <p:cNvSpPr>
            <a:spLocks noGrp="1"/>
          </p:cNvSpPr>
          <p:nvPr/>
        </p:nvSpPr>
        <p:spPr>
          <a:xfrm>
            <a:off x="1295400" y="1028700"/>
            <a:ext cx="10039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Decision requested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41722F-31A2-4E7F-94B5-76F45D0DD2F2}"/>
              </a:ext>
            </a:extLst>
          </p:cNvPr>
          <p:cNvSpPr>
            <a:spLocks noGrp="1"/>
          </p:cNvSpPr>
          <p:nvPr/>
        </p:nvSpPr>
        <p:spPr>
          <a:xfrm>
            <a:off x="1295400" y="150495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 now enables controlled discovery without committing to an unverified migration 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49CDC-14C5-4E0F-9C0F-65E8FF7031B3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8536"/>
          </a:bodyPr>
          <a:lstStyle/>
          <a:p>
            <a:pPr algn="l">
              <a:defRPr sz="30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Approve the rebuild direction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20F05C-6D3F-4348-9EED-5A81FB43C5D5}"/>
              </a:ext>
            </a:extLst>
          </p:cNvPr>
          <p:cNvSpPr>
            <a:spLocks noGrp="1"/>
          </p:cNvSpPr>
          <p:nvPr/>
        </p:nvSpPr>
        <p:spPr>
          <a:xfrm>
            <a:off x="781050" y="2981325"/>
            <a:ext cx="66675" cy="66675"/>
          </a:xfrm>
          <a:prstGeom prst="rect">
            <a:avLst/>
          </a:prstGeom>
          <a:solidFill>
            <a:srgbClr val="F26B43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967795-F716-4E8A-B74F-9283719C933A}"/>
              </a:ext>
            </a:extLst>
          </p:cNvPr>
          <p:cNvSpPr>
            <a:spLocks noGrp="1"/>
          </p:cNvSpPr>
          <p:nvPr/>
        </p:nvSpPr>
        <p:spPr>
          <a:xfrm>
            <a:off x="952500" y="2905125"/>
            <a:ext cx="49244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3750"/>
          </a:bodyPr>
          <a:lstStyle/>
          <a:p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PostgreSQL becomes the system of record for permits, workflow and audit history.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91F53B-52E6-4801-99B6-17AF30D40BB1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66675" cy="66675"/>
          </a:xfrm>
          <a:prstGeom prst="rect">
            <a:avLst/>
          </a:prstGeom>
          <a:solidFill>
            <a:srgbClr val="F26B43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400042-BE14-4A84-A54C-1DD247279C51}"/>
              </a:ext>
            </a:extLst>
          </p:cNvPr>
          <p:cNvSpPr>
            <a:spLocks noGrp="1"/>
          </p:cNvSpPr>
          <p:nvPr/>
        </p:nvSpPr>
        <p:spPr>
          <a:xfrm>
            <a:off x="952500" y="3638550"/>
            <a:ext cx="49244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4952"/>
          </a:bodyPr>
          <a:lstStyle/>
          <a:p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The React frontend continues as the interaction baseline, backed by production services and server-side controls.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872F35-AB09-463C-8EB9-55A5E8398380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66675" cy="66675"/>
          </a:xfrm>
          <a:prstGeom prst="rect">
            <a:avLst/>
          </a:prstGeom>
          <a:solidFill>
            <a:srgbClr val="F26B43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EA6C5B-825F-4209-9484-0CF7EFD0D8F7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49244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3750"/>
          </a:bodyPr>
          <a:lstStyle/>
          <a:p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Migration follows a profiled, restartable and reconciled cutover process.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DD3BFEC-F3DE-409C-A1A2-CD721302C87D}"/>
              </a:ext>
            </a:extLst>
          </p:cNvPr>
          <p:cNvSpPr>
            <a:spLocks noGrp="1"/>
          </p:cNvSpPr>
          <p:nvPr/>
        </p:nvSpPr>
        <p:spPr>
          <a:xfrm>
            <a:off x="6724650" y="1952625"/>
            <a:ext cx="4514850" cy="3810000"/>
          </a:xfrm>
          <a:prstGeom prst="roundRect">
            <a:avLst>
              <a:gd name="adj" fmla="val 3500"/>
            </a:avLst>
          </a:prstGeom>
          <a:solidFill>
            <a:srgbClr val="E8F4FB"/>
          </a:solidFill>
          <a:ln w="9525">
            <a:solidFill>
              <a:srgbClr val="AFCFE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6CEAD-C00B-4DF8-B8D7-E9201EF6DD9E}"/>
              </a:ext>
            </a:extLst>
          </p:cNvPr>
          <p:cNvSpPr>
            <a:spLocks noGrp="1"/>
          </p:cNvSpPr>
          <p:nvPr/>
        </p:nvSpPr>
        <p:spPr>
          <a:xfrm>
            <a:off x="7086600" y="2209800"/>
            <a:ext cx="3714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7826"/>
          </a:bodyPr>
          <a:lstStyle/>
          <a:p>
            <a:pPr algn="l">
              <a:def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Authorize next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5AC94DD-C722-4AB6-8714-FAE85E50FB7A}"/>
              </a:ext>
            </a:extLst>
          </p:cNvPr>
          <p:cNvSpPr>
            <a:spLocks noGrp="1"/>
          </p:cNvSpPr>
          <p:nvPr/>
        </p:nvSpPr>
        <p:spPr>
          <a:xfrm>
            <a:off x="7086600" y="2838450"/>
            <a:ext cx="400050" cy="400050"/>
          </a:xfrm>
          <a:prstGeom prst="ellipse">
            <a:avLst/>
          </a:prstGeom>
          <a:solidFill>
            <a:srgbClr val="F26B43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86613F-D43F-47A6-A3BA-55C7E51C7CF4}"/>
              </a:ext>
            </a:extLst>
          </p:cNvPr>
          <p:cNvSpPr>
            <a:spLocks noGrp="1"/>
          </p:cNvSpPr>
          <p:nvPr/>
        </p:nvSpPr>
        <p:spPr>
          <a:xfrm>
            <a:off x="7600950" y="2828925"/>
            <a:ext cx="320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80882"/>
          </a:bodyPr>
          <a:lstStyle/>
          <a:p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Close policy decisions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B3497F-C12B-4F09-A5D0-610D784FFA38}"/>
              </a:ext>
            </a:extLst>
          </p:cNvPr>
          <p:cNvSpPr>
            <a:spLocks noGrp="1"/>
          </p:cNvSpPr>
          <p:nvPr/>
        </p:nvSpPr>
        <p:spPr>
          <a:xfrm>
            <a:off x="7600950" y="3124200"/>
            <a:ext cx="320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Confirm roles, gating, group changes, templates, PDF history and expiry.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9C4FB89-6DEC-440E-9A55-286BAD26059C}"/>
              </a:ext>
            </a:extLst>
          </p:cNvPr>
          <p:cNvSpPr>
            <a:spLocks noGrp="1"/>
          </p:cNvSpPr>
          <p:nvPr/>
        </p:nvSpPr>
        <p:spPr>
          <a:xfrm>
            <a:off x="7086600" y="3752850"/>
            <a:ext cx="400050" cy="400050"/>
          </a:xfrm>
          <a:prstGeom prst="ellipse">
            <a:avLst/>
          </a:prstGeom>
          <a:solidFill>
            <a:srgbClr val="0072B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5F0D0C-E57C-4ACB-9F42-17A01329EAE4}"/>
              </a:ext>
            </a:extLst>
          </p:cNvPr>
          <p:cNvSpPr>
            <a:spLocks noGrp="1"/>
          </p:cNvSpPr>
          <p:nvPr/>
        </p:nvSpPr>
        <p:spPr>
          <a:xfrm>
            <a:off x="7600950" y="3743325"/>
            <a:ext cx="320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80882"/>
          </a:bodyPr>
          <a:lstStyle/>
          <a:p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Profile production 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CE7959-FC4A-4DFA-9E55-B4FB9B01F102}"/>
              </a:ext>
            </a:extLst>
          </p:cNvPr>
          <p:cNvSpPr>
            <a:spLocks noGrp="1"/>
          </p:cNvSpPr>
          <p:nvPr/>
        </p:nvSpPr>
        <p:spPr>
          <a:xfrm>
            <a:off x="7600950" y="4038600"/>
            <a:ext cx="320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Use a recent sanitized snapshot and publish the reconciliation baseline.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840DE5-747A-42A1-99BE-66A69299090C}"/>
              </a:ext>
            </a:extLst>
          </p:cNvPr>
          <p:cNvSpPr>
            <a:spLocks noGrp="1"/>
          </p:cNvSpPr>
          <p:nvPr/>
        </p:nvSpPr>
        <p:spPr>
          <a:xfrm>
            <a:off x="7086600" y="4667250"/>
            <a:ext cx="400050" cy="4000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686F70-3BF7-4C13-A461-4896A860EE25}"/>
              </a:ext>
            </a:extLst>
          </p:cNvPr>
          <p:cNvSpPr>
            <a:spLocks noGrp="1"/>
          </p:cNvSpPr>
          <p:nvPr/>
        </p:nvSpPr>
        <p:spPr>
          <a:xfrm>
            <a:off x="7600950" y="4657725"/>
            <a:ext cx="320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80882"/>
          </a:bodyPr>
          <a:lstStyle/>
          <a:p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Plan implementation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EF839D-A781-4535-8ED9-BA1EF5C4065F}"/>
              </a:ext>
            </a:extLst>
          </p:cNvPr>
          <p:cNvSpPr>
            <a:spLocks noGrp="1"/>
          </p:cNvSpPr>
          <p:nvPr/>
        </p:nvSpPr>
        <p:spPr>
          <a:xfrm>
            <a:off x="7600950" y="4953000"/>
            <a:ext cx="320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7330"/>
          </a:bodyPr>
          <a:lstStyle/>
          <a:p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Assign owners, delivery capacity, environments and measurable exit criteria.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5BF4E6-4E6B-422A-BD21-D63AF6714E26}"/>
              </a:ext>
            </a:extLst>
          </p:cNvPr>
          <p:cNvSpPr>
            <a:spLocks noGrp="1"/>
          </p:cNvSpPr>
          <p:nvPr/>
        </p:nvSpPr>
        <p:spPr>
          <a:xfrm>
            <a:off x="781050" y="58959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Production build and migration dates follow these three actions.</a:t>
            </a:r>
          </a:p>
        </p:txBody>
      </p:sp>
    </p:spTree>
    <p:extLst>
      <p:ext uri="{BB962C8B-B14F-4D97-AF65-F5344CB8AC3E}">
        <p14:creationId xmlns:p14="http://schemas.microsoft.com/office/powerpoint/2010/main" val="1881232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DB02A9-D03E-4D98-B875-2A466F90E82E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419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A1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5DAB64-3861-4E50-8B99-F949CB1C3716}"/>
              </a:ext>
            </a:extLst>
          </p:cNvPr>
          <p:cNvSpPr>
            <a:spLocks noGrp="1"/>
          </p:cNvSpPr>
          <p:nvPr/>
        </p:nvSpPr>
        <p:spPr>
          <a:xfrm>
            <a:off x="1295400" y="1028700"/>
            <a:ext cx="10039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Appendix: frontend prototype coverage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74D499-19E7-428F-823D-ECA547E2050E}"/>
              </a:ext>
            </a:extLst>
          </p:cNvPr>
          <p:cNvSpPr>
            <a:spLocks noGrp="1"/>
          </p:cNvSpPr>
          <p:nvPr/>
        </p:nvSpPr>
        <p:spPr>
          <a:xfrm>
            <a:off x="1295400" y="150495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codebase demonstrates workflow intent but remains a browser-based functional draft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66750" y="2000250"/>
          <a:ext cx="10858500" cy="3714753"/>
        </p:xfrm>
        <a:graphic>
          <a:graphicData uri="http://schemas.openxmlformats.org/drawingml/2006/table">
            <a:tbl>
              <a:tblPr/>
              <a:tblGrid>
                <a:gridCol w="50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67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Demonstrated now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Production capability still required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Role-aware navigation and permit queues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Real identity provider integration, sessions and server authorization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Template-driven permit creation and validation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Published template versioning, reserved-field enforcement and file services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Sequential review decisions and separation of duties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Confirmed role chain, delegation policy, concurrency and transactional workflow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Linked Hot Work child permit and parent controls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Full B1-B5/LSS rules, merge semantics and decision on approval gating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Activation, suspension, closure, expiry and revisions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Confirmed status model, notifications, scheduled jobs and immutable history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Admin, search, audit and PDF action views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Persistent master data, server-side search, dashboards, documents, audit and permission checks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9F1182B-C525-4919-BD4D-2BF475C90BA5}"/>
              </a:ext>
            </a:extLst>
          </p:cNvPr>
          <p:cNvSpPr>
            <a:spLocks noGrp="1"/>
          </p:cNvSpPr>
          <p:nvPr/>
        </p:nvSpPr>
        <p:spPr>
          <a:xfrm>
            <a:off x="762000" y="61912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0357"/>
          </a:bodyPr>
          <a:lstStyle/>
          <a:p>
            <a:pPr algn="l">
              <a:defRPr sz="1400" b="1">
                <a:solidFill>
                  <a:srgbClr val="2E7D5A"/>
                </a:solidFill>
                <a:latin typeface="Bahnschrift"/>
                <a:ea typeface="Bahnschrift"/>
                <a:cs typeface="Bahnschrift"/>
              </a:defRPr>
            </a:pPr>
            <a:r>
              <a:rPr sz="1400" b="1">
                <a:solidFill>
                  <a:srgbClr val="2E7D5A"/>
                </a:solidFill>
                <a:latin typeface="Bahnschrift"/>
                <a:ea typeface="Bahnschrift"/>
                <a:cs typeface="Bahnschrift"/>
              </a:rPr>
              <a:t>Verification: React production build succeeded; 3 test files and 20 tests passed.</a:t>
            </a:r>
          </a:p>
        </p:txBody>
      </p:sp>
    </p:spTree>
    <p:extLst>
      <p:ext uri="{BB962C8B-B14F-4D97-AF65-F5344CB8AC3E}">
        <p14:creationId xmlns:p14="http://schemas.microsoft.com/office/powerpoint/2010/main" val="1339925491"/>
      </p:ext>
    </p:extLst>
  </p:cSld>
  <p:clrMapOvr>
    <a:masterClrMapping/>
  </p:clrMapOvr>
</p:sld>
</file>

<file path=ppt/theme/theme1.xml><?xml version="1.0" encoding="utf-8"?>
<a:theme xmlns:a="http://schemas.openxmlformats.org/drawingml/2006/main" name="OST PPT Template">
  <a:themeElements>
    <a:clrScheme name="OneSystems Colour">
      <a:dk1>
        <a:srgbClr val="003366"/>
      </a:dk1>
      <a:lt1>
        <a:srgbClr val="F5F5F5"/>
      </a:lt1>
      <a:dk2>
        <a:srgbClr val="333333"/>
      </a:dk2>
      <a:lt2>
        <a:srgbClr val="9FC9EB"/>
      </a:lt2>
      <a:accent1>
        <a:srgbClr val="FF8C00"/>
      </a:accent1>
      <a:accent2>
        <a:srgbClr val="0066CC"/>
      </a:accent2>
      <a:accent3>
        <a:srgbClr val="0000A5"/>
      </a:accent3>
      <a:accent4>
        <a:srgbClr val="C0C0C0"/>
      </a:accent4>
      <a:accent5>
        <a:srgbClr val="0066CC"/>
      </a:accent5>
      <a:accent6>
        <a:srgbClr val="333333"/>
      </a:accent6>
      <a:hlink>
        <a:srgbClr val="FF8C00"/>
      </a:hlink>
      <a:folHlink>
        <a:srgbClr val="0066CC"/>
      </a:folHlink>
    </a:clrScheme>
    <a:fontScheme name="OST Font">
      <a:majorFont>
        <a:latin typeface="Bahnschrift"/>
        <a:ea typeface=""/>
        <a:cs typeface=""/>
      </a:majorFont>
      <a:minorFont>
        <a:latin typeface="Segoe UI"/>
        <a:ea typeface=""/>
        <a:cs typeface=""/>
      </a:minorFont>
    </a:fontScheme>
    <a:fmtScheme name="OneSystems Colou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ST PPT Template">
  <a:themeElements>
    <a:clrScheme name="OneSystems Colour">
      <a:dk1>
        <a:srgbClr val="003366"/>
      </a:dk1>
      <a:lt1>
        <a:srgbClr val="F5F5F5"/>
      </a:lt1>
      <a:dk2>
        <a:srgbClr val="333333"/>
      </a:dk2>
      <a:lt2>
        <a:srgbClr val="9FC9EB"/>
      </a:lt2>
      <a:accent1>
        <a:srgbClr val="FF8C00"/>
      </a:accent1>
      <a:accent2>
        <a:srgbClr val="0066CC"/>
      </a:accent2>
      <a:accent3>
        <a:srgbClr val="0000A5"/>
      </a:accent3>
      <a:accent4>
        <a:srgbClr val="C0C0C0"/>
      </a:accent4>
      <a:accent5>
        <a:srgbClr val="0066CC"/>
      </a:accent5>
      <a:accent6>
        <a:srgbClr val="333333"/>
      </a:accent6>
      <a:hlink>
        <a:srgbClr val="FF8C00"/>
      </a:hlink>
      <a:folHlink>
        <a:srgbClr val="0066CC"/>
      </a:folHlink>
    </a:clrScheme>
    <a:fontScheme name="OST Font">
      <a:majorFont>
        <a:latin typeface="Bahnschrift"/>
        <a:ea typeface=""/>
        <a:cs typeface=""/>
      </a:majorFont>
      <a:minorFont>
        <a:latin typeface="Segoe UI"/>
        <a:ea typeface=""/>
        <a:cs typeface=""/>
      </a:minorFont>
    </a:fontScheme>
    <a:fmtScheme name="OneSystems Colou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2391</Words>
  <Application>Microsoft Office PowerPoint</Application>
  <DocSecurity>0</DocSecurity>
  <PresentationFormat>Widescreen</PresentationFormat>
  <Paragraphs>356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Bahnschrift</vt:lpstr>
      <vt:lpstr>Franklin Gothic Book</vt:lpstr>
      <vt:lpstr>Segoe UI</vt:lpstr>
      <vt:lpstr>OST PPT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Ch'ng Jia Jun</cp:lastModifiedBy>
  <cp:revision>1</cp:revision>
  <dcterms:created xsi:type="dcterms:W3CDTF">2026-09-11T06:36:43Z</dcterms:created>
  <dcterms:modified xsi:type="dcterms:W3CDTF">2026-10-27T00:59:32Z</dcterms:modified>
</cp:coreProperties>
</file>