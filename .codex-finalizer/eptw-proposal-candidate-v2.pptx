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09bb86bf447e7" /><Relationship Type="http://schemas.openxmlformats.org/officeDocument/2006/relationships/extended-properties" Target="/docProps/app.xml" Id="R012ce9114dc54e42" /><Relationship Type="http://schemas.openxmlformats.org/officeDocument/2006/relationships/officeDocument" Target="/ppt/presentation.xml" Id="Ree0183ad013844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84f8580f149be"/>
  </p:sldMasterIdLst>
  <p:notesMasterIdLst>
    <p:notesMasterId xmlns:r="http://schemas.openxmlformats.org/officeDocument/2006/relationships" r:id="R4d79133990004c8d"/>
  </p:notesMasterIdLst>
  <p:sldIdLst>
    <p:sldId xmlns:r="http://schemas.openxmlformats.org/officeDocument/2006/relationships" id="256" r:id="R671f0b3a76204d1c"/>
    <p:sldId xmlns:r="http://schemas.openxmlformats.org/officeDocument/2006/relationships" id="257" r:id="Rd4614c8db5b04806"/>
    <p:sldId xmlns:r="http://schemas.openxmlformats.org/officeDocument/2006/relationships" id="258" r:id="R27d3ae1da4834ca6"/>
    <p:sldId xmlns:r="http://schemas.openxmlformats.org/officeDocument/2006/relationships" id="259" r:id="R5939171192ec4495"/>
    <p:sldId xmlns:r="http://schemas.openxmlformats.org/officeDocument/2006/relationships" id="260" r:id="Rd7cc22449d8f4e29"/>
    <p:sldId xmlns:r="http://schemas.openxmlformats.org/officeDocument/2006/relationships" id="261" r:id="Rf0469aac12ae47b7"/>
    <p:sldId xmlns:r="http://schemas.openxmlformats.org/officeDocument/2006/relationships" id="262" r:id="R277311ad9a7e46a9"/>
    <p:sldId xmlns:r="http://schemas.openxmlformats.org/officeDocument/2006/relationships" id="263" r:id="R6a734090c4fe4b6b"/>
    <p:sldId xmlns:r="http://schemas.openxmlformats.org/officeDocument/2006/relationships" id="264" r:id="R3c462b33c16f42b5"/>
    <p:sldId xmlns:r="http://schemas.openxmlformats.org/officeDocument/2006/relationships" id="265" r:id="R8142457bf069471e"/>
    <p:sldId xmlns:r="http://schemas.openxmlformats.org/officeDocument/2006/relationships" id="266" r:id="R5109ac7892634c52"/>
    <p:sldId xmlns:r="http://schemas.openxmlformats.org/officeDocument/2006/relationships" id="267" r:id="R3dee9e8843d447dd"/>
    <p:sldId xmlns:r="http://schemas.openxmlformats.org/officeDocument/2006/relationships" id="268" r:id="R8e4123bd9bed42d6"/>
    <p:sldId xmlns:r="http://schemas.openxmlformats.org/officeDocument/2006/relationships" id="269" r:id="R70d750ae6a7042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e3f538f0924616" /><Relationship Type="http://schemas.openxmlformats.org/officeDocument/2006/relationships/slideMaster" Target="/ppt/slideMasters/slideMaster1.xml" Id="R82984f8580f149be" /><Relationship Type="http://schemas.openxmlformats.org/officeDocument/2006/relationships/notesMaster" Target="/ppt/notesMasters/notesMaster1.xml" Id="R4d79133990004c8d" /><Relationship Type="http://schemas.openxmlformats.org/officeDocument/2006/relationships/presProps" Target="/ppt/presProps.xml" Id="Rfefa9cf944b44927" /><Relationship Type="http://schemas.openxmlformats.org/officeDocument/2006/relationships/viewProps" Target="/ppt/viewProps.xml" Id="Rfcf4516dc29b45cb" /><Relationship Type="http://schemas.openxmlformats.org/officeDocument/2006/relationships/tableStyles" Target="/ppt/tableStyles.xml" Id="Rc9d641456dbf4ac4" /><Relationship Type="http://schemas.openxmlformats.org/officeDocument/2006/relationships/slide" Target="/ppt/slides/slide1.xml" Id="R671f0b3a76204d1c" /><Relationship Type="http://schemas.openxmlformats.org/officeDocument/2006/relationships/slide" Target="/ppt/slides/slide2.xml" Id="Rd4614c8db5b04806" /><Relationship Type="http://schemas.openxmlformats.org/officeDocument/2006/relationships/slide" Target="/ppt/slides/slide3.xml" Id="R27d3ae1da4834ca6" /><Relationship Type="http://schemas.openxmlformats.org/officeDocument/2006/relationships/slide" Target="/ppt/slides/slide4.xml" Id="R5939171192ec4495" /><Relationship Type="http://schemas.openxmlformats.org/officeDocument/2006/relationships/slide" Target="/ppt/slides/slide5.xml" Id="Rd7cc22449d8f4e29" /><Relationship Type="http://schemas.openxmlformats.org/officeDocument/2006/relationships/slide" Target="/ppt/slides/slide6.xml" Id="Rf0469aac12ae47b7" /><Relationship Type="http://schemas.openxmlformats.org/officeDocument/2006/relationships/slide" Target="/ppt/slides/slide7.xml" Id="R277311ad9a7e46a9" /><Relationship Type="http://schemas.openxmlformats.org/officeDocument/2006/relationships/slide" Target="/ppt/slides/slide8.xml" Id="R6a734090c4fe4b6b" /><Relationship Type="http://schemas.openxmlformats.org/officeDocument/2006/relationships/slide" Target="/ppt/slides/slide9.xml" Id="R3c462b33c16f42b5" /><Relationship Type="http://schemas.openxmlformats.org/officeDocument/2006/relationships/slide" Target="/ppt/slides/slide10.xml" Id="R8142457bf069471e" /><Relationship Type="http://schemas.openxmlformats.org/officeDocument/2006/relationships/slide" Target="/ppt/slides/slide11.xml" Id="R5109ac7892634c52" /><Relationship Type="http://schemas.openxmlformats.org/officeDocument/2006/relationships/slide" Target="/ppt/slides/slide12.xml" Id="R3dee9e8843d447dd" /><Relationship Type="http://schemas.openxmlformats.org/officeDocument/2006/relationships/slide" Target="/ppt/slides/slide13.xml" Id="R8e4123bd9bed42d6" /><Relationship Type="http://schemas.openxmlformats.org/officeDocument/2006/relationships/slide" Target="/ppt/slides/slide14.xml" Id="R70d750ae6a7042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590b22d28d4c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e1d82ca70b476b" /><Relationship Type="http://schemas.openxmlformats.org/officeDocument/2006/relationships/notesMaster" Target="/ppt/notesMasters/notesMaster1.xml" Id="Rbffe1b04c399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7da17a965b4ad6" /><Relationship Type="http://schemas.openxmlformats.org/officeDocument/2006/relationships/notesMaster" Target="/ppt/notesMasters/notesMaster1.xml" Id="Ra0528b3bfaf94e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e8c4875667470e" /><Relationship Type="http://schemas.openxmlformats.org/officeDocument/2006/relationships/notesMaster" Target="/ppt/notesMasters/notesMaster1.xml" Id="R70170212b40841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7da27c08fc4efb" /><Relationship Type="http://schemas.openxmlformats.org/officeDocument/2006/relationships/notesMaster" Target="/ppt/notesMasters/notesMaster1.xml" Id="R04da11aa35d44f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5c194e54ec4fa9" /><Relationship Type="http://schemas.openxmlformats.org/officeDocument/2006/relationships/notesMaster" Target="/ppt/notesMasters/notesMaster1.xml" Id="R54e754b89147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4f46567d9c4d44" /><Relationship Type="http://schemas.openxmlformats.org/officeDocument/2006/relationships/notesMaster" Target="/ppt/notesMasters/notesMaster1.xml" Id="Rfb41a16f75be43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794633f33b4578" /><Relationship Type="http://schemas.openxmlformats.org/officeDocument/2006/relationships/notesMaster" Target="/ppt/notesMasters/notesMaster1.xml" Id="R66dba3a46b6b4d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b450671e7c4295" /><Relationship Type="http://schemas.openxmlformats.org/officeDocument/2006/relationships/notesMaster" Target="/ppt/notesMasters/notesMaster1.xml" Id="Rc3e59c52cfac4d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da986de5524a92" /><Relationship Type="http://schemas.openxmlformats.org/officeDocument/2006/relationships/notesMaster" Target="/ppt/notesMasters/notesMaster1.xml" Id="R0761d299505349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2dcfc99d5041da" /><Relationship Type="http://schemas.openxmlformats.org/officeDocument/2006/relationships/notesMaster" Target="/ppt/notesMasters/notesMaster1.xml" Id="R15bd8ef427c74c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3eb1b35b843d6" /><Relationship Type="http://schemas.openxmlformats.org/officeDocument/2006/relationships/notesMaster" Target="/ppt/notesMasters/notesMaster1.xml" Id="Rca228a9bf45b45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c6d65ca79d4fed" /><Relationship Type="http://schemas.openxmlformats.org/officeDocument/2006/relationships/notesMaster" Target="/ppt/notesMasters/notesMaster1.xml" Id="R60be905338a2474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c4a61aaa5d74c0d" /><Relationship Type="http://schemas.openxmlformats.org/officeDocument/2006/relationships/notesMaster" Target="/ppt/notesMasters/notesMaster1.xml" Id="Rdf6da94fad9049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23f32010b14733" /><Relationship Type="http://schemas.openxmlformats.org/officeDocument/2006/relationships/notesMaster" Target="/ppt/notesMasters/notesMaster1.xml" Id="R0c545888ebcf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present the rebuild direction and obtain approval to proceed into requirements closure and production data profiling.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OST PPT Template Apr 2026.potx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production migration recommendation remains conditional on profiling a recent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 and 10</a:t>
            </a:r>
          </a:p>
          <a:p xmlns:a="http://schemas.openxmlformats.org/drawingml/2006/main">
            <a:r>
              <a:t>- ePTW-Requirements-Review.pdf, pages 5-7 and 93-95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Verification run: npm.cmd run build and npm.cmd test; 3 test files and 20 tests passed.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</a:t>
            </a:r>
          </a:p>
          <a:p xmlns:a="http://schemas.openxmlformats.org/drawingml/2006/main">
            <a:r>
              <a:t>- database-redesign-proposal.docx</a:t>
            </a:r>
          </a:p>
          <a:p xmlns:a="http://schemas.openxmlformats.org/drawingml/2006/main">
            <a:r>
              <a:t>- old-vs-new-schema.docx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tests/app.test.tsx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issues shown are code-level findings. Live prevalence remains to be measured against a sanitized production snapshot.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2-3</a:t>
            </a:r>
          </a:p>
          <a:p xmlns:a="http://schemas.openxmlformats.org/drawingml/2006/main">
            <a:r>
              <a:t>- old-vs-new-schema.docx, sections 1-3</a:t>
            </a:r>
          </a:p>
          <a:p xmlns:a="http://schemas.openxmlformats.org/drawingml/2006/main">
            <a:r>
              <a:t>- ePTW-Requirements-Review.pdf, pages 5-6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consolidates the proposed end-to-end user journey. Specific workflow roles remain subject to the decisions on slide 9.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sections 5-22</a:t>
            </a:r>
          </a:p>
          <a:p xmlns:a="http://schemas.openxmlformats.org/drawingml/2006/main">
            <a:r>
              <a:t>- database-redesign-proposal.docx, sections 6-8</a:t>
            </a:r>
          </a:p>
          <a:p xmlns:a="http://schemas.openxmlformats.org/drawingml/2006/main">
            <a:r>
              <a:t>- src/App.tsx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frontend stores seeded data in the browser and explicitly provides no real authentication,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4, 5 and 7</a:t>
            </a:r>
          </a:p>
          <a:p xmlns:a="http://schemas.openxmlformats.org/drawingml/2006/main">
            <a:r>
              <a:t>- ePTW-Requirements-Review.pdf, sections 15-21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proposal specifies 27 application tables and three migration-control tables.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3-7</a:t>
            </a:r>
          </a:p>
          <a:p xmlns:a="http://schemas.openxmlformats.org/drawingml/2006/main">
            <a:r>
              <a:t>- old-vs-new-schema.docx, sections 1-9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is a control proof, not the final role model.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src/types.ts</a:t>
            </a:r>
          </a:p>
          <a:p xmlns:a="http://schemas.openxmlformats.org/drawingml/2006/main">
            <a:r>
              <a:t>- tests/policy.test.ts</a:t>
            </a:r>
          </a:p>
          <a:p xmlns:a="http://schemas.openxmlformats.org/drawingml/2006/main">
            <a:r>
              <a:t>- tests/repository.test.ts</a:t>
            </a:r>
          </a:p>
          <a:p xmlns:a="http://schemas.openxmlformats.org/drawingml/2006/main">
            <a:r>
              <a:t>- ePTW-Requirements-Review.pdf, sections 3, 8-10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source conflicts or unresolved questions, not implementation defects in the prototype.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ePTW-Requirements-Review.pdf, pages 21, 35, 37-42, 56, 59, 75-76 and 83</a:t>
            </a:r>
          </a:p>
          <a:p xmlns:a="http://schemas.openxmlformats.org/drawingml/2006/main">
            <a:r>
              <a:t>- database-redesign-proposal.docx, sections 4-6 and 12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src/types.ts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schedule duration is asserted because the sources do not contain production volumes or resource commitments.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 10</a:t>
            </a:r>
          </a:p>
          <a:p xmlns:a="http://schemas.openxmlformats.org/drawingml/2006/main">
            <a:r>
              <a:t>- old-vs-new-schema.docx, section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sequencing rather than a duration estimate.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10-11</a:t>
            </a:r>
          </a:p>
          <a:p xmlns:a="http://schemas.openxmlformats.org/drawingml/2006/main">
            <a:r>
              <a:t>- ePTW-Requirements-Review.pdf, sections 22-24</a:t>
            </a:r>
          </a:p>
          <a:p xmlns:a="http://schemas.openxmlformats.org/drawingml/2006/main">
            <a:r>
              <a:t>- 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Risks are derived from the supplied design gaps and open questions; no probability scoring is asserted.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3, 10, 12 and 13</a:t>
            </a:r>
          </a:p>
          <a:p xmlns:a="http://schemas.openxmlformats.org/drawingml/2006/main">
            <a:r>
              <a:t>- ePTW-Requirements-Review.pdf, sections 19 and 21-24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requested decision is intentionally limited to direction and controlled discovery.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database-redesign-proposal.docx, sections 1, 10-12</a:t>
            </a:r>
          </a:p>
          <a:p xmlns:a="http://schemas.openxmlformats.org/drawingml/2006/main">
            <a:r>
              <a:t>- ePTW-Requirements-Review.pdf, pages 93-95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README explicitly states that the draft has no real authentication, file upload, notification or backend security.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src/App.tsx</a:t>
            </a:r>
          </a:p>
          <a:p xmlns:a="http://schemas.openxmlformats.org/drawingml/2006/main">
            <a:r>
              <a:t>- src/TemplateBuilderPage.tsx</a:t>
            </a:r>
          </a:p>
          <a:p xmlns:a="http://schemas.openxmlformats.org/drawingml/2006/main">
            <a:r>
              <a:t>- src/AdminUsersMaps.tsx</a:t>
            </a:r>
          </a:p>
          <a:p xmlns:a="http://schemas.openxmlformats.org/drawingml/2006/main">
            <a:r>
              <a:t>- src/AdminDirectories.tsx</a:t>
            </a:r>
          </a:p>
          <a:p xmlns:a="http://schemas.openxmlformats.org/drawingml/2006/main">
            <a:r>
              <a:t>- src/policy.ts</a:t>
            </a:r>
          </a:p>
          <a:p xmlns:a="http://schemas.openxmlformats.org/drawingml/2006/main">
            <a:r>
              <a:t>- src/repository.ts</a:t>
            </a:r>
          </a:p>
          <a:p xmlns:a="http://schemas.openxmlformats.org/drawingml/2006/main">
            <a:r>
              <a:t>- tests/*.ts and tests/*.tsx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82603bdc3b4bc6" /><Relationship Type="http://schemas.openxmlformats.org/officeDocument/2006/relationships/image" Target="/ppt/media/image.jpeg" Id="Rd3421ff449024350" /><Relationship Type="http://schemas.openxmlformats.org/officeDocument/2006/relationships/image" Target="/ppt/media/image.png" Id="R4f1e9251dfc0449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ecfafcaed4b53" /><Relationship Type="http://schemas.openxmlformats.org/officeDocument/2006/relationships/image" Target="/ppt/media/image.jpeg" Id="R4770ce72f97f4a08" /><Relationship Type="http://schemas.openxmlformats.org/officeDocument/2006/relationships/image" Target="/ppt/media/image.png" Id="Re8b386a9afec48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342dec17f54b0a" /><Relationship Type="http://schemas.openxmlformats.org/officeDocument/2006/relationships/image" Target="/ppt/media/image2.jpeg" Id="Rfe92a1091f574323" /><Relationship Type="http://schemas.openxmlformats.org/officeDocument/2006/relationships/image" Target="/ppt/media/image.png" Id="R8844179d6f904f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22482ba884425" /><Relationship Type="http://schemas.openxmlformats.org/officeDocument/2006/relationships/image" Target="/ppt/media/image2.jpeg" Id="R891f5d5cecf54459" /><Relationship Type="http://schemas.openxmlformats.org/officeDocument/2006/relationships/image" Target="/ppt/media/image.png" Id="R87eb624c9ea94edb" /><Relationship Type="http://schemas.openxmlformats.org/officeDocument/2006/relationships/image" Target="/ppt/media/image2.png" Id="Rf190dfe6a6e147fd" /><Relationship Type="http://schemas.openxmlformats.org/officeDocument/2006/relationships/image" Target="/ppt/media/image3.png" Id="Rc3d1f6e30cce4b99" /><Relationship Type="http://schemas.openxmlformats.org/officeDocument/2006/relationships/image" Target="/ppt/media/image4.png" Id="Rf8c91957f3d0426a" /><Relationship Type="http://schemas.openxmlformats.org/officeDocument/2006/relationships/image" Target="/ppt/media/image5.png" Id="Rbf928f2ea13f4f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ad42dd623434f" /><Relationship Type="http://schemas.openxmlformats.org/officeDocument/2006/relationships/image" Target="/ppt/media/image2.jpeg" Id="R5fd1bf3643904074" /></Relationships>
</file>

<file path=ppt/slideLayouts/slideLayout1.xml><?xml version="1.0" encoding="utf-8"?>
<p:sldLayout xmlns:p="http://schemas.openxmlformats.org/presentationml/2006/main" preserve="1">
  <p:cSld name="Cover">
    <p:bg>
      <p:bgPr>
        <a:blipFill xmlns:a="http://schemas.openxmlformats.org/drawingml/2006/main" rotWithShape="1">
          <a:blip xmlns:r="http://schemas.openxmlformats.org/officeDocument/2006/relationships" r:embed="Rd3421ff44902435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180B648-99F0-F3A2-8792-0843218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7" y="1615183"/>
            <a:ext cx="7253909" cy="1631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ONESYSTEMS</a:t>
            </a:r>
            <a:r>
              <a:rPr sz="64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 </a:t>
            </a:r>
          </a:p>
          <a:p xmlns:a="http://schemas.openxmlformats.org/drawingml/2006/main">
            <a:r>
              <a:rPr sz="36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TECHNOLOGIES PTE LTD​</a:t>
            </a:r>
            <a:endParaRPr sz="3600" b="1">
              <a:solidFill>
                <a:schemeClr val="bg1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e9251dfc044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Company Name">
    <p:bg>
      <p:bgPr>
        <a:blipFill xmlns:a="http://schemas.openxmlformats.org/drawingml/2006/main" rotWithShape="1">
          <a:blip xmlns:r="http://schemas.openxmlformats.org/officeDocument/2006/relationships" r:embed="R4770ce72f97f4a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DD886DB-98B2-35DE-F8C5-0272A3C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193D10E4-676A-0D49-2600-A5B3FC0E295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59367" y="3429000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 b="1">
                <a:solidFill>
                  <a:schemeClr val="accent4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PRESENTATION TITLE</a:t>
            </a:r>
            <a:endParaRPr/>
          </a:p>
        </p:txBody>
      </p:sp>
      <p:pic>
        <p:nvPicPr>
          <p:cNvPr id="1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386a9afec48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899" y="406672"/>
            <a:ext cx="1848388" cy="555933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429AF47-3C44-831A-C3EE-C8B2064F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7342" y="6413525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00" b="0" i="0">
                <a:solidFill>
                  <a:schemeClr val="bg1"/>
                </a:solidFill>
                <a:latin typeface="+mn-lt"/>
                <a:ea typeface="+mn-lt"/>
                <a:cs typeface="+mn-lt"/>
              </a:rPr>
              <a:t>Ownership. Sustainability. Trustworthy</a:t>
            </a:r>
            <a:endParaRPr sz="8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8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2B08D02-22CB-CF7D-1A31-504CF60ED79C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859366" y="2374721"/>
            <a:ext cx="6126289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 defTabSz="457200">
              <a:buNone/>
              <a:defRPr sz="6300" b="1" kern="12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Company Name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>
  <p:cSld name="1_BACKGROUND">
    <p:bg>
      <p:bgPr>
        <a:blipFill xmlns:a="http://schemas.openxmlformats.org/drawingml/2006/main" rotWithShape="1">
          <a:blip xmlns:r="http://schemas.openxmlformats.org/officeDocument/2006/relationships" r:embed="Rfe92a1091f57432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10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8A55977-7A3F-A9BD-8659-735C9F606668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1308893" y="1899548"/>
            <a:ext cx="9574213" cy="3886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bg1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BODY TEXT</a:t>
            </a: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B835BE7-B93B-6F4A-4A50-A7B8159C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4179d6f90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68E8EB5-F260-83CA-7447-0011100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777" y="6479823"/>
            <a:ext cx="1912703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Ownership. Sustainability. Trustworthy</a:t>
            </a:r>
            <a:endParaRPr sz="800" b="0" i="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1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4179d6f90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Contact Us">
    <p:bg>
      <p:bgPr>
        <a:blipFill xmlns:a="http://schemas.openxmlformats.org/drawingml/2006/main" rotWithShape="1">
          <a:blip xmlns:r="http://schemas.openxmlformats.org/officeDocument/2006/relationships" r:embed="R891f5d5cecf5445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8">
            <a:extLst xmlns:a="http://schemas.openxmlformats.org/drawingml/2006/main">
              <a:ext uri="{FF2B5EF4-FFF2-40B4-BE49-F238E27FC236}">
                <a16:creationId xmlns:a16="http://schemas.microsoft.com/office/drawing/2014/main" id="{20F203D7-0A7A-0DEE-DA2F-CD91F37B604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89444" y="272613"/>
            <a:ext cx="8691562" cy="5492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rPr sz="3200" b="1">
                <a:latin typeface="Bahnschrift"/>
                <a:ea typeface="Bahnschrift"/>
                <a:cs typeface="Bahnschrift"/>
              </a:rPr>
              <a:t>CONTACT US</a:t>
            </a:r>
            <a:endParaRPr/>
          </a:p>
        </p:txBody>
      </p:sp>
      <p:pic>
        <p:nvPicPr>
          <p:cNvPr id="5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b624c9ea94e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8057" y="297657"/>
            <a:ext cx="1667688" cy="489560"/>
          </a:xfrm>
          <a:prstGeom xmlns:a="http://schemas.openxmlformats.org/drawingml/2006/main" prst="rect">
            <a:avLst/>
          </a:prstGeom>
        </p:spPr>
      </p:pic>
      <p:sp>
        <p:nvSpPr>
          <p:cNvPr id="2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FE9F713-6118-DE25-4BAA-36AFB319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865" y="1931899"/>
            <a:ext cx="3918856" cy="3897086"/>
          </a:xfrm>
          <a:prstGeom xmlns:a="http://schemas.openxmlformats.org/drawingml/2006/main" prst="roundRect">
            <a:avLst>
              <a:gd name="adj" fmla="val 4721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56F19B-365D-5465-BF7B-51B5E9C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19" y="1352468"/>
            <a:ext cx="6543776" cy="692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 algn="l" defTabSz="91440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/>
              <a:buNone/>
              <a:defRPr sz="1800" kern="1200" baseline="0">
                <a:solidFill>
                  <a:schemeClr val="bg1">
                    <a:lumMod val="10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914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2pPr>
            <a:lvl3pPr marL="1371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3pPr>
            <a:lvl4pPr marL="1828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4pPr>
            <a:lvl5pPr marL="22860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5pPr>
            <a:lvl6pPr marL="27432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6pPr>
            <a:lvl7pPr marL="32004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7pPr>
            <a:lvl8pPr marL="36576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8pPr>
            <a:lvl9pPr marL="4114800" indent="-384048" algn="l" defTabSz="91440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400">
                <a:latin typeface="Segoe UI"/>
                <a:ea typeface="Segoe UI"/>
                <a:cs typeface="Segoe UI"/>
              </a:rPr>
              <a:t>Thank you for your interest in </a:t>
            </a:r>
            <a:r>
              <a:rPr sz="1400" b="1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OneSystems Technologies</a:t>
            </a:r>
            <a:r>
              <a:rPr sz="1400">
                <a:latin typeface="Segoe UI"/>
                <a:ea typeface="Segoe UI"/>
                <a:cs typeface="Segoe UI"/>
              </a:rPr>
              <a:t>.</a:t>
            </a:r>
            <a:br/>
            <a:r>
              <a:rPr sz="1400">
                <a:latin typeface="Segoe UI"/>
                <a:ea typeface="Segoe UI"/>
                <a:cs typeface="Segoe UI"/>
              </a:rPr>
              <a:t>Our team is here to help with technical-specific questions or general inquiries.</a:t>
            </a:r>
            <a:br/>
            <a:endParaRPr sz="1400">
              <a:latin typeface="Segoe UI"/>
              <a:ea typeface="Segoe UI"/>
              <a:cs typeface="Segoe UI"/>
            </a:endParaRPr>
          </a:p>
        </p:txBody>
      </p:sp>
      <p:pic>
        <p:nvPicPr>
          <p:cNvPr id="5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0dfe6a6e147f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141B27-BD35-87EA-F93C-FC7B79BD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8189" y="3489807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LinkedIn</a:t>
            </a:r>
          </a:p>
        </p:txBody>
      </p:sp>
      <p:pic>
        <p:nvPicPr>
          <p:cNvPr id="57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1f6e30cce4b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8293" y="2403443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E01FE7B-3878-CE27-B61E-2E7E3FF2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102" y="3483199"/>
            <a:ext cx="1106424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Facebook</a:t>
            </a:r>
          </a:p>
        </p:txBody>
      </p:sp>
      <p:pic>
        <p:nvPicPr>
          <p:cNvPr id="5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91957f3d042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8380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5819E2B9-3BC6-9B8E-06A2-CE3982E6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605" y="5174587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Instagram</a:t>
            </a:r>
          </a:p>
        </p:txBody>
      </p:sp>
      <p:pic>
        <p:nvPicPr>
          <p:cNvPr id="61" name="Picture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28f2ea13f4f5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78484" y="4083306"/>
            <a:ext cx="1026042" cy="1032260"/>
          </a:xfrm>
          <a:prstGeom xmlns:a="http://schemas.openxmlformats.org/drawingml/2006/main" prst="rect">
            <a:avLst/>
          </a:prstGeom>
        </p:spPr>
      </p:pic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9396DD3-7167-EB99-153D-8E42E4D5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7709" y="5161675"/>
            <a:ext cx="130759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 defTabSz="914400">
              <a:buNone/>
            </a:pPr>
            <a:r>
              <a:rPr sz="120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YouTube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1C44A26-1A86-1BCC-1B1B-D4E87C85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678835"/>
            <a:ext cx="2406040" cy="181588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Singapore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190 Woodlands Industrial Park E5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#06-11 Woodlands Bizhub S757516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+65 6776 7611 </a:t>
            </a: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Philippines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East Tower 1904b Tektite Building, 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Exchange Road, San Antonio Pasig, Philippines 1600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+63 945 6111 180</a:t>
            </a:r>
            <a:endParaRPr sz="1000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AC5C708-6F43-6AAF-E593-95DFF2A6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040" y="2678834"/>
            <a:ext cx="2613498" cy="18081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02-08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Blok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G, Komersil Southkey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Mozek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</a:t>
            </a:r>
            <a:br/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Persiaran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1, Kota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Southkey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80150 Johor Bahru, Malaysia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+607 6907 866</a:t>
            </a:r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endParaRPr sz="1050" b="1">
              <a:solidFill>
                <a:schemeClr val="tx2"/>
              </a:solidFill>
              <a:latin typeface="Segoe UI"/>
              <a:ea typeface="Segoe UI"/>
              <a:cs typeface="Segoe UI"/>
            </a:endParaRPr>
          </a:p>
          <a:p xmlns:a="http://schemas.openxmlformats.org/drawingml/2006/main">
            <a:r>
              <a:rPr sz="1050"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India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Plot No.23A Kk Salai Main, Road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Akkarai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Sholinganallur,Kanchipuram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 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Saidapet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, Tamil Nadu, India, 600119​</a:t>
            </a:r>
          </a:p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T: +91 98842 13454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B55C82D-CBB2-4F6B-73F1-D6E5D3E7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60" y="2347202"/>
            <a:ext cx="104067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Addresses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6100B91-8AC5-DD03-7456-631BD5BA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4969875"/>
            <a:ext cx="816249" cy="307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Website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BC07FDC-A939-586E-BEFA-80810D7A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040" y="5259310"/>
            <a:ext cx="2406040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www.onesystemstech.com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C775B8D-3F08-DF9C-9217-4CBD5044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4969875"/>
            <a:ext cx="638316" cy="371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1200" spc="100">
                <a:solidFill>
                  <a:srgbClr val="00B0F0"/>
                </a:solidFill>
                <a:latin typeface="Montserrat SemiBold"/>
                <a:ea typeface="Montserrat SemiBold"/>
                <a:cs typeface="Montserrat SemiBold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u="none" cap="none" spc="0">
                <a:ln>
                  <a:noFill/>
                </a:ln>
                <a:solidFill>
                  <a:schemeClr val="accent1"/>
                </a:solidFill>
                <a:latin typeface="Bahnschrift"/>
                <a:ea typeface="Bahnschrift"/>
                <a:cs typeface="Bahnschrift"/>
              </a:rPr>
              <a:t>Email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7E8BE22-5F1E-30A1-5847-364F0E8F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160" y="5157501"/>
            <a:ext cx="240604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​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enquiries@onesystemstech.com</a:t>
            </a:r>
            <a:r>
              <a:rPr sz="1000">
                <a:solidFill>
                  <a:schemeClr val="tx2"/>
                </a:solidFill>
                <a:latin typeface="Segoe UI"/>
                <a:ea typeface="Segoe UI"/>
                <a:cs typeface="Segoe UI"/>
              </a:rPr>
              <a:t>             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Blank Page">
    <p:bg>
      <p:bgPr>
        <a:blipFill xmlns:a="http://schemas.openxmlformats.org/drawingml/2006/main" rotWithShape="1">
          <a:blip xmlns:r="http://schemas.openxmlformats.org/officeDocument/2006/relationships" r:embed="R5fd1bf364390407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0E5DE6-5090-AD1C-448C-54A9D265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544ddd4f2fab4bee" /><Relationship Type="http://schemas.openxmlformats.org/officeDocument/2006/relationships/theme" Target="/ppt/slideMasters/theme/theme2.xml" Id="R66f6c71b1cf544c0" /><Relationship Type="http://schemas.openxmlformats.org/officeDocument/2006/relationships/slideLayout" Target="/ppt/slideLayouts/slideLayout1.xml" Id="Rfe26cf8f272f497e" /><Relationship Type="http://schemas.openxmlformats.org/officeDocument/2006/relationships/slideLayout" Target="/ppt/slideLayouts/slideLayout2.xml" Id="Rf4b40a2699614803" /><Relationship Type="http://schemas.openxmlformats.org/officeDocument/2006/relationships/slideLayout" Target="/ppt/slideLayouts/slideLayout3.xml" Id="Rf110e65577c74069" /><Relationship Type="http://schemas.openxmlformats.org/officeDocument/2006/relationships/slideLayout" Target="/ppt/slideLayouts/slideLayout4.xml" Id="Rfc04bc0e29f24e4f" /><Relationship Type="http://schemas.openxmlformats.org/officeDocument/2006/relationships/slideLayout" Target="/ppt/slideLayouts/slideLayout5.xml" Id="R3d3522830fed420c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44ddd4f2fab4be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26cf8f272f497e"/>
    <p:sldLayoutId xmlns:r="http://schemas.openxmlformats.org/officeDocument/2006/relationships" id="2147483650" r:id="Rf4b40a2699614803"/>
    <p:sldLayoutId xmlns:r="http://schemas.openxmlformats.org/officeDocument/2006/relationships" id="2147483651" r:id="Rf110e65577c74069"/>
    <p:sldLayoutId xmlns:r="http://schemas.openxmlformats.org/officeDocument/2006/relationships" id="2147483652" r:id="Rfc04bc0e29f24e4f"/>
    <p:sldLayoutId xmlns:r="http://schemas.openxmlformats.org/officeDocument/2006/relationships" id="2147483653" r:id="R3d3522830fed420c"/>
  </p:sldLayoutIdLst>
  <p:txStyles>
    <p:titleStyle>
      <a:lvl1pPr xmlns:a="http://schemas.openxmlformats.org/drawingml/2006/main" algn="l" defTabSz="914400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84048" indent="-384048" algn="l" defTabSz="914400">
        <a:lnSpc>
          <a:spcPct val="94000"/>
        </a:lnSpc>
        <a:spcBef>
          <a:spcPts val="1000"/>
        </a:spcBef>
        <a:spcAft>
          <a:spcPts val="200"/>
        </a:spcAft>
        <a:buFont typeface="Franklin Gothic Book"/>
        <a:buChar char="■"/>
        <a:defRPr sz="2000" kern="1200" baseline="0">
          <a:solidFill>
            <a:schemeClr val="tx2"/>
          </a:solidFill>
          <a:latin typeface="+mn-lt"/>
          <a:ea typeface="+mn-lt"/>
          <a:cs typeface="+mn-lt"/>
        </a:defRPr>
      </a:lvl1pPr>
      <a:lvl2pPr xmlns:a="http://schemas.openxmlformats.org/drawingml/2006/main" marL="914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2000" i="1" kern="1200" baseline="0">
          <a:solidFill>
            <a:schemeClr val="tx2"/>
          </a:solidFill>
          <a:latin typeface="+mn-lt"/>
          <a:ea typeface="+mn-lt"/>
          <a:cs typeface="+mn-lt"/>
        </a:defRPr>
      </a:lvl2pPr>
      <a:lvl3pPr xmlns:a="http://schemas.openxmlformats.org/drawingml/2006/main" marL="1371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800" kern="1200" baseline="0">
          <a:solidFill>
            <a:schemeClr val="tx2"/>
          </a:solidFill>
          <a:latin typeface="+mn-lt"/>
          <a:ea typeface="+mn-lt"/>
          <a:cs typeface="+mn-lt"/>
        </a:defRPr>
      </a:lvl3pPr>
      <a:lvl4pPr xmlns:a="http://schemas.openxmlformats.org/drawingml/2006/main" marL="1828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800" i="1" kern="1200" baseline="0">
          <a:solidFill>
            <a:schemeClr val="tx2"/>
          </a:solidFill>
          <a:latin typeface="+mn-lt"/>
          <a:ea typeface="+mn-lt"/>
          <a:cs typeface="+mn-lt"/>
        </a:defRPr>
      </a:lvl4pPr>
      <a:lvl5pPr xmlns:a="http://schemas.openxmlformats.org/drawingml/2006/main" marL="22860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600" kern="1200" baseline="0">
          <a:solidFill>
            <a:schemeClr val="tx2"/>
          </a:solidFill>
          <a:latin typeface="+mn-lt"/>
          <a:ea typeface="+mn-lt"/>
          <a:cs typeface="+mn-lt"/>
        </a:defRPr>
      </a:lvl5pPr>
      <a:lvl6pPr xmlns:a="http://schemas.openxmlformats.org/drawingml/2006/main" marL="27432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600" i="1" kern="1200" baseline="0">
          <a:solidFill>
            <a:schemeClr val="tx2"/>
          </a:solidFill>
          <a:latin typeface="+mn-lt"/>
          <a:ea typeface="+mn-lt"/>
          <a:cs typeface="+mn-lt"/>
        </a:defRPr>
      </a:lvl6pPr>
      <a:lvl7pPr xmlns:a="http://schemas.openxmlformats.org/drawingml/2006/main" marL="32004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7pPr>
      <a:lvl8pPr xmlns:a="http://schemas.openxmlformats.org/drawingml/2006/main" marL="36576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–"/>
        <a:defRPr sz="1400" i="1" kern="1200" baseline="0">
          <a:solidFill>
            <a:schemeClr val="tx2"/>
          </a:solidFill>
          <a:latin typeface="+mn-lt"/>
          <a:ea typeface="+mn-lt"/>
          <a:cs typeface="+mn-lt"/>
        </a:defRPr>
      </a:lvl8pPr>
      <a:lvl9pPr xmlns:a="http://schemas.openxmlformats.org/drawingml/2006/main" marL="4114800" indent="-384048" algn="l" defTabSz="914400">
        <a:lnSpc>
          <a:spcPct val="94000"/>
        </a:lnSpc>
        <a:spcBef>
          <a:spcPts val="500"/>
        </a:spcBef>
        <a:spcAft>
          <a:spcPts val="200"/>
        </a:spcAft>
        <a:buFont typeface="Franklin Gothic Book"/>
        <a:buChar char="■"/>
        <a:defRPr sz="1400" kern="1200" baseline="0">
          <a:solidFill>
            <a:schemeClr val="tx2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xmlns:a="http://schemas.openxmlformats.org/drawingml/2006/main" val="F26B43"/>
          </p15:clr>
        </p15:guide>
        <p15:guide id="4" orient="horz" pos="1440">
          <p15:clr>
            <a:srgbClr xmlns:a="http://schemas.openxmlformats.org/drawingml/2006/main" val="F26B43"/>
          </p15:clr>
        </p15:guide>
        <p15:guide id="6" orient="horz" pos="3696">
          <p15:clr>
            <a:srgbClr xmlns:a="http://schemas.openxmlformats.org/drawingml/2006/main" val="F26B43"/>
          </p15:clr>
        </p15:guide>
        <p15:guide id="7" orient="horz" pos="432">
          <p15:clr>
            <a:srgbClr xmlns:a="http://schemas.openxmlformats.org/drawingml/2006/main" val="F26B43"/>
          </p15:clr>
        </p15:guide>
        <p15:guide id="8" orient="horz" pos="1512">
          <p15:clr>
            <a:srgbClr xmlns:a="http://schemas.openxmlformats.org/drawingml/2006/main" val="F26B43"/>
          </p15:clr>
        </p15:guide>
        <p15:guide id="9" pos="6912">
          <p15:clr>
            <a:srgbClr xmlns:a="http://schemas.openxmlformats.org/drawingml/2006/main" val="F26B43"/>
          </p15:clr>
        </p15:guide>
        <p15:guide id="10" pos="936">
          <p15:clr>
            <a:srgbClr xmlns:a="http://schemas.openxmlformats.org/drawingml/2006/main" val="F26B43"/>
          </p15:clr>
        </p15:guide>
        <p15:guide id="11" pos="864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15298b8834691" /><Relationship Type="http://schemas.openxmlformats.org/officeDocument/2006/relationships/notesSlide" Target="/ppt/notesSlides/notesSlide1.xml" Id="R0c2d5da408ee42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55a418e72254cc1" /><Relationship Type="http://schemas.openxmlformats.org/officeDocument/2006/relationships/notesSlide" Target="/ppt/notesSlides/notesSlide2.xml" Id="R071553362f8142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1a238e821e4f6f" /><Relationship Type="http://schemas.openxmlformats.org/officeDocument/2006/relationships/notesSlide" Target="/ppt/notesSlides/notesSlide3.xml" Id="Rc3cbbac957034d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c488a5e94d9468e" /><Relationship Type="http://schemas.openxmlformats.org/officeDocument/2006/relationships/notesSlide" Target="/ppt/notesSlides/notesSlide4.xml" Id="R73652b546f76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3d5c7a3de24793" /><Relationship Type="http://schemas.openxmlformats.org/officeDocument/2006/relationships/notesSlide" Target="/ppt/notesSlides/notesSlide5.xml" Id="R03774ab1f17749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639180cb18b4da1" /><Relationship Type="http://schemas.openxmlformats.org/officeDocument/2006/relationships/notesSlide" Target="/ppt/notesSlides/notesSlide6.xml" Id="R2052ffad3ea340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f3054f0283844b1" /><Relationship Type="http://schemas.openxmlformats.org/officeDocument/2006/relationships/notesSlide" Target="/ppt/notesSlides/notesSlide7.xml" Id="Re14e4ff92d4c4a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53c9a7333b145a8" /><Relationship Type="http://schemas.openxmlformats.org/officeDocument/2006/relationships/notesSlide" Target="/ppt/notesSlides/notesSlide8.xml" Id="Rdd5b8e516cd543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f04048c3da74512" /><Relationship Type="http://schemas.openxmlformats.org/officeDocument/2006/relationships/notesSlide" Target="/ppt/notesSlides/notesSlide9.xml" Id="Rde12d6c8c8c546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e3a42e6bac14bad" /><Relationship Type="http://schemas.openxmlformats.org/officeDocument/2006/relationships/notesSlide" Target="/ppt/notesSlides/notesSlide10.xml" Id="Rf64a26597d7441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c73fd7768dd4cf5" /><Relationship Type="http://schemas.openxmlformats.org/officeDocument/2006/relationships/notesSlide" Target="/ppt/notesSlides/notesSlide11.xml" Id="Re7e7e61eaca4486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71767ca97e14fab" /><Relationship Type="http://schemas.openxmlformats.org/officeDocument/2006/relationships/notesSlide" Target="/ppt/notesSlides/notesSlide12.xml" Id="R4e3869aeaee94b2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0beb0bf3601493f" /><Relationship Type="http://schemas.openxmlformats.org/officeDocument/2006/relationships/notesSlide" Target="/ppt/notesSlides/notesSlide13.xml" Id="R4d94ad97f1ba47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cf8e6c11d9a4f72" /><Relationship Type="http://schemas.openxmlformats.org/officeDocument/2006/relationships/notesSlide" Target="/ppt/notesSlides/notesSlide14.xml" Id="R09f1f056a6da45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05DF3-C36E-46B9-B145-21BF78B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9138"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9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ePTW SYSTEM REBUILD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B40BF-3B1D-49F3-B350-1CE57C5C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9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Proposal for a controlled, secure and maintainable Permit-to-Work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7023D3-E330-4816-BFEB-691AAEDA3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33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Prepared for solution alignment and implementation planning</a:t>
            </a:r>
          </a:p>
          <a:p xmlns:a="http://schemas.openxmlformats.org/drawingml/2006/main">
            <a:pPr algn="l">
              <a:defRPr sz="1350" b="0">
                <a:solidFill>
                  <a:srgbClr val="DCEEFF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DCEEFF"/>
                </a:solidFill>
                <a:latin typeface="Segoe UI"/>
                <a:ea typeface="Segoe UI"/>
                <a:cs typeface="Segoe UI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426808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054185-BAAF-4F73-9D1D-4FDF00C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5577D-7EB1-428E-AAB8-6850B247B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Executive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F7BD2-3C0C-4B78-BB56-623392D34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requested for the rebuild direction, with policy decisions closed before schema freeze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8B2E-64E8-4F75-961F-DCF0C9AA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F73BE-212B-45FD-9E5B-643DD5F9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982"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ePTW around one controlled permit domain, a server-enforced workflow and a PostgreSQL system of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A4268-150E-4191-A409-73EB8338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72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7977F-BCEF-4EE7-9E8D-1E58FE9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3E322-CBFB-4A47-972F-2B23911B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 consistent permit journey with clearer responsibilities, stronger access control and reliable audit history.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1A6A6-C406-4A20-B0CA-49E7ADA5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B0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416DB-8C01-42C5-AD54-389ED60D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Technical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8667A-F331-459A-ADD7-7CB5E0FF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22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React web application, dedicated API and workflow service, PostgreSQL, protected file storage and a transactional notification outbox.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133E76-EC36-42E5-AF26-6D398639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26B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DCE9B7-4B67-4204-9CFC-897D7F56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D19B9-4B1C-4268-B6BD-24F193B4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100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496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Freeze policy decisions, profile production data, build in increments, rehearse migration and cut over only after reconciliation gates pass.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F33F89-C30B-4830-AECA-49183B64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Immediate ask: authorize requirements closure and read-only production data profiling.</a:t>
            </a:r>
          </a:p>
        </p:txBody>
      </p:sp>
    </p:spTree>
    <p:extLst>
      <p:ext uri="{BB962C8B-B14F-4D97-AF65-F5344CB8AC3E}">
        <p14:creationId xmlns:p14="http://schemas.microsoft.com/office/powerpoint/2010/main" val="1701281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A0FA6B-EAD8-4BAA-898E-88DC0AAE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3CFEE-8282-463F-831F-8E1B0433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Evidence base and authority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29FD4-41BF-4108-9497-68ABFD7F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Three sources contribute different types of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A0F76-7D50-48E8-BAC7-6B298B9D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A952B-6635-4AC0-AC45-C9BF4D4B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1477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Business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CC2915-7B23-45E0-9BE7-64ECF35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95-page confirmation deck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789167-D969-47F9-BBAB-9E8D1D58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roles, user journeys, visibility, templates, closure, notifications, reporting and 16 open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CCC58-B4BF-4DA5-93B4-013F1FD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90009-D249-4982-81AC-F32D0685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Backend redesign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0E4CA-2B0C-4D3B-B396-8DEBCB6B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5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PostgreSQL proposal and mapping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3E739F-11C1-4D63-AA1E-7EF38EE1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507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Defines the target domain model, 27 application tables, three migration-control tables and a phased cutover approach.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0DF4B-F686-4F1E-977A-B3DAC334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574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7FE20-53B9-45EA-940B-01D1EBA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812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Frontend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55D8C7-C9AC-43F4-ADB3-13D02665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56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React and TypeScript functional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813FE-43A3-4466-B881-1F23579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67050"/>
            <a:ext cx="304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7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7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Demonstrates role-aware navigation, sequential approvals, linked Hot Work permits, revisions, lifecycle actions and audit views.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6ED8AD-1555-42C6-A0EA-99029221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9C638-6005-47DC-BCD7-439BCAEC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Recommended authority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D6579-A8D0-4D2A-A4EE-43ADB0D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05375"/>
            <a:ext cx="838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Business requirements decide behaviour. The backend proposal decides implementation. The frontend prototype proves interaction patterns and controls, but does not define production architecture.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AF0E22-9F14-4E85-B771-C454F3D7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8167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597"/>
          </a:bodyPr>
          <a:lstStyle xmlns:a="http://schemas.openxmlformats.org/drawingml/2006/main"/>
          <a:p xmlns:a="http://schemas.openxmlformats.org/drawingml/2006/main">
            <a:pPr algn="l">
              <a:defRPr sz="1450" b="0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450" b="0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Prototype verification: production build succeeded and all 20 automated tests passed on 11 September 2026.</a:t>
            </a:r>
          </a:p>
        </p:txBody>
      </p:sp>
    </p:spTree>
    <p:extLst>
      <p:ext uri="{BB962C8B-B14F-4D97-AF65-F5344CB8AC3E}">
        <p14:creationId xmlns:p14="http://schemas.microsoft.com/office/powerpoint/2010/main" val="6371347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436421-5342-4671-8A57-3E31BE74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0A612-0475-44BF-83D4-75B94EF4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Why the current platform needs a rebuild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E372F-42C0-4DB8-8380-8E17B16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same defects affect safety control, data integrity and operating effort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FA026-AB4F-49D1-A877-0B2561C9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DBF11-4DE3-4F98-8CB4-485D01E0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716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Four permit shapes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C465F-4503-41DF-8029-3B5DDD12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716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Parent permits, drafts, embedded children and child permits require duplicated logic and merged reporting.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34312-F050-4EE6-89EE-F079A0AB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098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C3ADE-82EC-4F28-AA51-C9A8E952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908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E07BC-A769-4092-A265-6C3A197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22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848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Approval state is implicit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CA00F-A13A-4C82-A8F2-8BFE8A0E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6225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Reviewer arrays and mutable group membership can change the meaning of an in-flight permit.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ED2D25-6B38-4F04-8F3A-B84E07D3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042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97A46-CE9A-425F-8406-E8F3B50C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B8737-0590-4311-9936-FCAB535B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5282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91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Operational data is untyped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600D6-E6AF-4397-823C-221C1D07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5282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Dates and key fields appear in several formats and template-specific answer keys.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5256E-3999-41EB-9EE3-28DAD8A3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910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F5DF7-C948-4625-AB58-AEB77370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1F9E58-184A-432A-975A-F5164DD0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434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953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History is difficult to 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F837F-F6DB-4BE6-B3DD-E3C2A81C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String logs and permit-shaped document copies cannot support precise filtering or reconciliation.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73751-8D32-4273-8014-0A64137E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E6E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CA958-F4EB-4A50-8B9A-EA686F30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A66AD7-FB25-40A1-AB97-1926A710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65444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Integrity depends on application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BA6621-A932-4AFC-A2CB-7F281B9C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33975"/>
            <a:ext cx="666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03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Numbering races, weak uniqueness and hard-coded identifiers create avoidable failure modes.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B164C7-0955-4CD2-A2C3-36887515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589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Repository inspection cannot quantify live defects. Production profiling must establish row counts, duplicates, nulls, orphaned references and historical variants.</a:t>
            </a:r>
          </a:p>
        </p:txBody>
      </p:sp>
    </p:spTree>
    <p:extLst>
      <p:ext uri="{BB962C8B-B14F-4D97-AF65-F5344CB8AC3E}">
        <p14:creationId xmlns:p14="http://schemas.microsoft.com/office/powerpoint/2010/main" val="812143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9F8A0D-2922-4557-BCB7-BE6D219E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52118-95F6-4536-BEB9-2EF99498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DDE64-DE05-4E1F-8785-38D83C74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One traceable permit journey from creation to archive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5DA7B-8B68-4424-B9B5-D765514A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29FA8-67DC-44A3-8D88-7C97AFF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DB5D7-89A5-48F3-B148-D2771D68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AFE10-2D4E-4660-947A-CAC89F8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34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Template-driven form, reserved fields, files and linked child permits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9B894-13F1-4CDE-8D5B-70378C65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36413-7426-456D-BC92-5B6139A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21228-10BE-4D4E-8846-6A5811AE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Submit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3E5A41-D62C-4647-85C3-CF09B3C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2219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Validation completes and the company-specific approval route is fixed</a:t>
            </a:r>
          </a:p>
        </p:txBody>
      </p:sp>
      <p:cxnSp>
        <p:nvCxnSpPr>
          <p:cNvPr id="50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860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ADAB2-5EB9-4A40-A1FB-1D6C73C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BD28FC-16CF-4C51-8E83-E5AB062B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0591F-06E6-4602-8FA0-A8FD11CF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2EAC8-0812-470F-92B3-6F86C578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961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current reviewer can act; reasons and signatures are recorded</a:t>
            </a:r>
          </a:p>
        </p:txBody>
      </p: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8147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0CA64-2CA7-4AA1-909C-96BA3668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6F875A-5D4A-4741-8FD8-2EF09E10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CC5793-FDEF-49E6-83EC-0BA976C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Operate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C5694-0369-4ECD-86BA-09817B68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397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Approved work, readings, controlled amendments and lifecycle actions</a:t>
            </a:r>
          </a:p>
        </p:txBody>
      </p:sp>
      <p:cxnSp>
        <p:nvCxnSpPr>
          <p:cNvPr id="60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7695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2A2A93-0803-40C1-8C49-2A347D1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2F58DC-C5DC-4896-9405-DB1610D8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43C85-9B24-49F7-AE8A-144A7CEF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BFC047-6FE3-492C-A297-E7F54CDF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65000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Signed request, authorised confirmation and independent child outcomes</a:t>
            </a:r>
          </a:p>
        </p:txBody>
      </p:sp>
      <p:cxnSp>
        <p:nvCxnSpPr>
          <p:cNvPr id="6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972425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89F09-305C-4F4F-9C55-4672D47B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333625"/>
            <a:ext cx="1619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BD4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A7E6E-0555-4CD8-B992-5E69724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4765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3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88E175-76C9-4CC6-9832-53C4412A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28384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CC2179-88B2-48D7-9AAB-105BAC32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248025"/>
            <a:ext cx="1352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73"/>
          </a:bodyPr>
          <a:lstStyle xmlns:a="http://schemas.openxmlformats.org/drawingml/2006/main"/>
          <a:p xmlns:a="http://schemas.openxmlformats.org/drawingml/2006/main">
            <a:pPr algn="l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Search, PDF generation, dashboards and retained audit history</a:t>
            </a:r>
          </a:p>
        </p:txBody>
      </p:sp>
      <p:cxnSp>
        <p:nvCxnSpPr>
          <p:cNvPr id="70" name=""/>
          <p:cNvCxnSpPr>
            <a:stCxn xmlns:a="http://schemas.openxmlformats.org/drawingml/2006/main" id="23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67900" y="3133725"/>
            <a:ext cx="276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3A9BC"/>
            </a:solidFill>
            <a:prstDash val="solid"/>
            <a:tailEnd type="triangle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63FE3F-CEAA-42A0-91A4-FDAA596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815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907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Cross-cutting controls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C55FC1-B2F9-4C4D-B923-2D48688D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365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Server-side authorization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8915CA-6EF9-4BC4-BDB4-D8A64F2A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10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671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Versioned templates and revisions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7E2907-23A5-487B-9A32-9885ECE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Append-only events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41A1D5-6312-4983-AA27-B2B3301D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Segoe UI"/>
                <a:ea typeface="Segoe UI"/>
                <a:cs typeface="Segoe UI"/>
              </a:defRPr>
            </a:pPr>
            <a:r>
              <a:rPr sz="1600" b="1">
                <a:solidFill>
                  <a:srgbClr val="0072BC"/>
                </a:solidFill>
                <a:latin typeface="Segoe UI"/>
                <a:ea typeface="Segoe UI"/>
                <a:cs typeface="Segoe UI"/>
              </a:rPr>
              <a:t>UTC storage with Singapore display time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92B1FC-62DD-40A6-8A56-319822D8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299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Administration covers users, companies, sites, maps, disciplines, reviewer groups, templates, announcements and report access.</a:t>
            </a:r>
          </a:p>
        </p:txBody>
      </p:sp>
    </p:spTree>
    <p:extLst>
      <p:ext uri="{BB962C8B-B14F-4D97-AF65-F5344CB8AC3E}">
        <p14:creationId xmlns:p14="http://schemas.microsoft.com/office/powerpoint/2010/main" val="2233142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8D8EC9-A8B0-4B54-9D8A-F2A9BCCF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B6B7A-2070-4350-98F8-1DD3B169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Target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C2F83-4EA6-43B8-8875-B3A60418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dedicated service boundary moves security and workflow rules out of the browser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C6CE0-7558-4C21-A40A-2BDD5E9C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238125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9CF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E75E5-2904-43B4-B4A3-B935C47C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813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166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React web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3156F-FEF1-4A70-B686-7E877E9D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3375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2412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Role-aware navigation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Permit forms and lists</a:t>
            </a:r>
          </a:p>
          <a:p xmlns:a="http://schemas.openxmlformats.org/drawingml/2006/main">
            <a:pPr algn="ctr">
              <a:defRPr sz="15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Admin and reporting views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451FD1-4179-45C9-8966-19D50D0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3476625" cy="24384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2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F0C7B-9820-4138-8BFB-9AE318B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3000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7801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API and workflow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D33A2-4ED9-46D3-8C75-8E0186CA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1199"/>
          </a:bodyPr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 and authorization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Validation and state transitions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Approval sequencing and audit events</a:t>
            </a:r>
          </a:p>
          <a:p xmlns:a="http://schemas.openxmlformats.org/drawingml/2006/main">
            <a:pPr algn="ctr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Search, document and report orchestration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0D7443-3751-43D4-950C-6B550582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2476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F4D"/>
          </a:solidFill>
          <a:ln xmlns:a="http://schemas.openxmlformats.org/drawingml/2006/main" w="9525">
            <a:solidFill>
              <a:srgbClr val="0B1F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D2407-F6ED-4D12-9A3F-F9EE7D32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097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def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2B23B-942A-4BAC-B945-51770878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4574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214"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CFE5F6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CFE5F6"/>
                </a:solidFill>
                <a:latin typeface="Segoe UI"/>
                <a:ea typeface="Segoe UI"/>
                <a:cs typeface="Segoe UI"/>
              </a:rPr>
              <a:t>System of record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21226-6725-49BF-9CDA-68AA6088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2B1FE-5BD6-411A-ACA0-52BC47F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147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Protected file storage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AE1CC-3078-4E7A-A49B-E490B32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8766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553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Attachments and generated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D3DE8-3444-468B-9CFC-C8CCCA65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91050"/>
            <a:ext cx="2476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CE8C0D-ECF1-4667-881A-CF63D6C6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772025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Email delivery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889AAB-8A62-4938-A581-AD5B5CB2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33975"/>
            <a:ext cx="213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2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2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Transactional outbox and retries</a:t>
            </a:r>
          </a:p>
        </p:txBody>
      </p:sp>
      <p:cxnSp>
        <p:nvCxnSpPr>
          <p:cNvPr id="4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43250" y="34290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7715250" y="2400300"/>
            <a:ext cx="11430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15250" y="3429000"/>
            <a:ext cx="114300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715250" y="3429000"/>
            <a:ext cx="1143000" cy="1609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1B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7F19C2-FFEC-4C89-B546-CC65240C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593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26B43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26B43"/>
                </a:solidFill>
                <a:latin typeface="Segoe UI"/>
                <a:ea typeface="Segoe UI"/>
                <a:cs typeface="Segoe UI"/>
              </a:rPr>
              <a:t>Security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EC6304-1644-4D55-BC0C-B311E8D0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67325"/>
            <a:ext cx="3476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1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7D5A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2E7D5A"/>
                </a:solidFill>
                <a:latin typeface="Segoe UI"/>
                <a:ea typeface="Segoe UI"/>
                <a:cs typeface="Segoe UI"/>
              </a:rPr>
              <a:t>Read models and scheduled exports use the same canonical data and status rules as the operational API.</a:t>
            </a:r>
          </a:p>
        </p:txBody>
      </p:sp>
    </p:spTree>
    <p:extLst>
      <p:ext uri="{BB962C8B-B14F-4D97-AF65-F5344CB8AC3E}">
        <p14:creationId xmlns:p14="http://schemas.microsoft.com/office/powerpoint/2010/main" val="18944145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40553-DB2F-4ECB-858F-D2856C9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1EE04-6950-42DC-9B9D-EBD592F8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Database redesign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58A90C-9AE5-40A0-B75E-16FF2A0A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target model reduces duplication and makes workflow and reporting queryable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076450"/>
          <a:ext xmlns:a="http://schemas.openxmlformats.org/drawingml/2006/main" cx="106680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905250"/>
                <a:gridCol w="4762500"/>
              </a:tblGrid>
              <a:tr h="60007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Concern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Current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Target design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permits, drafts, embedded children and childpermits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One permits table; draft is a status and child is a self-reference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Workflow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arrays and overlapping state fields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Ordered approval steps, eligible members and immutable action records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Operational fields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Mixed dates, strings and template-specific keys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Typed canonical columns; JSONB only for dynamic answers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Human-readable strings and permit-shaped PDF copies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Append-only events, immutable revisions and generated document links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Templates and numbering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template references and application-side counters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Pinned template versions and transactional sequences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319EF-251B-4211-A887-C17508C9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Result: predictable filtering, reliable audit reconstruction and a migration path that preserves legacy evidence.</a:t>
            </a:r>
          </a:p>
        </p:txBody>
      </p:sp>
    </p:spTree>
    <p:extLst>
      <p:ext uri="{BB962C8B-B14F-4D97-AF65-F5344CB8AC3E}">
        <p14:creationId xmlns:p14="http://schemas.microsoft.com/office/powerpoint/2010/main" val="114137355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2CC29-113F-4B64-8348-8DB942E5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825F5-AE76-4F09-B569-39726F9B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Workflow controls proven in the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9EB0D-36D3-461E-A109-F5786D5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production service should retain the control intent while adopting the confirmed business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9CEE0-5153-49AC-AFF4-AD7C2396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F2FDF-AAE6-4082-A193-8EF3D61A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Complete permit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90DB3-0B4D-4055-9702-B26393B5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Required permit and safety fields must pass validation before submission.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D7B3C-657F-49FD-93C3-5768D8DD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287EE-2A65-4E30-94ED-931835D0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Enforce current stage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6F734-C66E-4A1B-A046-697722B7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Only the assigned role can act. Separation of duties blocks self-approval.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94D5E-4360-470C-8661-8CB9D261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143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00089-EB87-44B5-A9AC-A4F8261D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133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Record every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E0D3E-2FB6-432D-BB68-1EE00693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428875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Approvals, rejection reasons, status changes and revision events remain traceable.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7A7FB-50FB-421B-BE7F-07387C63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4D5434-676E-4276-B46E-1D06C7C6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Control operational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86DB17-B2B2-48E9-8E27-53CACA9A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Activation, suspension, resumption, closure and expiry checks use one policy layer.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951EA-2640-4C6B-AB46-91CB3BA8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6A218-0BC0-42D2-99FC-E452CE3B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Preserve revisions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7307A3-36D0-4148-BCA5-B609D5EA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revised permit returns for approval and prior approved revisions become superseded.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11855-980F-449B-A792-F9D66AE6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905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7D7EE3-48B5-495B-B229-6E5D7135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957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Handle linked permits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286F7B-F530-4699-9B5D-85DF074E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91000"/>
            <a:ext cx="2724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Hot Work selection creates a linked child permit; final parent gating remains a policy decision.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10C1E-4263-467D-9C5E-B2BA8B50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81675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Current prototype chain: Individual Reviewer, MT Group, Permit Manager. Requirements propose a company-driven chain with Host, Host Manager, optional stages and OPS.</a:t>
            </a:r>
          </a:p>
        </p:txBody>
      </p:sp>
    </p:spTree>
    <p:extLst>
      <p:ext uri="{BB962C8B-B14F-4D97-AF65-F5344CB8AC3E}">
        <p14:creationId xmlns:p14="http://schemas.microsoft.com/office/powerpoint/2010/main" val="134853575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0052D-B716-44ED-ACEC-170D1565C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95BC4-31DC-4983-BF03-2AA34685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Policy decisions required before schema freeze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5741E-781D-43D3-A877-72B8A703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supplied sources differ on six behaviours that directly affect data structures and workflow code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523875" y="2009775"/>
          <a:ext xmlns:a="http://schemas.openxmlformats.org/drawingml/2006/main" cx="1114425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3048000"/>
                <a:gridCol w="3524250"/>
              </a:tblGrid>
              <a:tr h="5783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Decision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Requirements review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Backend or prototype position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Recommended action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roles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Company-driven Host chain with optional stages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uses Individual Reviewer, MT Group and PM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one canonical role and stage model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Parent-child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Parent and child approval may proceed independently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blocks parent final approval until required child approval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whether approval or only work start is gated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Reviewer group changes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Changes update every live permit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snapshots eligibility at submission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Choose audit certainty or live reassignment semantics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 changes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Labels and ordering may change after publish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Database proposal makes published versions immutable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 every published change and define edit rules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PDF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Generate on demand from current state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includes revisions and generated document records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retention, evidence and regeneration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No dedicated Expired status proposed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Prototype contains EXPIRED and automatic expiry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4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 status, flag and reporting behaviour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3838E-DCC9-4827-A555-88E638A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817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Recommendation: close these decisions in a short design authority workshop and record them as testable acceptance rules.</a:t>
            </a:r>
          </a:p>
        </p:txBody>
      </p:sp>
    </p:spTree>
    <p:extLst>
      <p:ext uri="{BB962C8B-B14F-4D97-AF65-F5344CB8AC3E}">
        <p14:creationId xmlns:p14="http://schemas.microsoft.com/office/powerpoint/2010/main" val="10395940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946AE-F46C-4F6D-BB82-8378CBE9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297A2-E4E7-4B89-A116-C536A50F4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cutover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88C69-6F52-4193-BD0E-F8A280B2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 restartable, evidence-preserving migration reduces operational and audit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0277E-BC32-45E6-8003-465FECA5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63404-9B9A-45A3-8828-67E18323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305317-B25F-4E52-AA18-1624BD42E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Inventory and freeze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2A5DA-9EFE-4512-9D42-7EF21F2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8170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Profile a sanitized production snapshot. Resolve status, key mapping, numbering, retention and duplicate rules.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60100-68B8-450E-BA5D-DC106E31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9C377-1005-4A4F-BB4B-3B5780F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23F67B-7401-4844-A430-E029078D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1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Build and rehearse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ECBB5-3033-4067-A5E6-06FA4060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Deploy an empty PostgreSQL schema. Load reference data, users, templates and permits with deterministic mappings.</a:t>
            </a:r>
          </a:p>
        </p:txBody>
      </p:sp>
      <p:cxnSp>
        <p:nvCxnSpPr>
          <p:cNvPr id="4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1937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854AF-EFF5-4AE5-B163-8FDA057B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E2A33-43D7-4FC3-A1FE-C3C356E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5C1A2-BED9-4AC6-BE67-636F79DF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Reconstruct permit detail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C61B7-76EA-4EEC-BE3E-DF5243AB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769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Extract canonical fields, migrate children and retain the unmodified legacy submission in the first revision.</a:t>
            </a:r>
          </a:p>
        </p:txBody>
      </p:sp>
      <p:cxnSp>
        <p:nvCxnSpPr>
          <p:cNvPr id="50" name=""/>
          <p:cNvCxnSpPr>
            <a:stCxn xmlns:a="http://schemas.openxmlformats.org/drawingml/2006/main" id="8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52E9B-58EC-4B67-BEFD-DC580964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D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4F3C9-FD21-41A0-A583-214DCC2C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243E8D-28CD-43A4-8243-4DD8E932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Rebuild workflow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4D047F-8262-4BC5-B9B9-4A1967C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6074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Recreate approval steps and events conservatively. Flag ambiguity instead of inventing historical order.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210425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E1004-D2A3-452A-9C4D-93140222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05050"/>
            <a:ext cx="2000250" cy="2143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1EB"/>
          </a:solidFill>
          <a:ln xmlns:a="http://schemas.openxmlformats.org/drawingml/2006/main" w="9525">
            <a:solidFill>
              <a:srgbClr val="F2B49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60A2F-6DA8-48F5-A690-0024CDF0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574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5938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219E9-C019-476B-9ADE-A5F385BB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47975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986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Synchronize and cut 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66C3E3-BE9E-4504-854E-8810D81F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38525"/>
            <a:ext cx="171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2847"/>
          </a:bodyPr>
          <a:lstStyle xmlns:a="http://schemas.openxmlformats.org/drawingml/2006/main"/>
          <a:p xmlns:a="http://schemas.openxmlformats.org/drawingml/2006/main">
            <a:pPr algn="l">
              <a:defRPr sz="13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Run change capture or a short freeze, reconcile, switch traffic and retain a rollback window.</a:t>
            </a:r>
          </a:p>
        </p:txBody>
      </p:sp>
      <p:cxnSp>
        <p:nvCxnSpPr>
          <p:cNvPr id="60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505950" y="3376613"/>
            <a:ext cx="2952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1A6BA"/>
            </a:solidFill>
            <a:prstDash val="solid"/>
            <a:tailEnd type="triangle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0BC1C7-07A8-4B1B-B96E-1D21A7B2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5588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Reconciliation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57C650-C27F-499F-82C2-43D1E0B2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3249C-D6D4-4BF3-8862-E2BE8116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Every source record is migrated, explicitly excluded or quarantined with a reason.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08614C-DC56-4826-BB49-730F1A04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B30621-FE4F-4D84-93F9-80405F74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8710"/>
          </a:bodyPr>
          <a:lstStyle xmlns:a="http://schemas.openxmlformats.org/drawingml/2006/main"/>
          <a:p xmlns:a="http://schemas.openxmlformats.org/drawingml/2006/main">
            <a:pPr algn="l">
              <a:defRPr sz="155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55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Counts reconcile by status, site, template, parent-child relationship and approval outcome.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E288A-9DB7-4D1F-9CA3-434A3BA7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3B35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B43B35"/>
                </a:solidFill>
                <a:latin typeface="Segoe UI"/>
                <a:ea typeface="Segoe UI"/>
                <a:cs typeface="Segoe UI"/>
              </a:rPr>
              <a:t>Cutover proceeds only after critical reconciliation gates pass.</a:t>
            </a:r>
          </a:p>
        </p:txBody>
      </p:sp>
    </p:spTree>
    <p:extLst>
      <p:ext uri="{BB962C8B-B14F-4D97-AF65-F5344CB8AC3E}">
        <p14:creationId xmlns:p14="http://schemas.microsoft.com/office/powerpoint/2010/main" val="11370706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F25133-A7D4-4827-A153-6360CA58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DC6FC-1D8C-4DDB-A49F-7ECA5803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Delivery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6C925-CC58-4092-8AED-30C65A7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sequence protects domain decisions first and postpones irreversible migration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56368-3EF8-42AE-AA65-39DFB3AC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0574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A05E31-5CCF-4BFB-BA3C-67A8598D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38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Domain alignment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C33A3-DED2-4CA9-9CB6-0B4A1308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383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Close the six policy decisions, acceptance rules and role matrix.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D3B68-F448-4EEF-8C92-FA4B8F40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FCB55-05F2-4115-AA71-7E55EDB5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4F724-BA5B-454F-99E2-3D91D3BD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Platform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A1490-4FCF-416C-AE7C-75037ED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9844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Authentication, authorization, schema, files, event logging and deployment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5E9F0-A5C7-4A02-A4B0-F2D38868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290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C4D1A-796C-4585-A64B-CC7EA96D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957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974BD-BC00-43B7-8862-13AF9460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766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Permit lifecycle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DC1C3-D615-442E-9F66-D60688DF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766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829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Creation, child logic, approvals, operational actions, closure and revisions.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EE385-4E3F-4073-B017-40761BD9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5DE8EC-98E6-429A-8AEC-9B83143C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8ACF8-2E98-4798-919E-D328E0D8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309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Administration and reporting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DD955-5E28-4E16-93AB-595CCA7A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9580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Configuration screens, search, dashboards, PDF and scheduled exports.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1876AB-DACD-4D74-A282-A382ABF3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4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12B71C-E29E-477A-B2E8-604C55E0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0"/>
            <a:ext cx="5143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21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891D3-A9A1-4CF1-B301-5DA7FF5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149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9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Migration and launch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0541C-B550-463E-A10A-527CB70A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657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6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Profiling, ETL rehearsals, reconciliation, training, cutover and hypercare.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190DD1-B7D5-4554-919E-A10BBDE9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76712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1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Each track ends with working software, automated controls and explicit exit criteria. Time and staffing estimates follow the profiling and domain-alignment work.</a:t>
            </a:r>
          </a:p>
        </p:txBody>
      </p:sp>
    </p:spTree>
    <p:extLst>
      <p:ext uri="{BB962C8B-B14F-4D97-AF65-F5344CB8AC3E}">
        <p14:creationId xmlns:p14="http://schemas.microsoft.com/office/powerpoint/2010/main" val="15067710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8713C-1987-424D-9A5D-7B2B6110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FDD26-DCB6-4D75-B716-773EC71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Principal delivery risks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881FCE-FFCD-4942-B6D7-18F1331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main risks can be reduced before production migration begins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76450"/>
          <a:ext xmlns:a="http://schemas.openxmlformats.org/drawingml/2006/main" cx="108585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333750"/>
                <a:gridCol w="4857750"/>
              </a:tblGrid>
              <a:tr h="56877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Risk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Potential impact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Primary control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Unresolved workflow policy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Schema rework and inconsistent approvals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Design authority workshop with signed acceptance rules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Unknown legacy data variants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Migration errors or incomplete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Sanitized snapshot profiling, quarantine and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Authorization implemented only in UI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Approval bypass or cross-company exposure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policy checks and negative security tests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Mutable configuration changes history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Past permits become difficult to explain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Versioned templates and explicit reviewer-change events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Reporting logic diverges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Dashboards disagree and trust falls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Canonical date/status definitions and shared read models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568779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Cutover without rollback evidence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Extended operational disruption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Rehearsed cutover, rollback window and post-switch reconciliation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03B2B-B07B-4BCA-A96A-AD23891A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17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defRPr>
            </a:pPr>
            <a:r>
              <a:rPr sz="1450" b="1">
                <a:solidFill>
                  <a:srgbClr val="0072BC"/>
                </a:solidFill>
                <a:latin typeface="Bahnschrift"/>
                <a:ea typeface="Bahnschrift"/>
                <a:cs typeface="Bahnschrift"/>
              </a:rPr>
              <a:t>Risk ownership and thresholds should be assigned during implementation planning.</a:t>
            </a:r>
          </a:p>
        </p:txBody>
      </p:sp>
    </p:spTree>
    <p:extLst>
      <p:ext uri="{BB962C8B-B14F-4D97-AF65-F5344CB8AC3E}">
        <p14:creationId xmlns:p14="http://schemas.microsoft.com/office/powerpoint/2010/main" val="5632901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BCBC8-E483-431A-A01A-52CA91E5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23362-D10A-4FA9-B42D-270B5B59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Decision requested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5470C-7D63-4236-BD13-2C9FAC07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Approval now enables controlled discovery without committing to an unverified migration 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A3E40-9FEC-4072-8A01-3ABA9142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853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0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Approve the rebuild direction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58329-DFD1-49E6-941D-5F8F2549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9AB3A-EF6A-474C-B5A9-1363F8D5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PostgreSQL becomes the system of record for permits, workflow and audit history.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16122-5721-414E-9937-315B9CA9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D310C-D986-4126-AE39-6A04D108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4924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4952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The React frontend continues as the interaction baseline, backed by production services and server-side controls.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3CD53-E6CA-45CA-8E5B-267F1DF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8DEFF-9B6F-49E9-886F-A56362A7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924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172033"/>
                </a:solidFill>
                <a:latin typeface="Segoe UI"/>
                <a:ea typeface="Segoe UI"/>
                <a:cs typeface="Segoe UI"/>
              </a:rPr>
              <a:t>Migration follows a profiled, restartable and reconciled cutover process.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E44DB-2D0A-48EB-B3DE-BE9B6FD4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52625"/>
            <a:ext cx="4514850" cy="3810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E8F4FB"/>
          </a:solidFill>
          <a:ln xmlns:a="http://schemas.openxmlformats.org/drawingml/2006/main" w="9525">
            <a:solidFill>
              <a:srgbClr val="AFCF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FD9E8-D1E7-4662-8E8F-2B47781E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098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826"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23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Authorize next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4F243-2201-47C3-BBF3-B34AA491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38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17DDF-ADB7-46FC-9487-DB63C29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289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Close policy decisions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693A40-2396-4386-9369-42528D83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Confirm roles, gating, group changes, templates, PDF history and expiry.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443F1-3A50-4DE1-9136-8276DEB8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2B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251CE3-62E8-48BE-BCCD-04F347A3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433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Profile production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6C87F1-E197-410F-AB9E-04BCF36E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386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Use a recent sanitized snapshot and publish the reconciliation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9E5A75-0324-4070-8218-5B1A3F23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67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B0F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24F67-856F-4FDA-ACFB-2AFC9767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657725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80882"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17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Plan implementation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95501-5855-45C8-B444-CA5AD87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53000"/>
            <a:ext cx="320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9733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35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Assign owners, delivery capacity, environments and measurable exit criteria.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D740D-A0A8-42C5-B0F2-9BA192D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959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6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Production build and migration dates follow these three actions.</a:t>
            </a:r>
          </a:p>
        </p:txBody>
      </p:sp>
    </p:spTree>
    <p:extLst>
      <p:ext uri="{BB962C8B-B14F-4D97-AF65-F5344CB8AC3E}">
        <p14:creationId xmlns:p14="http://schemas.microsoft.com/office/powerpoint/2010/main" val="10202032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52880-5958-42D9-9A39-750FF7A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defRPr>
            </a:pPr>
            <a:r>
              <a:rPr sz="1500" b="1">
                <a:solidFill>
                  <a:srgbClr val="F26B43"/>
                </a:solidFill>
                <a:latin typeface="Bahnschrift"/>
                <a:ea typeface="Bahnschrift"/>
                <a:cs typeface="Bahnschrift"/>
              </a:rPr>
              <a:t>A1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684A02-C79C-4A32-B4BE-E516A620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028700"/>
            <a:ext cx="10039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defRPr>
            </a:pPr>
            <a:r>
              <a:rPr sz="3100" b="1">
                <a:solidFill>
                  <a:srgbClr val="0B1F4D"/>
                </a:solidFill>
                <a:latin typeface="Bahnschrift"/>
                <a:ea typeface="Bahnschrift"/>
                <a:cs typeface="Bahnschrift"/>
              </a:rPr>
              <a:t>Appendix: frontend prototype coverage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9D89E-569D-4DE9-BC17-BAD84697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049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5D6675"/>
                </a:solidFill>
                <a:latin typeface="Segoe UI"/>
                <a:ea typeface="Segoe UI"/>
                <a:cs typeface="Segoe UI"/>
              </a:defRPr>
            </a:pPr>
            <a:r>
              <a:rPr sz="1400" b="0">
                <a:solidFill>
                  <a:srgbClr val="5D6675"/>
                </a:solidFill>
                <a:latin typeface="Segoe UI"/>
                <a:ea typeface="Segoe UI"/>
                <a:cs typeface="Segoe UI"/>
              </a:rPr>
              <a:t>The codebase demonstrates workflow intent but remains a browser-based functional draft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66750" y="2000250"/>
          <a:ext xmlns:a="http://schemas.openxmlformats.org/drawingml/2006/main" cx="108585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810250"/>
              </a:tblGrid>
              <a:tr h="4762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Demonstrated now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Production capability still required</a:t>
                      </a:r>
                    </a:p>
                  </a:txBody>
                  <a:tcPr marL="85725" marR="85725" marT="76200" marB="76200">
                    <a:solidFill>
                      <a:srgbClr val="0B1F4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Role-aware navigation and permit queues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Real identity provider integration, sessions and server authorization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Template-driven permit creation and validation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Published template versioning, reserved-field enforcement and file services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Sequential review decisions and separation of duties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role chain, delegation policy, concurrency and transactional workflow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Linked Hot Work child permit and parent controls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Full B1-B5/LSS rules, merge semantics and decision on approval gating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Activation, suspension, closure, expiry and revisions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Confirmed status model, notifications, scheduled jobs and immutable history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Admin screens for users, sites, maps, templates and groups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Persistent master data, soft deletion, audit logging and permission checks</a:t>
                      </a:r>
                    </a:p>
                  </a:txBody>
                  <a:tcPr marL="85725" marR="85725" marT="66675" marB="66675">
                    <a:solidFill>
                      <a:srgbClr val="F5F8F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Local search, audit register and PDF action placeholders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0">
                          <a:solidFill>
                            <a:srgbClr val="172033"/>
                          </a:solidFill>
                          <a:latin typeface="Segoe UI"/>
                          <a:ea typeface="Segoe UI"/>
                          <a:cs typeface="Segoe UI"/>
                        </a:rPr>
                        <a:t>Server-side search, dashboards, exports, document generation and storage</a:t>
                      </a:r>
                    </a:p>
                  </a:txBody>
                  <a:tcPr marL="85725" marR="85725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65543-A3F3-44E9-95F7-7838FAE3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38100" rIns="38100" bIns="38100" anchor="t">
            <a:normAutofit fontScale="80357"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defRPr>
            </a:pPr>
            <a:r>
              <a:rPr sz="1400" b="1">
                <a:solidFill>
                  <a:srgbClr val="2E7D5A"/>
                </a:solidFill>
                <a:latin typeface="Bahnschrift"/>
                <a:ea typeface="Bahnschrift"/>
                <a:cs typeface="Bahnschrift"/>
              </a:rPr>
              <a:t>Verification: React production build succeeded; 3 test files and 20 tests passed.</a:t>
            </a:r>
          </a:p>
        </p:txBody>
      </p:sp>
    </p:spTree>
    <p:extLst>
      <p:ext uri="{BB962C8B-B14F-4D97-AF65-F5344CB8AC3E}">
        <p14:creationId xmlns:p14="http://schemas.microsoft.com/office/powerpoint/2010/main" val="640385587"/>
      </p:ext>
    </p:extLst>
  </p:cSld>
</p:sld>
</file>

<file path=ppt/theme/theme1.xml><?xml version="1.0" encoding="utf-8"?>
<a:theme xmlns:a="http://schemas.openxmlformats.org/drawingml/2006/main" name="OST PPT Template">
  <a:themeElements>
    <a:clrScheme name="OneSystems Colour">
      <a:dk1>
        <a:srgbClr val="003366"/>
      </a:dk1>
      <a:lt1>
        <a:srgbClr val="F5F5F5"/>
      </a:lt1>
      <a:dk2>
        <a:srgbClr val="333333"/>
      </a:dk2>
      <a:lt2>
        <a:srgbClr val="9FC9EB"/>
      </a:lt2>
      <a:accent1>
        <a:srgbClr val="FF8C00"/>
      </a:accent1>
      <a:accent2>
        <a:srgbClr val="0066CC"/>
      </a:accent2>
      <a:accent3>
        <a:srgbClr val="0000A5"/>
      </a:accent3>
      <a:accent4>
        <a:srgbClr val="C0C0C0"/>
      </a:accent4>
      <a:accent5>
        <a:srgbClr val="0066CC"/>
      </a:accent5>
      <a:accent6>
        <a:srgbClr val="333333"/>
      </a:accent6>
      <a:hlink>
        <a:srgbClr val="FF8C00"/>
      </a:hlink>
      <a:folHlink>
        <a:srgbClr val="0066CC"/>
      </a:folHlink>
    </a:clrScheme>
    <a:fontScheme name="OST Font">
      <a:majorFont>
        <a:latin typeface="Bahnschrift"/>
        <a:ea typeface=""/>
        <a:cs typeface=""/>
      </a:majorFont>
      <a:minorFont>
        <a:latin typeface="Segoe UI"/>
        <a:ea typeface=""/>
        <a:cs typeface=""/>
      </a:minorFont>
    </a:fontScheme>
    <a:fmtScheme name="OneSystems Colour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34925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2026-09-11T06:28:38.4720000Z</dcterms:created>
  <dcterms:modified xsi:type="dcterms:W3CDTF">2026-09-11T06:28:38.4720000Z</dcterms:modified>
</coreProperties>
</file>