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a785c999384406" /><Relationship Type="http://schemas.openxmlformats.org/officeDocument/2006/relationships/extended-properties" Target="/docProps/app.xml" Id="R07360a8967864f5f" /><Relationship Type="http://schemas.openxmlformats.org/officeDocument/2006/relationships/officeDocument" Target="/ppt/presentation.xml" Id="R1006ca0cedf246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3014b7f0594088"/>
  </p:sldMasterIdLst>
  <p:notesMasterIdLst>
    <p:notesMasterId xmlns:r="http://schemas.openxmlformats.org/officeDocument/2006/relationships" r:id="R7f9520614ce84f72"/>
  </p:notesMasterIdLst>
  <p:sldIdLst>
    <p:sldId xmlns:r="http://schemas.openxmlformats.org/officeDocument/2006/relationships" id="256" r:id="R03c8b32bf9054c76"/>
    <p:sldId xmlns:r="http://schemas.openxmlformats.org/officeDocument/2006/relationships" id="257" r:id="R5c1f41418c894bcf"/>
    <p:sldId xmlns:r="http://schemas.openxmlformats.org/officeDocument/2006/relationships" id="258" r:id="Rafe5908f950f42d7"/>
    <p:sldId xmlns:r="http://schemas.openxmlformats.org/officeDocument/2006/relationships" id="259" r:id="R24f28fffd73d464a"/>
    <p:sldId xmlns:r="http://schemas.openxmlformats.org/officeDocument/2006/relationships" id="260" r:id="R267c2b03027a4c18"/>
    <p:sldId xmlns:r="http://schemas.openxmlformats.org/officeDocument/2006/relationships" id="261" r:id="R281758ae02f74011"/>
    <p:sldId xmlns:r="http://schemas.openxmlformats.org/officeDocument/2006/relationships" id="262" r:id="R223d05e4f84f4717"/>
    <p:sldId xmlns:r="http://schemas.openxmlformats.org/officeDocument/2006/relationships" id="263" r:id="Rdfae4a33472a41fc"/>
    <p:sldId xmlns:r="http://schemas.openxmlformats.org/officeDocument/2006/relationships" id="264" r:id="Rd589e6bc71c54e42"/>
    <p:sldId xmlns:r="http://schemas.openxmlformats.org/officeDocument/2006/relationships" id="265" r:id="R2acce045bfff4dad"/>
    <p:sldId xmlns:r="http://schemas.openxmlformats.org/officeDocument/2006/relationships" id="266" r:id="Rc462dcd490d04180"/>
    <p:sldId xmlns:r="http://schemas.openxmlformats.org/officeDocument/2006/relationships" id="267" r:id="Rd13dc0d111c84a46"/>
    <p:sldId xmlns:r="http://schemas.openxmlformats.org/officeDocument/2006/relationships" id="268" r:id="R2b5606e5c28f459a"/>
    <p:sldId xmlns:r="http://schemas.openxmlformats.org/officeDocument/2006/relationships" id="269" r:id="R6961b695a65940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c3c527a33c409a" /><Relationship Type="http://schemas.openxmlformats.org/officeDocument/2006/relationships/slideMaster" Target="/ppt/slideMasters/slideMaster1.xml" Id="R433014b7f0594088" /><Relationship Type="http://schemas.openxmlformats.org/officeDocument/2006/relationships/notesMaster" Target="/ppt/notesMasters/notesMaster1.xml" Id="R7f9520614ce84f72" /><Relationship Type="http://schemas.openxmlformats.org/officeDocument/2006/relationships/presProps" Target="/ppt/presProps.xml" Id="R25326b89d6c14416" /><Relationship Type="http://schemas.openxmlformats.org/officeDocument/2006/relationships/viewProps" Target="/ppt/viewProps.xml" Id="R93dfbc47c59d4dfd" /><Relationship Type="http://schemas.openxmlformats.org/officeDocument/2006/relationships/tableStyles" Target="/ppt/tableStyles.xml" Id="R73273862899f43db" /><Relationship Type="http://schemas.openxmlformats.org/officeDocument/2006/relationships/slide" Target="/ppt/slides/slide1.xml" Id="R03c8b32bf9054c76" /><Relationship Type="http://schemas.openxmlformats.org/officeDocument/2006/relationships/slide" Target="/ppt/slides/slide2.xml" Id="R5c1f41418c894bcf" /><Relationship Type="http://schemas.openxmlformats.org/officeDocument/2006/relationships/slide" Target="/ppt/slides/slide3.xml" Id="Rafe5908f950f42d7" /><Relationship Type="http://schemas.openxmlformats.org/officeDocument/2006/relationships/slide" Target="/ppt/slides/slide4.xml" Id="R24f28fffd73d464a" /><Relationship Type="http://schemas.openxmlformats.org/officeDocument/2006/relationships/slide" Target="/ppt/slides/slide5.xml" Id="R267c2b03027a4c18" /><Relationship Type="http://schemas.openxmlformats.org/officeDocument/2006/relationships/slide" Target="/ppt/slides/slide6.xml" Id="R281758ae02f74011" /><Relationship Type="http://schemas.openxmlformats.org/officeDocument/2006/relationships/slide" Target="/ppt/slides/slide7.xml" Id="R223d05e4f84f4717" /><Relationship Type="http://schemas.openxmlformats.org/officeDocument/2006/relationships/slide" Target="/ppt/slides/slide8.xml" Id="Rdfae4a33472a41fc" /><Relationship Type="http://schemas.openxmlformats.org/officeDocument/2006/relationships/slide" Target="/ppt/slides/slide9.xml" Id="Rd589e6bc71c54e42" /><Relationship Type="http://schemas.openxmlformats.org/officeDocument/2006/relationships/slide" Target="/ppt/slides/slide10.xml" Id="R2acce045bfff4dad" /><Relationship Type="http://schemas.openxmlformats.org/officeDocument/2006/relationships/slide" Target="/ppt/slides/slide11.xml" Id="Rc462dcd490d04180" /><Relationship Type="http://schemas.openxmlformats.org/officeDocument/2006/relationships/slide" Target="/ppt/slides/slide12.xml" Id="Rd13dc0d111c84a46" /><Relationship Type="http://schemas.openxmlformats.org/officeDocument/2006/relationships/slide" Target="/ppt/slides/slide13.xml" Id="R2b5606e5c28f459a" /><Relationship Type="http://schemas.openxmlformats.org/officeDocument/2006/relationships/slide" Target="/ppt/slides/slide14.xml" Id="R6961b695a659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67f383cd1c48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73fe5a7f4d4707" /><Relationship Type="http://schemas.openxmlformats.org/officeDocument/2006/relationships/notesMaster" Target="/ppt/notesMasters/notesMaster1.xml" Id="Recc18b2a68f24e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6c734fbc5e4653" /><Relationship Type="http://schemas.openxmlformats.org/officeDocument/2006/relationships/notesMaster" Target="/ppt/notesMasters/notesMaster1.xml" Id="R4367dcb95c4949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e4b9597e344525" /><Relationship Type="http://schemas.openxmlformats.org/officeDocument/2006/relationships/notesMaster" Target="/ppt/notesMasters/notesMaster1.xml" Id="R93eb4306572046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75d4db96dc45cf" /><Relationship Type="http://schemas.openxmlformats.org/officeDocument/2006/relationships/notesMaster" Target="/ppt/notesMasters/notesMaster1.xml" Id="R6428c37e46a649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a4c517b2e74f3d" /><Relationship Type="http://schemas.openxmlformats.org/officeDocument/2006/relationships/notesMaster" Target="/ppt/notesMasters/notesMaster1.xml" Id="R7b3c29769aee4d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d08ed45bf645a9" /><Relationship Type="http://schemas.openxmlformats.org/officeDocument/2006/relationships/notesMaster" Target="/ppt/notesMasters/notesMaster1.xml" Id="Rc6040db40fcd4a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2d2c6ff6954674" /><Relationship Type="http://schemas.openxmlformats.org/officeDocument/2006/relationships/notesMaster" Target="/ppt/notesMasters/notesMaster1.xml" Id="R27dc355a5c3e43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9d3374ff9448a3" /><Relationship Type="http://schemas.openxmlformats.org/officeDocument/2006/relationships/notesMaster" Target="/ppt/notesMasters/notesMaster1.xml" Id="Rcd26afacec2244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2ada2328f3488c" /><Relationship Type="http://schemas.openxmlformats.org/officeDocument/2006/relationships/notesMaster" Target="/ppt/notesMasters/notesMaster1.xml" Id="Rc9750c1382534a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06341bf8324324" /><Relationship Type="http://schemas.openxmlformats.org/officeDocument/2006/relationships/notesMaster" Target="/ppt/notesMasters/notesMaster1.xml" Id="Re62edde1acff4f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3d3e95a2d04c5b" /><Relationship Type="http://schemas.openxmlformats.org/officeDocument/2006/relationships/notesMaster" Target="/ppt/notesMasters/notesMaster1.xml" Id="R4cea834d31fc40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54babb1c024c0a" /><Relationship Type="http://schemas.openxmlformats.org/officeDocument/2006/relationships/notesMaster" Target="/ppt/notesMasters/notesMaster1.xml" Id="Rb428eb00ea2d45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22939433a44a1c" /><Relationship Type="http://schemas.openxmlformats.org/officeDocument/2006/relationships/notesMaster" Target="/ppt/notesMasters/notesMaster1.xml" Id="R166d4389f0aa40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ff74115b774735" /><Relationship Type="http://schemas.openxmlformats.org/officeDocument/2006/relationships/notesMaster" Target="/ppt/notesMasters/notesMaster1.xml" Id="R2b1ea6934cd14c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present the rebuild direction and obtain approval to proceed into requirements closure and production data profiling.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OST PPT Template Apr 2026.potx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production migration recommendation remains conditional on profiling a recent sanitized production snapshot.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1 and 10</a:t>
            </a:r>
          </a:p>
          <a:p xmlns:a="http://schemas.openxmlformats.org/drawingml/2006/main">
            <a:r>
              <a:t>- ePTW-Requirements-Review.pdf, pages 5-7 and 93-95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run: npm.cmd run build and npm.cmd test; 3 test files and 20 tests passed.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ePTW-Requirements-Review.pdf</a:t>
            </a:r>
          </a:p>
          <a:p xmlns:a="http://schemas.openxmlformats.org/drawingml/2006/main">
            <a:r>
              <a:t>- database-redesign-proposal.docx</a:t>
            </a:r>
          </a:p>
          <a:p xmlns:a="http://schemas.openxmlformats.org/drawingml/2006/main">
            <a:r>
              <a:t>- old-vs-new-schema.docx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package.json</a:t>
            </a:r>
          </a:p>
          <a:p xmlns:a="http://schemas.openxmlformats.org/drawingml/2006/main">
            <a:r>
              <a:t>- tests/app.test.tsx</a:t>
            </a:r>
          </a:p>
          <a:p xmlns:a="http://schemas.openxmlformats.org/drawingml/2006/main">
            <a:r>
              <a:t>- tests/policy.test.ts</a:t>
            </a:r>
          </a:p>
          <a:p xmlns:a="http://schemas.openxmlformats.org/drawingml/2006/main">
            <a:r>
              <a:t>- tests/repository.test.ts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issues shown are code-level findings. Live prevalence remains to be measured against a sanitized production snapshot.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2-3</a:t>
            </a:r>
          </a:p>
          <a:p xmlns:a="http://schemas.openxmlformats.org/drawingml/2006/main">
            <a:r>
              <a:t>- old-vs-new-schema.docx, sections 1-3</a:t>
            </a:r>
          </a:p>
          <a:p xmlns:a="http://schemas.openxmlformats.org/drawingml/2006/main">
            <a:r>
              <a:t>- ePTW-Requirements-Review.pdf, pages 5-6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consolidates the proposed end-to-end user journey. Specific workflow roles remain subject to the decisions on slide 9.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ePTW-Requirements-Review.pdf, sections 5-22</a:t>
            </a:r>
          </a:p>
          <a:p xmlns:a="http://schemas.openxmlformats.org/drawingml/2006/main">
            <a:r>
              <a:t>- database-redesign-proposal.docx, sections 6-8</a:t>
            </a:r>
          </a:p>
          <a:p xmlns:a="http://schemas.openxmlformats.org/drawingml/2006/main">
            <a:r>
              <a:t>- 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frontend stores seeded data in the browser and explicitly provides no real authentication, upload, notification or backend security.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4, 5 and 7</a:t>
            </a:r>
          </a:p>
          <a:p xmlns:a="http://schemas.openxmlformats.org/drawingml/2006/main">
            <a:r>
              <a:t>- ePTW-Requirements-Review.pdf, sections 15-21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specifies 27 application tables and three migration-control tables.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3-7</a:t>
            </a:r>
          </a:p>
          <a:p xmlns:a="http://schemas.openxmlformats.org/drawingml/2006/main">
            <a:r>
              <a:t>- old-vs-new-schema.docx, sections 1-9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is a control proof, not the final role model.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src/policy.ts</a:t>
            </a:r>
          </a:p>
          <a:p xmlns:a="http://schemas.openxmlformats.org/drawingml/2006/main">
            <a:r>
              <a:t>- src/repository.ts</a:t>
            </a:r>
          </a:p>
          <a:p xmlns:a="http://schemas.openxmlformats.org/drawingml/2006/main">
            <a:r>
              <a:t>- src/types.ts</a:t>
            </a:r>
          </a:p>
          <a:p xmlns:a="http://schemas.openxmlformats.org/drawingml/2006/main">
            <a:r>
              <a:t>- tests/policy.test.ts</a:t>
            </a:r>
          </a:p>
          <a:p xmlns:a="http://schemas.openxmlformats.org/drawingml/2006/main">
            <a:r>
              <a:t>- tests/repository.test.ts</a:t>
            </a:r>
          </a:p>
          <a:p xmlns:a="http://schemas.openxmlformats.org/drawingml/2006/main">
            <a:r>
              <a:t>- ePTW-Requirements-Review.pdf, sections 3, 8-10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source conflicts or unresolved questions, not implementation defects in the prototype.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ePTW-Requirements-Review.pdf, pages 21, 35, 37-42, 56, 59, 75-76 and 83</a:t>
            </a:r>
          </a:p>
          <a:p xmlns:a="http://schemas.openxmlformats.org/drawingml/2006/main">
            <a:r>
              <a:t>- database-redesign-proposal.docx, sections 4-6 and 12</a:t>
            </a:r>
          </a:p>
          <a:p xmlns:a="http://schemas.openxmlformats.org/drawingml/2006/main">
            <a:r>
              <a:t>- src/policy.ts</a:t>
            </a:r>
          </a:p>
          <a:p xmlns:a="http://schemas.openxmlformats.org/drawingml/2006/main">
            <a:r>
              <a:t>- src/types.ts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schedule duration is asserted because the sources do not contain production volumes or resource commitments.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 10</a:t>
            </a:r>
          </a:p>
          <a:p xmlns:a="http://schemas.openxmlformats.org/drawingml/2006/main">
            <a:r>
              <a:t>- old-vs-new-schema.docx, section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sequencing rather than a duration estimate.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10-11</a:t>
            </a:r>
          </a:p>
          <a:p xmlns:a="http://schemas.openxmlformats.org/drawingml/2006/main">
            <a:r>
              <a:t>- ePTW-Requirements-Review.pdf, sections 22-24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Risks are derived from the supplied design gaps and open questions; no probability scoring is asserted.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3, 10, 12 and 13</a:t>
            </a:r>
          </a:p>
          <a:p xmlns:a="http://schemas.openxmlformats.org/drawingml/2006/main">
            <a:r>
              <a:t>- ePTW-Requirements-Review.pdf, sections 19 and 21-24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requested decision is intentionally limited to direction and controlled discovery.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1, 10-12</a:t>
            </a:r>
          </a:p>
          <a:p xmlns:a="http://schemas.openxmlformats.org/drawingml/2006/main">
            <a:r>
              <a:t>- ePTW-Requirements-Review.pdf, pages 93-95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README explicitly states that the draft has no real authentication, file upload, notification or backend security.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src/App.tsx</a:t>
            </a:r>
          </a:p>
          <a:p xmlns:a="http://schemas.openxmlformats.org/drawingml/2006/main">
            <a:r>
              <a:t>- src/TemplateBuilderPage.tsx</a:t>
            </a:r>
          </a:p>
          <a:p xmlns:a="http://schemas.openxmlformats.org/drawingml/2006/main">
            <a:r>
              <a:t>- src/AdminUsersMaps.tsx</a:t>
            </a:r>
          </a:p>
          <a:p xmlns:a="http://schemas.openxmlformats.org/drawingml/2006/main">
            <a:r>
              <a:t>- src/AdminDirectories.tsx</a:t>
            </a:r>
          </a:p>
          <a:p xmlns:a="http://schemas.openxmlformats.org/drawingml/2006/main">
            <a:r>
              <a:t>- src/policy.ts</a:t>
            </a:r>
          </a:p>
          <a:p xmlns:a="http://schemas.openxmlformats.org/drawingml/2006/main">
            <a:r>
              <a:t>- src/repository.ts</a:t>
            </a:r>
          </a:p>
          <a:p xmlns:a="http://schemas.openxmlformats.org/drawingml/2006/main">
            <a:r>
              <a:t>- tests/*.ts and tests/*.tsx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43c8ed4c14b63" /><Relationship Type="http://schemas.openxmlformats.org/officeDocument/2006/relationships/image" Target="/ppt/media/image.jpeg" Id="R62acdfc48799458d" /><Relationship Type="http://schemas.openxmlformats.org/officeDocument/2006/relationships/image" Target="/ppt/media/image.png" Id="R9ab7f9a3244048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578c9d18a4045" /><Relationship Type="http://schemas.openxmlformats.org/officeDocument/2006/relationships/image" Target="/ppt/media/image.jpeg" Id="R3bf0de688d154da3" /><Relationship Type="http://schemas.openxmlformats.org/officeDocument/2006/relationships/image" Target="/ppt/media/image.png" Id="Rfb5e7d38392341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5a6063ea049bc" /><Relationship Type="http://schemas.openxmlformats.org/officeDocument/2006/relationships/image" Target="/ppt/media/image2.jpeg" Id="Rfe86b671e8f94ae9" /><Relationship Type="http://schemas.openxmlformats.org/officeDocument/2006/relationships/image" Target="/ppt/media/image.png" Id="R52a1484e25eb42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8ba1710d8426c" /><Relationship Type="http://schemas.openxmlformats.org/officeDocument/2006/relationships/image" Target="/ppt/media/image2.jpeg" Id="R50acebcbf64a4c92" /><Relationship Type="http://schemas.openxmlformats.org/officeDocument/2006/relationships/image" Target="/ppt/media/image.png" Id="Rc0d0b4f42abe4473" /><Relationship Type="http://schemas.openxmlformats.org/officeDocument/2006/relationships/image" Target="/ppt/media/image2.png" Id="Rf29b0e73948e4bc3" /><Relationship Type="http://schemas.openxmlformats.org/officeDocument/2006/relationships/image" Target="/ppt/media/image3.png" Id="Ra61cda9b1a604d66" /><Relationship Type="http://schemas.openxmlformats.org/officeDocument/2006/relationships/image" Target="/ppt/media/image4.png" Id="Re22bb4883e0d4d03" /><Relationship Type="http://schemas.openxmlformats.org/officeDocument/2006/relationships/image" Target="/ppt/media/image5.png" Id="R6718cb54ff424b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c111133f440c1" /><Relationship Type="http://schemas.openxmlformats.org/officeDocument/2006/relationships/image" Target="/ppt/media/image2.jpeg" Id="Rae59f115d82947c5" /></Relationships>
</file>

<file path=ppt/slideLayouts/slideLayout1.xml><?xml version="1.0" encoding="utf-8"?>
<p:sldLayout xmlns:p="http://schemas.openxmlformats.org/presentationml/2006/main" preserve="1">
  <p:cSld name="Cover">
    <p:bg>
      <p:bgPr>
        <a:blipFill xmlns:a="http://schemas.openxmlformats.org/drawingml/2006/main" rotWithShape="1">
          <a:blip xmlns:r="http://schemas.openxmlformats.org/officeDocument/2006/relationships" r:embed="R62acdfc48799458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D886DB-98B2-35DE-F8C5-0272A3C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180B648-99F0-F3A2-8792-08432184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67" y="1615183"/>
            <a:ext cx="7253909" cy="1631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ONESYSTEMS</a:t>
            </a:r>
            <a:r>
              <a:rPr sz="64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 </a:t>
            </a:r>
          </a:p>
          <a:p xmlns:a="http://schemas.openxmlformats.org/drawingml/2006/main">
            <a:r>
              <a:rPr sz="36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TECHNOLOGIES PTE LTD​</a:t>
            </a:r>
            <a:endParaRPr sz="3600" b="1">
              <a:solidFill>
                <a:schemeClr val="bg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93D10E4-676A-0D49-2600-A5B3FC0E295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59367" y="3429000"/>
            <a:ext cx="6126289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  <a:endParaRPr/>
          </a:p>
        </p:txBody>
      </p:sp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7f9a3244048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99" y="406672"/>
            <a:ext cx="1848388" cy="555933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29AF47-3C44-831A-C3EE-C8B2064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Company Name">
    <p:bg>
      <p:bgPr>
        <a:blipFill xmlns:a="http://schemas.openxmlformats.org/drawingml/2006/main" rotWithShape="1">
          <a:blip xmlns:r="http://schemas.openxmlformats.org/officeDocument/2006/relationships" r:embed="R3bf0de688d154da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D886DB-98B2-35DE-F8C5-0272A3C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93D10E4-676A-0D49-2600-A5B3FC0E295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59367" y="3429000"/>
            <a:ext cx="6126289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  <a:endParaRPr/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e7d38392341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99" y="406672"/>
            <a:ext cx="1848388" cy="555933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29AF47-3C44-831A-C3EE-C8B2064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8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A2B08D02-22CB-CF7D-1A31-504CF60ED79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59366" y="2374721"/>
            <a:ext cx="6126289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 defTabSz="457200">
              <a:buNone/>
              <a:defRPr sz="63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Company Name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0" preserve="1">
  <p:cSld name="1_BACKGROUND">
    <p:bg>
      <p:bgPr>
        <a:blipFill xmlns:a="http://schemas.openxmlformats.org/drawingml/2006/main" rotWithShape="1">
          <a:blip xmlns:r="http://schemas.openxmlformats.org/officeDocument/2006/relationships" r:embed="Rfe86b671e8f94ae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8">
            <a:extLst xmlns:a="http://schemas.openxmlformats.org/drawingml/2006/main">
              <a:ext uri="{FF2B5EF4-FFF2-40B4-BE49-F238E27FC236}">
                <a16:creationId xmlns:a16="http://schemas.microsoft.com/office/drawing/2014/main" id="{20F203D7-0A7A-0DEE-DA2F-CD91F37B60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9444" y="272613"/>
            <a:ext cx="8691562" cy="54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8A55977-7A3F-A9BD-8659-735C9F606668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1308893" y="1899548"/>
            <a:ext cx="9574213" cy="388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bg1">
                    <a:lumMod val="1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BODY TEXT</a:t>
            </a: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B835BE7-B93B-6F4A-4A50-A7B8159C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777" y="6479823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Ownership. Sustainability. Trustworthy</a:t>
            </a:r>
            <a:endParaRPr sz="800" b="0" i="0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1484e25eb42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8057" y="297657"/>
            <a:ext cx="1667688" cy="489560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68E8EB5-F260-83CA-7447-0011100F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777" y="6479823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Ownership. Sustainability. Trustworthy</a:t>
            </a:r>
            <a:endParaRPr sz="800" b="0" i="0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1484e25eb42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8057" y="297657"/>
            <a:ext cx="1667688" cy="48956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Contact Us">
    <p:bg>
      <p:bgPr>
        <a:blipFill xmlns:a="http://schemas.openxmlformats.org/drawingml/2006/main" rotWithShape="1">
          <a:blip xmlns:r="http://schemas.openxmlformats.org/officeDocument/2006/relationships" r:embed="R50acebcbf64a4c9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8">
            <a:extLst xmlns:a="http://schemas.openxmlformats.org/drawingml/2006/main">
              <a:ext uri="{FF2B5EF4-FFF2-40B4-BE49-F238E27FC236}">
                <a16:creationId xmlns:a16="http://schemas.microsoft.com/office/drawing/2014/main" id="{20F203D7-0A7A-0DEE-DA2F-CD91F37B604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9444" y="272613"/>
            <a:ext cx="8691562" cy="54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3200" b="1">
                <a:latin typeface="Bahnschrift"/>
                <a:ea typeface="Bahnschrift"/>
                <a:cs typeface="Bahnschrift"/>
              </a:rPr>
              <a:t>CONTACT US</a:t>
            </a:r>
            <a:endParaRPr/>
          </a:p>
        </p:txBody>
      </p:sp>
      <p:pic>
        <p:nvPicPr>
          <p:cNvPr id="5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0b4f42abe4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8057" y="297657"/>
            <a:ext cx="1667688" cy="489560"/>
          </a:xfrm>
          <a:prstGeom xmlns:a="http://schemas.openxmlformats.org/drawingml/2006/main" prst="rect">
            <a:avLst/>
          </a:prstGeom>
        </p:spPr>
      </p:pic>
      <p:sp>
        <p:nvSpPr>
          <p:cNvPr id="2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FE9F713-6118-DE25-4BAA-36AFB319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865" y="1931899"/>
            <a:ext cx="3918856" cy="3897086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56F19B-365D-5465-BF7B-51B5E9C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19" y="1352468"/>
            <a:ext cx="6543776" cy="692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 marL="0" indent="0" algn="l" defTabSz="91440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/>
              <a:buNone/>
              <a:defRPr sz="1800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9144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2pPr>
            <a:lvl3pPr marL="13716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3pPr>
            <a:lvl4pPr marL="18288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4pPr>
            <a:lvl5pPr marL="22860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5pPr>
            <a:lvl6pPr marL="27432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6pPr>
            <a:lvl7pPr marL="32004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7pPr>
            <a:lvl8pPr marL="36576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8pPr>
            <a:lvl9pPr marL="41148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400">
                <a:latin typeface="Segoe UI"/>
                <a:ea typeface="Segoe UI"/>
                <a:cs typeface="Segoe UI"/>
              </a:rPr>
              <a:t>Thank you for your interest in </a:t>
            </a:r>
            <a:r>
              <a:rPr sz="1400" b="1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OneSystems Technologies</a:t>
            </a:r>
            <a:r>
              <a:rPr sz="1400">
                <a:latin typeface="Segoe UI"/>
                <a:ea typeface="Segoe UI"/>
                <a:cs typeface="Segoe UI"/>
              </a:rPr>
              <a:t>.</a:t>
            </a:r>
            <a:br/>
            <a:r>
              <a:rPr sz="1400">
                <a:latin typeface="Segoe UI"/>
                <a:ea typeface="Segoe UI"/>
                <a:cs typeface="Segoe UI"/>
              </a:rPr>
              <a:t>Our team is here to help with technical-specific questions or general inquiries.</a:t>
            </a:r>
            <a:br/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5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b0e73948e4b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8380" y="2403443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141B27-BD35-87EA-F93C-FC7B79B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89" y="3489807"/>
            <a:ext cx="1106424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LinkedIn</a:t>
            </a:r>
          </a:p>
        </p:txBody>
      </p:sp>
      <p:pic>
        <p:nvPicPr>
          <p:cNvPr id="5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cda9b1a604d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8293" y="2403443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E01FE7B-3878-CE27-B61E-2E7E3FF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102" y="3483199"/>
            <a:ext cx="1106424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Facebook</a:t>
            </a:r>
          </a:p>
        </p:txBody>
      </p:sp>
      <p:pic>
        <p:nvPicPr>
          <p:cNvPr id="5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bb4883e0d4d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8380" y="4083306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819E2B9-3BC6-9B8E-06A2-CE3982E6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605" y="5174587"/>
            <a:ext cx="130759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Instagram</a:t>
            </a:r>
          </a:p>
        </p:txBody>
      </p:sp>
      <p:pic>
        <p:nvPicPr>
          <p:cNvPr id="61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8cb54ff424b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78484" y="4083306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9396DD3-7167-EB99-153D-8E42E4D5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09" y="5161675"/>
            <a:ext cx="130759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YouTube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1C44A26-1A86-1BCC-1B1B-D4E87C85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60" y="2678835"/>
            <a:ext cx="2406040" cy="1815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Singapore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190 Woodlands Industrial Park E5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#06-11 Woodlands Bizhub S757516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+65 6776 7611 </a:t>
            </a:r>
          </a:p>
          <a:p xmlns:a="http://schemas.openxmlformats.org/drawingml/2006/main"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Philippines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East Tower 1904b Tektite Building, 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Exchange Road, San Antonio Pasig, Philippines 1600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+63 945 6111 180</a:t>
            </a:r>
            <a:endParaRPr sz="1000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AC5C708-6F43-6AAF-E593-95DFF2A6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040" y="2678834"/>
            <a:ext cx="2613498" cy="18081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Malaysia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02-08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 Blok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G, Komersil Southkey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Mozek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</a:t>
            </a:r>
            <a:br/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Persiaran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Southkey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 1, Kota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Southkey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 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80150 Johor Bahru, Malaysia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+607 6907 866</a:t>
            </a:r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India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Plot No.23A Kk Salai Main, Road 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Akkarai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Sholinganallur,Kanchipuram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 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Saidapet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 Tamil Nadu, India, 600119​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+91 98842 13454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B55C82D-CBB2-4F6B-73F1-D6E5D3E7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60" y="2347202"/>
            <a:ext cx="104067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Addresses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E6100B91-8AC5-DD03-7456-631BD5BA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040" y="4969875"/>
            <a:ext cx="816249" cy="307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Website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BC07FDC-A939-586E-BEFA-80810D7A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040" y="5259310"/>
            <a:ext cx="2406040" cy="24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www.onesystemstech.com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3C775B8D-3F08-DF9C-9217-4CBD504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160" y="4969875"/>
            <a:ext cx="638316" cy="371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Email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7E8BE22-5F1E-30A1-5847-364F0E8F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160" y="5157501"/>
            <a:ext cx="240604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enquiries@onesystemstech.com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              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 preserve="1" userDrawn="1">
  <p:cSld name="Blank Page">
    <p:bg>
      <p:bgPr>
        <a:blipFill xmlns:a="http://schemas.openxmlformats.org/drawingml/2006/main" rotWithShape="1">
          <a:blip xmlns:r="http://schemas.openxmlformats.org/officeDocument/2006/relationships" r:embed="Rae59f115d82947c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0E5DE6-5090-AD1C-448C-54A9D265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b41a8484c32c4f9d" /><Relationship Type="http://schemas.openxmlformats.org/officeDocument/2006/relationships/theme" Target="/ppt/slideMasters/theme/theme2.xml" Id="R64a7904412524cd6" /><Relationship Type="http://schemas.openxmlformats.org/officeDocument/2006/relationships/slideLayout" Target="/ppt/slideLayouts/slideLayout1.xml" Id="R6e5a266e493f4096" /><Relationship Type="http://schemas.openxmlformats.org/officeDocument/2006/relationships/slideLayout" Target="/ppt/slideLayouts/slideLayout2.xml" Id="Rfa2bb174ce2a4baf" /><Relationship Type="http://schemas.openxmlformats.org/officeDocument/2006/relationships/slideLayout" Target="/ppt/slideLayouts/slideLayout3.xml" Id="R0dd257b23b814e66" /><Relationship Type="http://schemas.openxmlformats.org/officeDocument/2006/relationships/slideLayout" Target="/ppt/slideLayouts/slideLayout4.xml" Id="R8b852ed2cdc24c13" /><Relationship Type="http://schemas.openxmlformats.org/officeDocument/2006/relationships/slideLayout" Target="/ppt/slideLayouts/slideLayout5.xml" Id="Rdd64275657ad481f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41a8484c32c4f9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5a266e493f4096"/>
    <p:sldLayoutId xmlns:r="http://schemas.openxmlformats.org/officeDocument/2006/relationships" id="2147483650" r:id="Rfa2bb174ce2a4baf"/>
    <p:sldLayoutId xmlns:r="http://schemas.openxmlformats.org/officeDocument/2006/relationships" id="2147483651" r:id="R0dd257b23b814e66"/>
    <p:sldLayoutId xmlns:r="http://schemas.openxmlformats.org/officeDocument/2006/relationships" id="2147483652" r:id="R8b852ed2cdc24c13"/>
    <p:sldLayoutId xmlns:r="http://schemas.openxmlformats.org/officeDocument/2006/relationships" id="2147483653" r:id="Rdd64275657ad481f"/>
  </p:sldLayoutIdLst>
  <p:txStyles>
    <p:titleStyle>
      <a:lvl1pPr xmlns:a="http://schemas.openxmlformats.org/drawingml/2006/main" algn="l" defTabSz="914400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84048" indent="-384048" algn="l" defTabSz="914400">
        <a:lnSpc>
          <a:spcPct val="94000"/>
        </a:lnSpc>
        <a:spcBef>
          <a:spcPts val="1000"/>
        </a:spcBef>
        <a:spcAft>
          <a:spcPts val="200"/>
        </a:spcAft>
        <a:buFont typeface="Franklin Gothic Book"/>
        <a:buChar char="■"/>
        <a:defRPr sz="2000" kern="1200" baseline="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914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2000" i="1" kern="1200" baseline="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800" kern="1200" baseline="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828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800" i="1" kern="1200" baseline="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2860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7432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600" i="1" kern="1200" baseline="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3200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3657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400" i="1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4114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xmlns:a="http://schemas.openxmlformats.org/drawingml/2006/main" val="F26B43"/>
          </p15:clr>
        </p15:guide>
        <p15:guide id="4" orient="horz" pos="1440">
          <p15:clr>
            <a:srgbClr xmlns:a="http://schemas.openxmlformats.org/drawingml/2006/main" val="F26B43"/>
          </p15:clr>
        </p15:guide>
        <p15:guide id="6" orient="horz" pos="3696">
          <p15:clr>
            <a:srgbClr xmlns:a="http://schemas.openxmlformats.org/drawingml/2006/main" val="F26B43"/>
          </p15:clr>
        </p15:guide>
        <p15:guide id="7" orient="horz" pos="432">
          <p15:clr>
            <a:srgbClr xmlns:a="http://schemas.openxmlformats.org/drawingml/2006/main" val="F26B43"/>
          </p15:clr>
        </p15:guide>
        <p15:guide id="8" orient="horz" pos="1512">
          <p15:clr>
            <a:srgbClr xmlns:a="http://schemas.openxmlformats.org/drawingml/2006/main" val="F26B43"/>
          </p15:clr>
        </p15:guide>
        <p15:guide id="9" pos="6912">
          <p15:clr>
            <a:srgbClr xmlns:a="http://schemas.openxmlformats.org/drawingml/2006/main" val="F26B43"/>
          </p15:clr>
        </p15:guide>
        <p15:guide id="10" pos="936">
          <p15:clr>
            <a:srgbClr xmlns:a="http://schemas.openxmlformats.org/drawingml/2006/main" val="F26B43"/>
          </p15:clr>
        </p15:guide>
        <p15:guide id="11" pos="864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238c483184a04" /><Relationship Type="http://schemas.openxmlformats.org/officeDocument/2006/relationships/notesSlide" Target="/ppt/notesSlides/notesSlide1.xml" Id="Rb9f828b460e440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8e1bb33bf75412f" /><Relationship Type="http://schemas.openxmlformats.org/officeDocument/2006/relationships/notesSlide" Target="/ppt/notesSlides/notesSlide2.xml" Id="R98f324014a804f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c1382616ee145e6" /><Relationship Type="http://schemas.openxmlformats.org/officeDocument/2006/relationships/notesSlide" Target="/ppt/notesSlides/notesSlide3.xml" Id="R02f42f3ca07d4b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ea641ca7b874dcc" /><Relationship Type="http://schemas.openxmlformats.org/officeDocument/2006/relationships/notesSlide" Target="/ppt/notesSlides/notesSlide4.xml" Id="R0e12b788025540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7b6a7a419274533" /><Relationship Type="http://schemas.openxmlformats.org/officeDocument/2006/relationships/notesSlide" Target="/ppt/notesSlides/notesSlide5.xml" Id="Rf6c64388dd9e4e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581f77634a94383" /><Relationship Type="http://schemas.openxmlformats.org/officeDocument/2006/relationships/notesSlide" Target="/ppt/notesSlides/notesSlide6.xml" Id="Rbcdb92bf17334b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f97936f4c8449e9" /><Relationship Type="http://schemas.openxmlformats.org/officeDocument/2006/relationships/notesSlide" Target="/ppt/notesSlides/notesSlide7.xml" Id="R94b1792f63d044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208ec6bbcb4a38" /><Relationship Type="http://schemas.openxmlformats.org/officeDocument/2006/relationships/notesSlide" Target="/ppt/notesSlides/notesSlide8.xml" Id="R503a803c6ab542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5b166aa0c3a4569" /><Relationship Type="http://schemas.openxmlformats.org/officeDocument/2006/relationships/notesSlide" Target="/ppt/notesSlides/notesSlide9.xml" Id="Ra65d727806654d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57a032be11b4c82" /><Relationship Type="http://schemas.openxmlformats.org/officeDocument/2006/relationships/notesSlide" Target="/ppt/notesSlides/notesSlide10.xml" Id="Rd9523213db6141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553a8708634294" /><Relationship Type="http://schemas.openxmlformats.org/officeDocument/2006/relationships/notesSlide" Target="/ppt/notesSlides/notesSlide11.xml" Id="Rbd5f3ad59c1849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a74ddf61b844503" /><Relationship Type="http://schemas.openxmlformats.org/officeDocument/2006/relationships/notesSlide" Target="/ppt/notesSlides/notesSlide12.xml" Id="R08ef79eeca6c44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555e76596b045d4" /><Relationship Type="http://schemas.openxmlformats.org/officeDocument/2006/relationships/notesSlide" Target="/ppt/notesSlides/notesSlide13.xml" Id="Ra67138bc705540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d17c0208ffb43ea" /><Relationship Type="http://schemas.openxmlformats.org/officeDocument/2006/relationships/notesSlide" Target="/ppt/notesSlides/notesSlide14.xml" Id="R61de4f9db54140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271D7-AAF8-4863-BDBC-F091559F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9138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9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ePTW SYSTEM REBUILD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B1352-896B-484C-80D2-E9D5CE3C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Proposal for a controlled, secure and maintainable Permit-to-Work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110B5-9E9C-4518-8E2E-5D80AA9F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E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EFF"/>
                </a:solidFill>
                <a:latin typeface="Segoe UI"/>
                <a:ea typeface="Segoe UI"/>
                <a:cs typeface="Segoe UI"/>
              </a:rPr>
              <a:t>Prepared for solution alignment and implementation planning</a:t>
            </a:r>
          </a:p>
          <a:p xmlns:a="http://schemas.openxmlformats.org/drawingml/2006/main">
            <a:pPr algn="l">
              <a:defRPr sz="1350" b="0">
                <a:solidFill>
                  <a:srgbClr val="DCEE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EFF"/>
                </a:solidFill>
                <a:latin typeface="Segoe UI"/>
                <a:ea typeface="Segoe UI"/>
                <a:cs typeface="Segoe UI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124382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10C6C-F0BD-4B37-8747-255E7175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92683-283D-447D-B69B-6DC69C54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Executive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46E8A-593C-4F1A-9177-FFF667F9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 requested for the rebuild direction, with policy decisions closed before schema freeze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4DA18-E991-4818-BA2B-E938F33E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E3382-280D-4363-A449-0F74C5DC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982"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Rebuild ePTW around one controlled permit domain, a server-enforced workflow and a PostgreSQL system of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DF6A4-CBF8-4ED1-B4CC-9B9963BD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2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04415-48DC-4DAA-B47F-6215B98F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Business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A794B-5154-4385-AC84-A55E686C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 consistent permit journey with clearer responsibilities, stronger access control and reliable audit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AF8D1-205A-44B8-8C03-3235DC6A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14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0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2555D-D58D-4ACB-A8DD-0A075BB3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Technical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AB7CE-D096-46F2-923C-66CD93C9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227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React web application, dedicated API and workflow service, PostgreSQL, protected file storage and a transactional notification outbox.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2CFCC-677E-4DCF-860A-9717EE0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6B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52BE4-4175-4A95-88B6-FE81AEC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Delivery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419C1-290E-4696-90AD-2F1D8DB2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496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Freeze policy decisions, profile production data, build in increments, rehearse migration and cut over only after reconciliation gates pass.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1B4C4-BCD6-4CBB-B560-F42DA9A3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Immediate ask: authorize requirements closure and read-only production data profiling.</a:t>
            </a:r>
          </a:p>
        </p:txBody>
      </p:sp>
    </p:spTree>
    <p:extLst>
      <p:ext uri="{BB962C8B-B14F-4D97-AF65-F5344CB8AC3E}">
        <p14:creationId xmlns:p14="http://schemas.microsoft.com/office/powerpoint/2010/main" val="15858042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F8193-1E16-4D5C-9DF9-BC9F977D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BFF28-AF91-4A32-ACA8-A0580739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Evidence base and authority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7F8E5-8D2E-4324-A6BA-4647F6A8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Three sources contribute different types of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F1C39-69C2-4CCF-A17B-967099AB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982A9-EC74-49D0-A6F7-2F03311D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81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147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Business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C0AF6-63B1-4C80-B806-B134E9BE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95-page confirmation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B221A-AB74-4D68-AD9F-FFBD07D1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04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Defines roles, user journeys, visibility, templates, closure, notifications, reporting and 16 open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D28B1-BB18-4FFC-B6A3-3CCA710E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3560E-5976-4566-A3FB-A04CD230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Backend redesign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B9D86-DB9D-4244-BD5E-D5AF84BF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5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PostgreSQL proposal and 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586EA-19D5-4A85-8C9B-2286F54C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304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507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Defines the target domain model, 27 application tables, three migration-control tables and a phased cutover approach.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6EA9B-96BA-41AF-B56E-22C62590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57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00F53-5E5C-443C-BC99-E390B9FE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Frontend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1A51B-B14E-411F-A25D-EDDD2E62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15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React and TypeScript functional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51D2D-CA83-4350-9CBA-4D8FECD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67050"/>
            <a:ext cx="304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Demonstrates role-aware navigation, sequential approvals, linked Hot Work permits, revisions, lifecycle actions and audit views.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67C11-B2FF-4B93-8608-B2B128E3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F6C70-BE1D-410D-B5C9-03128A9F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4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Recommended authority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4BDE1-EEED-4F44-A90F-7A6DD5DC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05375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Business requirements decide behaviour. The backend proposal decides implementation. The frontend prototype proves interaction patterns and controls, but does not define production architecture.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D7E5D-89EC-4E93-8CBF-71A9DB96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8167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597"/>
          </a:bodyPr>
          <a:lstStyle xmlns:a="http://schemas.openxmlformats.org/drawingml/2006/main"/>
          <a:p xmlns:a="http://schemas.openxmlformats.org/drawingml/2006/main">
            <a:pPr algn="l">
              <a:defRPr sz="1450" b="0">
                <a:solidFill>
                  <a:srgbClr val="2E7D5A"/>
                </a:solidFill>
                <a:latin typeface="Segoe UI"/>
                <a:ea typeface="Segoe UI"/>
                <a:cs typeface="Segoe UI"/>
              </a:defRPr>
            </a:pPr>
            <a:r>
              <a:rPr sz="1450" b="0">
                <a:solidFill>
                  <a:srgbClr val="2E7D5A"/>
                </a:solidFill>
                <a:latin typeface="Segoe UI"/>
                <a:ea typeface="Segoe UI"/>
                <a:cs typeface="Segoe UI"/>
              </a:rPr>
              <a:t>Prototype verification: production build succeeded and all 20 automated tests passed on 11 September 2026.</a:t>
            </a:r>
          </a:p>
        </p:txBody>
      </p:sp>
    </p:spTree>
    <p:extLst>
      <p:ext uri="{BB962C8B-B14F-4D97-AF65-F5344CB8AC3E}">
        <p14:creationId xmlns:p14="http://schemas.microsoft.com/office/powerpoint/2010/main" val="20835284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8A83B-F196-4D20-B6CE-21DDE25D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6CB75-BA87-446A-A70D-E3C4F625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Why the current platform needs a rebuild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FA6DE-97DC-4FE4-A701-EF924FBA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same defects affect safety control, data integrity and operating effort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F1A44-DEC8-4633-97A5-B241EB65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FB58F-0AB0-429F-8222-7CCC4B38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716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Four permit shapes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3E2FC-8643-4E47-8CD5-05E8AE80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7167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Parent permits, drafts, embedded children and child permits require duplicated logic and merged reporting.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30B3C-5AB9-4C2A-9624-96D3841D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098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7AD10-E0E5-45F6-9E80-10D570EE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C614C-CF13-44E2-8B3A-8B5A031F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2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84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Approval state is implicit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043D3-2ACC-4A02-9CB4-AC9041CD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Reviewer arrays and mutable group membership can change the meaning of an in-flight permit.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FDE70-66D8-47B9-AB61-0E3E770D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87AE1-F8D7-420F-9EF0-A1D8BE4E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C123A-7990-44FD-AD37-4FE95F61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52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91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Operational data is untyped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A142A-FCA9-4710-9C90-D6F207D2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5282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Dates and key fields appear in several formats and template-specific answer keys.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A5491-403C-4A7C-B22F-1EA44E24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910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FB626-F051-4A37-A510-7743AD24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C28C4-952C-468D-9AE4-4F273E34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434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534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History is difficult to 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90641B-23EF-4F8F-A17F-FAE2785B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String logs and permit-shaped document copies cannot support precise filtering or reconciliation.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7B579-540A-42AD-B39F-96305858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D597E-4A58-4476-B6A2-F2B6A7B8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1BB9C-A7E8-45A7-BD3C-935A71E7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654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Integrity depends on application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C83FF-839D-43F0-8044-D823ADE3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3397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Numbering races, weak uniqueness and hard-coded identifiers create avoidable failure modes.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52C20-A115-401B-B6A6-DAEC89E1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2589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4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Repository inspection cannot quantify live defects. Production profiling must establish row counts, duplicates, nulls, orphaned references and historical variants.</a:t>
            </a:r>
          </a:p>
        </p:txBody>
      </p:sp>
    </p:spTree>
    <p:extLst>
      <p:ext uri="{BB962C8B-B14F-4D97-AF65-F5344CB8AC3E}">
        <p14:creationId xmlns:p14="http://schemas.microsoft.com/office/powerpoint/2010/main" val="6738583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1B64F3-C2C0-47F6-A906-B6BAE965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D2727-84DD-48E9-84ED-431B8E57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Target user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F2924-ED6E-4181-B05A-CE8A0B95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One traceable permit journey from creation to archive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70BA6-30DA-4E04-B002-AD0EEE63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7F5DF-4544-43CB-96C0-FE80B91E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76678-242F-489D-A164-BCA3924C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Create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574DC-7CFB-4254-8CBC-65164CDF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347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Template-driven form, reserved fields, files and linked child permits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B3371-C420-440C-A797-74BE92D2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DAD07-FAE1-4A1A-B392-3102F9DD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68329-22B0-4768-B7DD-8280E424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Submit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08A0B-4F8F-4EC7-8587-AD5B5E9F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2219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Validation completes and the company-specific approval route is fixed</a:t>
            </a:r>
          </a:p>
        </p:txBody>
      </p:sp>
      <p:cxnSp>
        <p:nvCxnSpPr>
          <p:cNvPr id="50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86000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B0F96-69EE-4A3E-BB69-11118FD9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D64BA-1416-434B-905F-070D0632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73303-5B4E-45B3-8821-874AF0D9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C9BA6-4F19-44F6-8408-C902E097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1961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Only the current reviewer can act; reasons and signatures are recorded</a:t>
            </a:r>
          </a:p>
        </p:txBody>
      </p:sp>
      <p:cxnSp>
        <p:nvCxnSpPr>
          <p:cNvPr id="55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81475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679AD-1B1B-4C05-B99B-12E7E76B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24D78-B14D-427D-86D5-2BFA82E5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31BD1-E8A1-49D5-AE81-41225B85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Operate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54CF2-A8ED-4CF1-9E14-D2549987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1397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Approved work, readings, controlled amendments and lifecycle actions</a:t>
            </a:r>
          </a:p>
        </p:txBody>
      </p: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076950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844CB-BFBA-40F9-AE01-B3FAEB25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5D345A-BAE0-45FA-A460-DF2388C4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D0F9A4-E506-42F2-B55F-4FEBF88A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Close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3745C-5398-462B-8234-C9122571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65000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Signed request, authorised confirmation and independent child outcomes</a:t>
            </a:r>
          </a:p>
        </p:txBody>
      </p: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972425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D87A26-F98A-42E4-9CDF-2E47789D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6409D8-E835-47C8-A75D-FFE53648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CF96CF-FF6A-4268-886A-8E7FF0EA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E88BE8-930A-4516-A5D4-1B4D05E0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773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Search, PDF generation, dashboards and retained audit history</a:t>
            </a:r>
          </a:p>
        </p:txBody>
      </p:sp>
      <p:cxnSp>
        <p:nvCxnSpPr>
          <p:cNvPr id="70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67900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D17D54-3D8F-4F67-A29E-36AC8EB0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907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Cross-cutting controls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B11B6E-A718-4BBB-9E5C-36C9EA14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365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Server-side authorization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CD85BE-F48D-4DD1-AB0F-D058C5AD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10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671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Versioned templates and revisions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B0EA50-9393-4FA6-9F4A-AAB13FA1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Append-only events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83D3DD-992F-478F-8EDF-1D74936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844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UTC storage with Singapore display time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13BAE6-0DB0-43AD-A943-6470452E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299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Administration covers users, companies, sites, maps, disciplines, reviewer groups, templates, announcements and report access.</a:t>
            </a:r>
          </a:p>
        </p:txBody>
      </p:sp>
    </p:spTree>
    <p:extLst>
      <p:ext uri="{BB962C8B-B14F-4D97-AF65-F5344CB8AC3E}">
        <p14:creationId xmlns:p14="http://schemas.microsoft.com/office/powerpoint/2010/main" val="18022007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C9C13A-26B0-4F6C-B793-91942193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20335-1179-48EA-A33E-2EB6FB14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Target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7099C-DB5E-4835-94AE-3773B1DC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dedicated service boundary moves security and workflow rules out of the browser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BE4D3-41F9-4D13-904D-A2EF4068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3812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A9C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2D458-6072-42E9-9DE8-35614E8F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813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166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React web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1B8B5-3CCA-4174-BD3B-DE2728CB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337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241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Role-aware navigation</a:t>
            </a:r>
          </a:p>
          <a:p xmlns:a="http://schemas.openxmlformats.org/drawingml/2006/main"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Permit forms and lists</a:t>
            </a:r>
          </a:p>
          <a:p xmlns:a="http://schemas.openxmlformats.org/drawingml/2006/main"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Admin and reporting 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4341E-E929-4955-83E8-37E07740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3476625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2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457FF-30EF-43CB-BBD4-3E72FCC9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801"/>
          </a:bodyPr>
          <a:lstStyle xmlns:a="http://schemas.openxmlformats.org/drawingml/2006/main"/>
          <a:p xmlns:a="http://schemas.openxmlformats.org/drawingml/2006/main">
            <a:pPr algn="ctr">
              <a:def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API and workflow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814C4-12A2-4142-8654-B78EBD86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9562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1199"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Authentication and authorization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Validation and state transitions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Approval sequencing and audit events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Search, document and report orchestration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D4CFC-6EE2-4EF7-90CF-56E35931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6B8BE-E852-48B7-8615-CE87D6DD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0977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23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CBF14-F972-4059-98BA-1A37E1A7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57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8214"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CFE5F6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CFE5F6"/>
                </a:solidFill>
                <a:latin typeface="Segoe UI"/>
                <a:ea typeface="Segoe UI"/>
                <a:cs typeface="Segoe UI"/>
              </a:rPr>
              <a:t>System of record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30B5B-8729-4BB7-AA4D-0923E31A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6806B-ED5C-4DE4-8E11-A5AD04C8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147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Protected file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F52B7-7D34-4BD3-9499-AE235F26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76675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553"/>
          </a:bodyPr>
          <a:lstStyle xmlns:a="http://schemas.openxmlformats.org/drawingml/2006/main"/>
          <a:p xmlns:a="http://schemas.openxmlformats.org/drawingml/2006/main">
            <a:pPr algn="ctr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Attachments and generated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C0006-C2C1-4702-B985-5EC724F8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9EA7E-D1A9-4AFA-AC77-10E6CE8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720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Email delivery worker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8D56A-9673-4A69-A142-F815B5B0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33975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Transactional outbox and retries</a:t>
            </a:r>
          </a:p>
        </p:txBody>
      </p:sp>
      <p:cxnSp>
        <p:nvCxnSpPr>
          <p:cNvPr id="4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34290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715250" y="2400300"/>
            <a:ext cx="114300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15250" y="3429000"/>
            <a:ext cx="114300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715250" y="3429000"/>
            <a:ext cx="1143000" cy="1609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7E163-036F-4ED0-8EF4-964FAA4B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593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6B4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26B43"/>
                </a:solidFill>
                <a:latin typeface="Segoe UI"/>
                <a:ea typeface="Segoe UI"/>
                <a:cs typeface="Segoe UI"/>
              </a:rPr>
              <a:t>Security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7F002-E3D4-4645-B4F7-572BB806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67325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5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E7D5A"/>
                </a:solidFill>
                <a:latin typeface="Segoe UI"/>
                <a:ea typeface="Segoe UI"/>
                <a:cs typeface="Segoe UI"/>
              </a:rPr>
              <a:t>Read models and scheduled exports use the same canonical data and status rules as the operational API.</a:t>
            </a:r>
          </a:p>
        </p:txBody>
      </p:sp>
    </p:spTree>
    <p:extLst>
      <p:ext uri="{BB962C8B-B14F-4D97-AF65-F5344CB8AC3E}">
        <p14:creationId xmlns:p14="http://schemas.microsoft.com/office/powerpoint/2010/main" val="4623039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6C624-09C9-4884-9CD2-5E4387AE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B9E10-B891-45AE-B8B6-2DA1B275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Database redesign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A26BE-70C2-44B3-8249-529B568A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target model reduces duplication and makes workflow and reporting queryable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06680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905250"/>
                <a:gridCol w="4762500"/>
              </a:tblGrid>
              <a:tr h="60007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Concern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Current design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Target design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Permit storage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permits, drafts, embedded children and childpermits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One permits table; draft is a status and child is a self-reference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Workflow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Reviewer arrays and overlapping state fields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Ordered approval steps, eligible members and immutable action records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Operational fields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Mixed dates, strings and template-specific keys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Typed canonical columns; JSONB only for dynamic answers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Human-readable strings and permit-shaped PDF copies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Append-only events, immutable revisions and generated document links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Templates and numbering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Mutable template references and application-side counters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Pinned template versions and transactional sequences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8F06B-2656-4503-828E-CD44243F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Result: predictable filtering, reliable audit reconstruction and a migration path that preserves legacy evidence.</a:t>
            </a:r>
          </a:p>
        </p:txBody>
      </p:sp>
    </p:spTree>
    <p:extLst>
      <p:ext uri="{BB962C8B-B14F-4D97-AF65-F5344CB8AC3E}">
        <p14:creationId xmlns:p14="http://schemas.microsoft.com/office/powerpoint/2010/main" val="16622556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2B17D-1D0B-4DC3-A333-776A8C87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E0F06-689A-4EAF-B443-047D8FF3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Workflow controls proven in the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1C974-A599-416F-9E60-1CF3CB69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production service should retain the control intent while adopting the confirmed business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512F8-E0B2-4C1C-BE6B-9489C0C3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395FB-7CA8-485B-AE24-4D501D8F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33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Complete permit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829A5-0F67-4046-953D-40043B6A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288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Required permit and safety fields must pass validation before submission.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0F8A8-066A-464C-B1D6-997CC75A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0B313-68CB-493D-968A-7F3AEBA0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133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Enforce current 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F00A0-012E-436B-9D65-B51031FC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288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Only the assigned role can act. Separation of duties blocks self-approval.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91229-F901-4581-9CB1-3F86DF97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340F3-BFFB-4772-A9A7-94E8926B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33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Record every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46A9C-581C-4850-BA1E-1E7A10F6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288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Approvals, rejection reasons, status changes and revision events remain traceable.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84A24-E720-452E-A472-26132796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655FE-3ECA-4DDC-ADAD-8E6F2CAB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957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Control operational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99D78-72EE-4C17-8C05-361F7353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91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Activation, suspension, resumption, closure and expiry checks use one policy layer.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F87DA-B0C6-4F06-8D53-CA39EAF5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00B67-7236-4490-B5E9-7E8AFB6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957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Preserve revisions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A76CD-890E-45BF-B6DD-10B9D32B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191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revised permit returns for approval and prior approved revisions become superseded.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3919A-2A7D-46A4-A509-A7877371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107B1-FC21-4336-8996-454614F5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8957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Handle linked permits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332B4-82D9-43C0-B250-E8B360A8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91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Hot Work selection creates a linked child permit; final parent gating remains a policy decision.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32062-8E8F-4979-A661-1CD3AB6B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81675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Current prototype chain: Individual Reviewer, MT Group, Permit Manager. Requirements propose a company-driven chain with Host, Host Manager, optional stages and OPS.</a:t>
            </a:r>
          </a:p>
        </p:txBody>
      </p:sp>
    </p:spTree>
    <p:extLst>
      <p:ext uri="{BB962C8B-B14F-4D97-AF65-F5344CB8AC3E}">
        <p14:creationId xmlns:p14="http://schemas.microsoft.com/office/powerpoint/2010/main" val="8499457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A32DC-C1F9-42C3-872A-8161EB3D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56E77-F1C7-4ED5-8BE3-E88FD28F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Policy decisions required before schema freeze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21AD2-37C8-4685-B653-05AE09E4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supplied sources differ on six behaviours that directly affect data structures and workflow code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23875" y="2009775"/>
          <a:ext xmlns:a="http://schemas.openxmlformats.org/drawingml/2006/main" cx="1114425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857500"/>
                <a:gridCol w="3048000"/>
                <a:gridCol w="3524250"/>
              </a:tblGrid>
              <a:tr h="5783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Decision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Requirements review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Backend or prototype position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Recommended action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Approval roles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Company-driven Host chain with optional stages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uses Individual Reviewer, MT Group and PM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one canonical role and stage model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Parent-child gating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Parent and child approval may proceed independently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blocks parent final approval until required child approval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whether approval or only work start is gated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Reviewer group changes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Changes update every live permit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 proposal snapshots eligibility at submission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Choose audit certainty or live reassignment semantics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 changes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Labels and ordering may change after publish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 proposal makes published versions immutable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Version every published change and define edit rules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PDF history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Generate on demand from current state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Schema includes revisions and generated document records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retention, evidence and regeneration policy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Expiry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No dedicated Expired status proposed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contains EXPIRED and automatic expiry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status, flag and reporting behaviour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909AA-8948-4F49-8EE2-9FEE5AE2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Recommendation: close these decisions in a short design authority workshop and record them as testable acceptance rules.</a:t>
            </a:r>
          </a:p>
        </p:txBody>
      </p:sp>
    </p:spTree>
    <p:extLst>
      <p:ext uri="{BB962C8B-B14F-4D97-AF65-F5344CB8AC3E}">
        <p14:creationId xmlns:p14="http://schemas.microsoft.com/office/powerpoint/2010/main" val="20232571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C0A66D-6EEF-4BB1-AE38-3163B7FC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B9476-F6A9-420E-BE8A-2367538D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Migration and cutover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98D47-5791-4436-A354-98B68BE6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restartable, evidence-preserving migration reduces operational and audit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A2FEA-2E1A-49E1-BFFF-12D9E7D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614EC-963C-4221-8FC3-BB5CB3A5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F27A3-1415-4613-9B93-A8177145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Inventory and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A3090-35B5-44D2-969B-1E6ECF08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170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Profile a sanitized production snapshot. Resolve status, key mapping, numbering, retention and duplicate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72B3E-1B19-407C-95E7-A4A99B0E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7B7E3-DAF1-440C-861C-CB175AA3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4502A-C174-4DA4-B748-C7FCE686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412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Build and rehearse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0C0CA-903B-40A4-B7DD-5B1CD1B6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769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Deploy an empty PostgreSQL schema. Load reference data, users, templates and permits with deterministic mappings.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19375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217A3-AF5D-4BC9-9E3B-827D2BFF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D19EB-A4F0-4E69-AD2A-BD24FC94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54971-483D-4657-BEB0-F892C87E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Reconstruct permit detail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BB813-1599-441E-9B81-3729C288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769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Extract canonical fields, migrate children and retain the unmodified legacy submission in the first revision.</a:t>
            </a:r>
          </a:p>
        </p:txBody>
      </p: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14900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F42B5-3883-40CD-8735-2BA611C8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DA271E-58DB-4639-97B7-15B29A43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80745-4933-447B-9FBF-19D0D671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Rebuild workflow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A2A31-EEA8-4D38-A739-D38A334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6074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Recreate approval steps and events conservatively. Flag ambiguity instead of inventing historical order.</a:t>
            </a:r>
          </a:p>
        </p:txBody>
      </p: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10425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B91AC1-233F-41C9-A728-A3D57212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2B4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3ACAD0-AE12-48C2-9BC2-9F8C15B2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E0A08-4EF7-48D8-B5E4-0179FEBB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Synchronize and cut over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52261F-6C0D-4096-8EC8-4B875858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47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Run change capture or a short freeze, reconcile, switch traffic and retain a rollback window.</a:t>
            </a:r>
          </a:p>
        </p:txBody>
      </p:sp>
      <p:cxnSp>
        <p:nvCxnSpPr>
          <p:cNvPr id="60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505950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536C2-C53E-4D69-90E9-70495056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Reconciliation gates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1C1209-C643-4DD8-A1B9-F548DB1A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99298D-60EB-45EF-BAEE-74933D33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710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Every source record is migrated, explicitly excluded or quarantined with a reason.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1FAD6-47C2-41B4-96AB-8AA8ECE5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191F34-41CC-4ED9-A710-B1B2CD24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2925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710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Counts reconcile by status, site, template, parent-child relationship and approval outcome.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A908AB-717D-4BE8-AAB2-4CC9DAFE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Cutover proceeds only after critical reconciliation gates pass.</a:t>
            </a:r>
          </a:p>
        </p:txBody>
      </p:sp>
    </p:spTree>
    <p:extLst>
      <p:ext uri="{BB962C8B-B14F-4D97-AF65-F5344CB8AC3E}">
        <p14:creationId xmlns:p14="http://schemas.microsoft.com/office/powerpoint/2010/main" val="12642941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9E3463-56A7-4D22-966E-7B471BDE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5F2C5-5E5F-418A-B1EE-D0D1F44B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Delivery sequencing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2DF44-2470-4704-A645-01A048CC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sequence protects domain decisions first and postpones irreversible migration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62FA4-CE93-4C93-A379-5D997BE8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D89CD-6699-4104-B334-5CD5F11A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38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Domain alignment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D0561-79C1-485C-A93E-2F3808B1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Close the six policy decisions, acceptance rules and role matrix.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B0582-8C7B-422F-A35E-A041FA61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E79AC-873C-435B-AFC4-612D10C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39CB3-3BF2-4080-8571-361BA63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Platform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36A73-EA89-4466-9CDC-F9BD78F8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844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Authentication, authorization, schema, files, event logging and deployment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DE818-1EAA-4067-BF89-4C5805A3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3589C-76FC-4F71-B067-1E47E912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9570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A5257-2466-4200-B0E6-4DEC8130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766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Permit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2F95F-DC5E-4E0D-AB33-E6FAC273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8829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Creation, child logic, approvals, operational actions, closure and revisions.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618E4-B98A-4A19-8222-A493434D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313A1-0BA5-48CE-BB46-2ED74409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1485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6ACBF-EC98-4F78-8D18-80E5D88A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958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309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Administration and 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30B0F-C967-44C3-833D-4E3B633B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Configuration screens, search, dashboards, PDF and scheduled exports.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A611E-94F6-4D5E-8BAF-6011FF7E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F57A5-A882-4914-80C6-7E280209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B6319-7501-4B1C-BB9B-EC587452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1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Migration and 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52FD9-5DC8-4397-9313-5EEE402C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149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Profiling, ETL rehearsals, reconciliation, training, cutover and hypercare.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37FB3-08A0-4E7E-9E79-BB06C4C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712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1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Each track ends with working software, automated controls and explicit exit criteria. Time and staffing estimates follow the profiling and domain-alignment work.</a:t>
            </a:r>
          </a:p>
        </p:txBody>
      </p:sp>
    </p:spTree>
    <p:extLst>
      <p:ext uri="{BB962C8B-B14F-4D97-AF65-F5344CB8AC3E}">
        <p14:creationId xmlns:p14="http://schemas.microsoft.com/office/powerpoint/2010/main" val="20892532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8F939-2FFF-49A5-9B8F-A10E0A97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BF9E6-197A-4708-9423-D74B8309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Principal delivery risks and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806E7-C157-46FD-82D4-F296204A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main risks can be reduced before production migration begins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76450"/>
          <a:ext xmlns:a="http://schemas.openxmlformats.org/drawingml/2006/main" cx="108585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333750"/>
                <a:gridCol w="4857750"/>
              </a:tblGrid>
              <a:tr h="56877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Risk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Potential impact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Primary control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Unresolved workflow policy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Schema rework and inconsistent approvals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Design authority workshop with signed acceptance rules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Unknown legacy data variants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Migration errors or incomplete 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Sanitized snapshot profiling, quarantine and reconciliation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Authorization implemented only in UI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Approval bypass or cross-company exposure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Server-side policy checks and negative security tests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Mutable configuration changes 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Past permits become difficult to explain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Versioned templates and explicit reviewer-change events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Reporting logic diverges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Dashboards disagree and trust falls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Canonical date/status definitions and shared read models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Cutover without rollback evidence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Extended operational disruption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Rehearsed cutover, rollback window and post-switch reconciliation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2C6E9-5BC7-478E-AEF1-47495D3B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828"/>
          </a:bodyPr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Risk ownership and thresholds should be assigned during implementation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1921528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A0F18-FF9D-4166-860A-09A419E5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5A92F-2594-4224-AE6D-404A94D9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Decision requested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E3762-4A22-4973-A5C4-087C705E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 now enables controlled discovery without committing to an unverified migration 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6933B-FBDF-4F6E-9666-10311007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853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Approve the rebuild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5CFD0-3BBF-45D0-8735-9B77B688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97936-CC7F-41F3-AA8F-43E3525B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4924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PostgreSQL becomes the system of record for permits, workflow and audit history.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22218-64AF-4F28-8243-6D7AB825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19D80-081C-4599-9D42-9AF7DEDD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924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495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The React frontend continues as the interaction baseline, backed by production services and server-side controls.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5E39E-692C-49C7-92B8-ED3F44D3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341F3-C8C5-4D2C-B43A-3D48F61B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4924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Migration follows a profiled, restartable and reconciled cutover process.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E9EA9-12DA-4A7D-8BAE-E56E34C4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451485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AFCF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768D3-90CA-4BFE-BFF9-4FBC240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Authorize 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32AD1-C670-48A3-9A5A-B090E415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00E15-F746-4CFD-ABBD-87F84D32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289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Close policy decisions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921CA-E5C6-4792-ADB3-29B581BD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2420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Confirm roles, gating, group changes, templates, PDF history and expiry.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88C76-F30F-468B-AA2B-DFC90AAE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552FD-2360-4DEF-B6B6-252F3B8A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433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Profile production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097DB-6F7C-46E5-A894-83A69874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3860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Use a recent sanitized snapshot and publish the reconciliation baseline.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D50BC-263F-4908-9DE6-0417944E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173D8-A58F-424D-A384-54115F4A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577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Plan implementation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1D2A6-F46C-49EF-96A7-D0D0B6E6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5300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3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Assign owners, delivery capacity, environments and measurable exit criteria.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D78CA-63CC-45F1-9D66-A0A5B0E2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959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Production build and migration dates follow these three actions.</a:t>
            </a:r>
          </a:p>
        </p:txBody>
      </p:sp>
    </p:spTree>
    <p:extLst>
      <p:ext uri="{BB962C8B-B14F-4D97-AF65-F5344CB8AC3E}">
        <p14:creationId xmlns:p14="http://schemas.microsoft.com/office/powerpoint/2010/main" val="5234937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A07A1-A0DD-4A3D-9758-57C06233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A1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331D6-3AF4-4D1A-B9FB-300D3295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Appendix: frontend prototype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42DDF-8146-4419-A028-F064F64F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codebase demonstrates workflow intent but remains a browser-based functional draft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810250"/>
              </a:tblGrid>
              <a:tr h="53067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Demonstrated now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Production capability still required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Role-aware navigation and permit queues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Real identity provider integration, sessions and server authorization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Template-driven permit creation and validation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Published template versioning, reserved-field enforcement and file services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Sequential review decisions and separation of duties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Confirmed role chain, delegation policy, concurrency and transactional workflow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Linked Hot Work child permit and parent controls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Full B1-B5/LSS rules, merge semantics and decision on approval gating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Activation, suspension, closure, expiry and revisions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Confirmed status model, notifications, scheduled jobs and immutable history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Admin, search, audit and PDF action views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Persistent master data, server-side search, dashboards, documents, audit and permission checks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D959D-6623-4967-BB47-EC2BCA94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357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2E7D5A"/>
                </a:solidFill>
                <a:latin typeface="Bahnschrift"/>
                <a:ea typeface="Bahnschrift"/>
                <a:cs typeface="Bahnschrift"/>
              </a:defRPr>
            </a:pPr>
            <a:r>
              <a:rPr sz="1400" b="1">
                <a:solidFill>
                  <a:srgbClr val="2E7D5A"/>
                </a:solidFill>
                <a:latin typeface="Bahnschrift"/>
                <a:ea typeface="Bahnschrift"/>
                <a:cs typeface="Bahnschrift"/>
              </a:rPr>
              <a:t>Verification: React production build succeeded; 3 test files and 20 tests passed.</a:t>
            </a:r>
          </a:p>
        </p:txBody>
      </p:sp>
    </p:spTree>
    <p:extLst>
      <p:ext uri="{BB962C8B-B14F-4D97-AF65-F5344CB8AC3E}">
        <p14:creationId xmlns:p14="http://schemas.microsoft.com/office/powerpoint/2010/main" val="271240592"/>
      </p:ext>
    </p:extLst>
  </p:cSld>
</p:sld>
</file>

<file path=ppt/theme/theme1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2026-09-11T06:33:52.5810000Z</dcterms:created>
  <dcterms:modified xsi:type="dcterms:W3CDTF">2026-09-11T06:33:52.5820000Z</dcterms:modified>
</coreProperties>
</file>