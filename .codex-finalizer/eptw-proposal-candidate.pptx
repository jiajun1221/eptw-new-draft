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ad46f9d4d4faa" /><Relationship Type="http://schemas.openxmlformats.org/officeDocument/2006/relationships/extended-properties" Target="/docProps/app.xml" Id="R7676506d9b96489f" /><Relationship Type="http://schemas.openxmlformats.org/officeDocument/2006/relationships/officeDocument" Target="/ppt/presentation.xml" Id="R414e5214355a41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dd9f37537466e"/>
  </p:sldMasterIdLst>
  <p:notesMasterIdLst>
    <p:notesMasterId xmlns:r="http://schemas.openxmlformats.org/officeDocument/2006/relationships" r:id="Rf6a06a914a3e40ea"/>
  </p:notesMasterIdLst>
  <p:sldIdLst>
    <p:sldId xmlns:r="http://schemas.openxmlformats.org/officeDocument/2006/relationships" id="256" r:id="R6587ecd99e4b4560"/>
    <p:sldId xmlns:r="http://schemas.openxmlformats.org/officeDocument/2006/relationships" id="257" r:id="R777f318f2ab448ff"/>
    <p:sldId xmlns:r="http://schemas.openxmlformats.org/officeDocument/2006/relationships" id="258" r:id="Rb16a6d84bb944d50"/>
    <p:sldId xmlns:r="http://schemas.openxmlformats.org/officeDocument/2006/relationships" id="259" r:id="Rcabc28d4f31e4aef"/>
    <p:sldId xmlns:r="http://schemas.openxmlformats.org/officeDocument/2006/relationships" id="260" r:id="Reaf6775be9d0427b"/>
    <p:sldId xmlns:r="http://schemas.openxmlformats.org/officeDocument/2006/relationships" id="261" r:id="R0f5991fab665410e"/>
    <p:sldId xmlns:r="http://schemas.openxmlformats.org/officeDocument/2006/relationships" id="262" r:id="R2b135f7953a64020"/>
    <p:sldId xmlns:r="http://schemas.openxmlformats.org/officeDocument/2006/relationships" id="263" r:id="R44d5d25839364703"/>
    <p:sldId xmlns:r="http://schemas.openxmlformats.org/officeDocument/2006/relationships" id="264" r:id="Raed1a1a3b48d4e6e"/>
    <p:sldId xmlns:r="http://schemas.openxmlformats.org/officeDocument/2006/relationships" id="265" r:id="R913b32f50aab41eb"/>
    <p:sldId xmlns:r="http://schemas.openxmlformats.org/officeDocument/2006/relationships" id="266" r:id="Rfc0a8cd23a89445d"/>
    <p:sldId xmlns:r="http://schemas.openxmlformats.org/officeDocument/2006/relationships" id="267" r:id="R8f022ab9b15e4a1a"/>
    <p:sldId xmlns:r="http://schemas.openxmlformats.org/officeDocument/2006/relationships" id="268" r:id="R0eec9c3e90914777"/>
    <p:sldId xmlns:r="http://schemas.openxmlformats.org/officeDocument/2006/relationships" id="269" r:id="Rc7c0f4c8c35e47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d189414da54181" /><Relationship Type="http://schemas.openxmlformats.org/officeDocument/2006/relationships/slideMaster" Target="/ppt/slideMasters/slideMaster1.xml" Id="Re54dd9f37537466e" /><Relationship Type="http://schemas.openxmlformats.org/officeDocument/2006/relationships/notesMaster" Target="/ppt/notesMasters/notesMaster1.xml" Id="Rf6a06a914a3e40ea" /><Relationship Type="http://schemas.openxmlformats.org/officeDocument/2006/relationships/presProps" Target="/ppt/presProps.xml" Id="Re34c09e82b8b4a2c" /><Relationship Type="http://schemas.openxmlformats.org/officeDocument/2006/relationships/viewProps" Target="/ppt/viewProps.xml" Id="R71a221554d87459c" /><Relationship Type="http://schemas.openxmlformats.org/officeDocument/2006/relationships/tableStyles" Target="/ppt/tableStyles.xml" Id="R3413f5d12b9445dd" /><Relationship Type="http://schemas.openxmlformats.org/officeDocument/2006/relationships/slide" Target="/ppt/slides/slide1.xml" Id="R6587ecd99e4b4560" /><Relationship Type="http://schemas.openxmlformats.org/officeDocument/2006/relationships/slide" Target="/ppt/slides/slide2.xml" Id="R777f318f2ab448ff" /><Relationship Type="http://schemas.openxmlformats.org/officeDocument/2006/relationships/slide" Target="/ppt/slides/slide3.xml" Id="Rb16a6d84bb944d50" /><Relationship Type="http://schemas.openxmlformats.org/officeDocument/2006/relationships/slide" Target="/ppt/slides/slide4.xml" Id="Rcabc28d4f31e4aef" /><Relationship Type="http://schemas.openxmlformats.org/officeDocument/2006/relationships/slide" Target="/ppt/slides/slide5.xml" Id="Reaf6775be9d0427b" /><Relationship Type="http://schemas.openxmlformats.org/officeDocument/2006/relationships/slide" Target="/ppt/slides/slide6.xml" Id="R0f5991fab665410e" /><Relationship Type="http://schemas.openxmlformats.org/officeDocument/2006/relationships/slide" Target="/ppt/slides/slide7.xml" Id="R2b135f7953a64020" /><Relationship Type="http://schemas.openxmlformats.org/officeDocument/2006/relationships/slide" Target="/ppt/slides/slide8.xml" Id="R44d5d25839364703" /><Relationship Type="http://schemas.openxmlformats.org/officeDocument/2006/relationships/slide" Target="/ppt/slides/slide9.xml" Id="Raed1a1a3b48d4e6e" /><Relationship Type="http://schemas.openxmlformats.org/officeDocument/2006/relationships/slide" Target="/ppt/slides/slide10.xml" Id="R913b32f50aab41eb" /><Relationship Type="http://schemas.openxmlformats.org/officeDocument/2006/relationships/slide" Target="/ppt/slides/slide11.xml" Id="Rfc0a8cd23a89445d" /><Relationship Type="http://schemas.openxmlformats.org/officeDocument/2006/relationships/slide" Target="/ppt/slides/slide12.xml" Id="R8f022ab9b15e4a1a" /><Relationship Type="http://schemas.openxmlformats.org/officeDocument/2006/relationships/slide" Target="/ppt/slides/slide13.xml" Id="R0eec9c3e90914777" /><Relationship Type="http://schemas.openxmlformats.org/officeDocument/2006/relationships/slide" Target="/ppt/slides/slide14.xml" Id="Rc7c0f4c8c35e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b376084e0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12975985ba4af6" /><Relationship Type="http://schemas.openxmlformats.org/officeDocument/2006/relationships/notesMaster" Target="/ppt/notesMasters/notesMaster1.xml" Id="Rf284454bc6a8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08da1982a4b91" /><Relationship Type="http://schemas.openxmlformats.org/officeDocument/2006/relationships/notesMaster" Target="/ppt/notesMasters/notesMaster1.xml" Id="Rc88805abe607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583dfc6674469" /><Relationship Type="http://schemas.openxmlformats.org/officeDocument/2006/relationships/notesMaster" Target="/ppt/notesMasters/notesMaster1.xml" Id="Rf65c79e566f74f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2db4cb21ea42df" /><Relationship Type="http://schemas.openxmlformats.org/officeDocument/2006/relationships/notesMaster" Target="/ppt/notesMasters/notesMaster1.xml" Id="R935456545510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b32a2debd4069" /><Relationship Type="http://schemas.openxmlformats.org/officeDocument/2006/relationships/notesMaster" Target="/ppt/notesMasters/notesMaster1.xml" Id="Ra7bcfecf4fad41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057dfc2bf41dc" /><Relationship Type="http://schemas.openxmlformats.org/officeDocument/2006/relationships/notesMaster" Target="/ppt/notesMasters/notesMaster1.xml" Id="R6f62295c08e147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8135f12599420d" /><Relationship Type="http://schemas.openxmlformats.org/officeDocument/2006/relationships/notesMaster" Target="/ppt/notesMasters/notesMaster1.xml" Id="Rb23ed327258b45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f8b8e31fa4097" /><Relationship Type="http://schemas.openxmlformats.org/officeDocument/2006/relationships/notesMaster" Target="/ppt/notesMasters/notesMaster1.xml" Id="Rfc2a6a094a004f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30c1bd04284138" /><Relationship Type="http://schemas.openxmlformats.org/officeDocument/2006/relationships/notesMaster" Target="/ppt/notesMasters/notesMaster1.xml" Id="R55f10372b5b849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a922b839fd490e" /><Relationship Type="http://schemas.openxmlformats.org/officeDocument/2006/relationships/notesMaster" Target="/ppt/notesMasters/notesMaster1.xml" Id="Rc42a79d181d348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14107f887a4ac0" /><Relationship Type="http://schemas.openxmlformats.org/officeDocument/2006/relationships/notesMaster" Target="/ppt/notesMasters/notesMaster1.xml" Id="R7edc251d894444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d6c1166f704f7c" /><Relationship Type="http://schemas.openxmlformats.org/officeDocument/2006/relationships/notesMaster" Target="/ppt/notesMasters/notesMaster1.xml" Id="R2fbdfc50a4fd49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e951cceef3492f" /><Relationship Type="http://schemas.openxmlformats.org/officeDocument/2006/relationships/notesMaster" Target="/ppt/notesMasters/notesMaster1.xml" Id="Re1e8b51cab444a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c3522b82a44221" /><Relationship Type="http://schemas.openxmlformats.org/officeDocument/2006/relationships/notesMaster" Target="/ppt/notesMasters/notesMaster1.xml" Id="R735d32df539f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present the rebuild direction and obtain approval to proceed into requirements closure and production data profiling.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OST PPT Template Apr 2026.potx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migration recommendation remains conditional on profiling a recent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 and 10</a:t>
            </a:r>
          </a:p>
          <a:p xmlns:a="http://schemas.openxmlformats.org/drawingml/2006/main">
            <a:r>
              <a:t>- ePTW-Requirements-Review.pdf, pages 5-7 and 93-95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run: npm.cmd run build and npm.cmd test; 3 test files and 20 tests passed.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</a:t>
            </a:r>
          </a:p>
          <a:p xmlns:a="http://schemas.openxmlformats.org/drawingml/2006/main">
            <a:r>
              <a:t>- database-redesign-proposal.docx</a:t>
            </a:r>
          </a:p>
          <a:p xmlns:a="http://schemas.openxmlformats.org/drawingml/2006/main">
            <a:r>
              <a:t>- old-vs-new-schema.docx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tests/app.test.tsx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issues shown are code-level findings. Live prevalence remains to be measured against a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2-3</a:t>
            </a:r>
          </a:p>
          <a:p xmlns:a="http://schemas.openxmlformats.org/drawingml/2006/main">
            <a:r>
              <a:t>- old-vs-new-schema.docx, sections 1-3</a:t>
            </a:r>
          </a:p>
          <a:p xmlns:a="http://schemas.openxmlformats.org/drawingml/2006/main">
            <a:r>
              <a:t>- ePTW-Requirements-Review.pdf, pages 5-6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consolidates the proposed end-to-end user journey. Specific workflow roles remain subject to the decisions on slide 9.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sections 5-22</a:t>
            </a:r>
          </a:p>
          <a:p xmlns:a="http://schemas.openxmlformats.org/drawingml/2006/main">
            <a:r>
              <a:t>- database-redesign-proposal.docx, sections 6-8</a:t>
            </a:r>
          </a:p>
          <a:p xmlns:a="http://schemas.openxmlformats.org/drawingml/2006/main">
            <a:r>
              <a:t>- 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frontend stores seeded data in the browser and explicitly provides no real authentication,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4, 5 and 7</a:t>
            </a:r>
          </a:p>
          <a:p xmlns:a="http://schemas.openxmlformats.org/drawingml/2006/main">
            <a:r>
              <a:t>- ePTW-Requirements-Review.pdf, sections 15-21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specifies 27 application tables and three migration-control tables.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3-7</a:t>
            </a:r>
          </a:p>
          <a:p xmlns:a="http://schemas.openxmlformats.org/drawingml/2006/main">
            <a:r>
              <a:t>- old-vs-new-schema.docx, sections 1-9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is a control proof, not the final role model.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src/types.ts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  <a:p xmlns:a="http://schemas.openxmlformats.org/drawingml/2006/main">
            <a:r>
              <a:t>- ePTW-Requirements-Review.pdf, sections 3, 8-10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source conflicts or unresolved questions, not implementation defects in the prototype.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pages 21, 35, 37-42, 56, 59, 75-76 and 83</a:t>
            </a:r>
          </a:p>
          <a:p xmlns:a="http://schemas.openxmlformats.org/drawingml/2006/main">
            <a:r>
              <a:t>- database-redesign-proposal.docx, sections 4-6 and 12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src/types.ts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schedule duration is asserted because the sources do not contain production volumes or resource commitments.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 10</a:t>
            </a:r>
          </a:p>
          <a:p xmlns:a="http://schemas.openxmlformats.org/drawingml/2006/main">
            <a:r>
              <a:t>- old-vs-new-schema.docx, section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sequencing rather than a duration estimate.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10-11</a:t>
            </a:r>
          </a:p>
          <a:p xmlns:a="http://schemas.openxmlformats.org/drawingml/2006/main">
            <a:r>
              <a:t>- ePTW-Requirements-Review.pdf, sections 22-24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Risks are derived from the supplied design gaps and open questions; no probability scoring is asserted.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3, 10, 12 and 13</a:t>
            </a:r>
          </a:p>
          <a:p xmlns:a="http://schemas.openxmlformats.org/drawingml/2006/main">
            <a:r>
              <a:t>- ePTW-Requirements-Review.pdf, sections 19 and 21-24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requested decision is intentionally limited to direction and controlled discovery.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1, 10-12</a:t>
            </a:r>
          </a:p>
          <a:p xmlns:a="http://schemas.openxmlformats.org/drawingml/2006/main">
            <a:r>
              <a:t>- ePTW-Requirements-Review.pdf, pages 93-95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README explicitly states that the draft has no real authentication, file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- src/TemplateBuilderPage.tsx</a:t>
            </a:r>
          </a:p>
          <a:p xmlns:a="http://schemas.openxmlformats.org/drawingml/2006/main">
            <a:r>
              <a:t>- src/AdminUsersMaps.tsx</a:t>
            </a:r>
          </a:p>
          <a:p xmlns:a="http://schemas.openxmlformats.org/drawingml/2006/main">
            <a:r>
              <a:t>- src/AdminDirectories.tsx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tests/*.ts and tests/*.tsx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5b26060554b2f" /><Relationship Type="http://schemas.openxmlformats.org/officeDocument/2006/relationships/image" Target="/ppt/media/image.jpeg" Id="R9154bacdf29f47ac" /><Relationship Type="http://schemas.openxmlformats.org/officeDocument/2006/relationships/image" Target="/ppt/media/image.png" Id="R7d05201cb83040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c2697d01f4f88" /><Relationship Type="http://schemas.openxmlformats.org/officeDocument/2006/relationships/image" Target="/ppt/media/image.jpeg" Id="R942f19fb74884b0b" /><Relationship Type="http://schemas.openxmlformats.org/officeDocument/2006/relationships/image" Target="/ppt/media/image.png" Id="Reb98cb8a493d41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839527f5d4ceb" /><Relationship Type="http://schemas.openxmlformats.org/officeDocument/2006/relationships/image" Target="/ppt/media/image2.jpeg" Id="R6450e49014504387" /><Relationship Type="http://schemas.openxmlformats.org/officeDocument/2006/relationships/image" Target="/ppt/media/image.png" Id="R0703f6fbe53940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b611eeeda44f5" /><Relationship Type="http://schemas.openxmlformats.org/officeDocument/2006/relationships/image" Target="/ppt/media/image2.jpeg" Id="R563eced9d6e74953" /><Relationship Type="http://schemas.openxmlformats.org/officeDocument/2006/relationships/image" Target="/ppt/media/image.png" Id="Ref1f23ea5d5343e3" /><Relationship Type="http://schemas.openxmlformats.org/officeDocument/2006/relationships/image" Target="/ppt/media/image2.png" Id="Rad161817af5745f8" /><Relationship Type="http://schemas.openxmlformats.org/officeDocument/2006/relationships/image" Target="/ppt/media/image3.png" Id="R4d70a3d1035a4f9a" /><Relationship Type="http://schemas.openxmlformats.org/officeDocument/2006/relationships/image" Target="/ppt/media/image4.png" Id="R35f27b7e0a9646d5" /><Relationship Type="http://schemas.openxmlformats.org/officeDocument/2006/relationships/image" Target="/ppt/media/image5.png" Id="R8f4c256f012d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cae260e194c40" /><Relationship Type="http://schemas.openxmlformats.org/officeDocument/2006/relationships/image" Target="/ppt/media/image2.jpeg" Id="R207e70d5036a454a" /></Relationships>
</file>

<file path=ppt/slideLayouts/slideLayout1.xml><?xml version="1.0" encoding="utf-8"?>
<p:sldLayout xmlns:p="http://schemas.openxmlformats.org/presentationml/2006/main" preserve="1">
  <p:cSld name="Cover">
    <p:bg>
      <p:bgPr>
        <a:blipFill xmlns:a="http://schemas.openxmlformats.org/drawingml/2006/main" rotWithShape="1">
          <a:blip xmlns:r="http://schemas.openxmlformats.org/officeDocument/2006/relationships" r:embed="R9154bacdf29f47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80B648-99F0-F3A2-8792-08432184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67" y="1615183"/>
            <a:ext cx="7253909" cy="1631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ONESYSTEMS</a:t>
            </a:r>
            <a:r>
              <a:rPr sz="64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 </a:t>
            </a:r>
          </a:p>
          <a:p xmlns:a="http://schemas.openxmlformats.org/drawingml/2006/main">
            <a:r>
              <a:rPr sz="3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TECHNOLOGIES PTE LTD​</a:t>
            </a:r>
            <a:endParaRPr sz="36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5201cb83040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Company Name">
    <p:bg>
      <p:bgPr>
        <a:blipFill xmlns:a="http://schemas.openxmlformats.org/drawingml/2006/main" rotWithShape="1">
          <a:blip xmlns:r="http://schemas.openxmlformats.org/officeDocument/2006/relationships" r:embed="R942f19fb74884b0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8cb8a493d41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B08D02-22CB-CF7D-1A31-504CF60ED79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59366" y="2374721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 defTabSz="457200">
              <a:buNone/>
              <a:defRPr sz="63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Company Name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 preserve="1">
  <p:cSld name="1_BACKGROUND">
    <p:bg>
      <p:bgPr>
        <a:blipFill xmlns:a="http://schemas.openxmlformats.org/drawingml/2006/main" rotWithShape="1">
          <a:blip xmlns:r="http://schemas.openxmlformats.org/officeDocument/2006/relationships" r:embed="R6450e490145043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A55977-7A3F-A9BD-8659-735C9F606668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1308893" y="1899548"/>
            <a:ext cx="9574213" cy="388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BODY TEXT</a:t>
            </a: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835BE7-B93B-6F4A-4A50-A7B8159C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3f6fbe539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8E8EB5-F260-83CA-7447-0011100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3f6fbe539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Contact Us">
    <p:bg>
      <p:bgPr>
        <a:blipFill xmlns:a="http://schemas.openxmlformats.org/drawingml/2006/main" rotWithShape="1">
          <a:blip xmlns:r="http://schemas.openxmlformats.org/officeDocument/2006/relationships" r:embed="R563eced9d6e749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3200" b="1">
                <a:latin typeface="Bahnschrift"/>
                <a:ea typeface="Bahnschrift"/>
                <a:cs typeface="Bahnschrift"/>
              </a:rPr>
              <a:t>CONTACT US</a:t>
            </a:r>
            <a:endParaRPr/>
          </a:p>
        </p:txBody>
      </p:sp>
      <p:pic>
        <p:nvPicPr>
          <p:cNvPr id="5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f23ea5d5343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FE9F713-6118-DE25-4BAA-36AFB319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865" y="1931899"/>
            <a:ext cx="3918856" cy="3897086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56F19B-365D-5465-BF7B-51B5E9C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9" y="1352468"/>
            <a:ext cx="6543776" cy="692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/>
              <a:buNone/>
              <a:defRPr sz="1800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914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1371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1828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22860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7432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6pPr>
            <a:lvl7pPr marL="3200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7pPr>
            <a:lvl8pPr marL="3657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8pPr>
            <a:lvl9pPr marL="4114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400">
                <a:latin typeface="Segoe UI"/>
                <a:ea typeface="Segoe UI"/>
                <a:cs typeface="Segoe UI"/>
              </a:rPr>
              <a:t>Thank you for your interest in </a:t>
            </a:r>
            <a:r>
              <a:rPr sz="1400" b="1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OneSystems Technologies</a:t>
            </a:r>
            <a:r>
              <a:rPr sz="1400">
                <a:latin typeface="Segoe UI"/>
                <a:ea typeface="Segoe UI"/>
                <a:cs typeface="Segoe UI"/>
              </a:rPr>
              <a:t>.</a:t>
            </a:r>
            <a:br/>
            <a:r>
              <a:rPr sz="1400">
                <a:latin typeface="Segoe UI"/>
                <a:ea typeface="Segoe UI"/>
                <a:cs typeface="Segoe UI"/>
              </a:rPr>
              <a:t>Our team is here to help with technical-specific questions or general inquiries.</a:t>
            </a:r>
            <a:br/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61817af5745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141B27-BD35-87EA-F93C-FC7B79B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89" y="3489807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pic>
        <p:nvPicPr>
          <p:cNvPr id="5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0a3d1035a4f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8293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E01FE7B-3878-CE27-B61E-2E7E3FF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2" y="3483199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Facebook</a:t>
            </a:r>
          </a:p>
        </p:txBody>
      </p:sp>
      <p:pic>
        <p:nvPicPr>
          <p:cNvPr id="5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27b7e0a9646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819E2B9-3BC6-9B8E-06A2-CE3982E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605" y="5174587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Instagram</a:t>
            </a:r>
          </a:p>
        </p:txBody>
      </p:sp>
      <p:pic>
        <p:nvPicPr>
          <p:cNvPr id="61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c256f012d41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8484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9396DD3-7167-EB99-153D-8E42E4D5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09" y="5161675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YouTube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1C44A26-1A86-1BCC-1B1B-D4E87C8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678835"/>
            <a:ext cx="2406040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Singapore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190 Woodlands Industrial Park E5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#06-11 Woodlands Bizhub S757516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+65 6776 7611 </a:t>
            </a: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Philippines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East Tower 1904b Tektite Building, 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Exchange Road, San Antonio Pasig, Philippines 1600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+63 945 6111 180</a:t>
            </a:r>
            <a:endParaRPr sz="100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AC5C708-6F43-6AAF-E593-95DFF2A6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040" y="2678834"/>
            <a:ext cx="2613498" cy="18081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02-08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Blok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G, Komersil Southkey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Mozek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</a:t>
            </a:r>
            <a:br/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Persiaran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1, Kota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80150 Johor Bahru, 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+607 6907 866</a:t>
            </a:r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India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Plot No.23A Kk Salai Main, Road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Akkarai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Sholinganallur,Kanchipuram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Saidapet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Tamil Nadu, India, 600119​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+91 98842 13454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B55C82D-CBB2-4F6B-73F1-D6E5D3E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347202"/>
            <a:ext cx="104067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Addresses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6100B91-8AC5-DD03-7456-631BD5B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4969875"/>
            <a:ext cx="816249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Website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BC07FDC-A939-586E-BEFA-80810D7A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5259310"/>
            <a:ext cx="2406040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www.onesystemstech.com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C775B8D-3F08-DF9C-9217-4CBD504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4969875"/>
            <a:ext cx="638316" cy="37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Email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7E8BE22-5F1E-30A1-5847-364F0E8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5157501"/>
            <a:ext cx="24060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enquiries@onesystemstech.com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             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Blank Page">
    <p:bg>
      <p:bgPr>
        <a:blipFill xmlns:a="http://schemas.openxmlformats.org/drawingml/2006/main" rotWithShape="1">
          <a:blip xmlns:r="http://schemas.openxmlformats.org/officeDocument/2006/relationships" r:embed="R207e70d5036a454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0E5DE6-5090-AD1C-448C-54A9D26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e1fabee3688d4ff5" /><Relationship Type="http://schemas.openxmlformats.org/officeDocument/2006/relationships/theme" Target="/ppt/slideMasters/theme/theme2.xml" Id="R70fd4bfca179458e" /><Relationship Type="http://schemas.openxmlformats.org/officeDocument/2006/relationships/slideLayout" Target="/ppt/slideLayouts/slideLayout1.xml" Id="R1ea1b8d54cc548b9" /><Relationship Type="http://schemas.openxmlformats.org/officeDocument/2006/relationships/slideLayout" Target="/ppt/slideLayouts/slideLayout2.xml" Id="R664c388704414a95" /><Relationship Type="http://schemas.openxmlformats.org/officeDocument/2006/relationships/slideLayout" Target="/ppt/slideLayouts/slideLayout3.xml" Id="Rc006290374c0466e" /><Relationship Type="http://schemas.openxmlformats.org/officeDocument/2006/relationships/slideLayout" Target="/ppt/slideLayouts/slideLayout4.xml" Id="Rdc10e698a0c04655" /><Relationship Type="http://schemas.openxmlformats.org/officeDocument/2006/relationships/slideLayout" Target="/ppt/slideLayouts/slideLayout5.xml" Id="R08ce837016dd4496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1fabee3688d4ff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a1b8d54cc548b9"/>
    <p:sldLayoutId xmlns:r="http://schemas.openxmlformats.org/officeDocument/2006/relationships" id="2147483650" r:id="R664c388704414a95"/>
    <p:sldLayoutId xmlns:r="http://schemas.openxmlformats.org/officeDocument/2006/relationships" id="2147483651" r:id="Rc006290374c0466e"/>
    <p:sldLayoutId xmlns:r="http://schemas.openxmlformats.org/officeDocument/2006/relationships" id="2147483652" r:id="Rdc10e698a0c04655"/>
    <p:sldLayoutId xmlns:r="http://schemas.openxmlformats.org/officeDocument/2006/relationships" id="2147483653" r:id="R08ce837016dd4496"/>
  </p:sldLayoutIdLst>
  <p:txStyles>
    <p:titleStyle>
      <a:lvl1pPr xmlns:a="http://schemas.openxmlformats.org/drawingml/2006/main" algn="l" defTabSz="914400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 kern="1200" baseline="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 kern="1200" baseline="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 kern="1200" baseline="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 kern="1200" baseline="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 kern="1200" baseline="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xmlns:a="http://schemas.openxmlformats.org/drawingml/2006/main" val="F26B43"/>
          </p15:clr>
        </p15:guide>
        <p15:guide id="4" orient="horz" pos="1440">
          <p15:clr>
            <a:srgbClr xmlns:a="http://schemas.openxmlformats.org/drawingml/2006/main" val="F26B43"/>
          </p15:clr>
        </p15:guide>
        <p15:guide id="6" orient="horz" pos="3696">
          <p15:clr>
            <a:srgbClr xmlns:a="http://schemas.openxmlformats.org/drawingml/2006/main" val="F26B43"/>
          </p15:clr>
        </p15:guide>
        <p15:guide id="7" orient="horz" pos="432">
          <p15:clr>
            <a:srgbClr xmlns:a="http://schemas.openxmlformats.org/drawingml/2006/main" val="F26B43"/>
          </p15:clr>
        </p15:guide>
        <p15:guide id="8" orient="horz" pos="1512">
          <p15:clr>
            <a:srgbClr xmlns:a="http://schemas.openxmlformats.org/drawingml/2006/main" val="F26B43"/>
          </p15:clr>
        </p15:guide>
        <p15:guide id="9" pos="6912">
          <p15:clr>
            <a:srgbClr xmlns:a="http://schemas.openxmlformats.org/drawingml/2006/main" val="F26B43"/>
          </p15:clr>
        </p15:guide>
        <p15:guide id="10" pos="936">
          <p15:clr>
            <a:srgbClr xmlns:a="http://schemas.openxmlformats.org/drawingml/2006/main" val="F26B43"/>
          </p15:clr>
        </p15:guide>
        <p15:guide id="11" pos="864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c17c52caf4870" /><Relationship Type="http://schemas.openxmlformats.org/officeDocument/2006/relationships/notesSlide" Target="/ppt/notesSlides/notesSlide1.xml" Id="Rbc99554a63b242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11d68c0f5d45de" /><Relationship Type="http://schemas.openxmlformats.org/officeDocument/2006/relationships/notesSlide" Target="/ppt/notesSlides/notesSlide2.xml" Id="Rda1bbbefb87b4e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930eb416b341e4" /><Relationship Type="http://schemas.openxmlformats.org/officeDocument/2006/relationships/notesSlide" Target="/ppt/notesSlides/notesSlide3.xml" Id="R31006b9d98a947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1493de975d4971" /><Relationship Type="http://schemas.openxmlformats.org/officeDocument/2006/relationships/notesSlide" Target="/ppt/notesSlides/notesSlide4.xml" Id="Ra26b92eb079949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66d2cc9a1c4841" /><Relationship Type="http://schemas.openxmlformats.org/officeDocument/2006/relationships/notesSlide" Target="/ppt/notesSlides/notesSlide5.xml" Id="Rc5b70f29a78b4a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2e04fa266e542c2" /><Relationship Type="http://schemas.openxmlformats.org/officeDocument/2006/relationships/notesSlide" Target="/ppt/notesSlides/notesSlide6.xml" Id="R600496c7976f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bbe6d0034a4e38" /><Relationship Type="http://schemas.openxmlformats.org/officeDocument/2006/relationships/notesSlide" Target="/ppt/notesSlides/notesSlide7.xml" Id="R7e057e6caa8e42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ff47eec5d340eb" /><Relationship Type="http://schemas.openxmlformats.org/officeDocument/2006/relationships/notesSlide" Target="/ppt/notesSlides/notesSlide8.xml" Id="R311adb9c4f4d41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b9feb136194a6d" /><Relationship Type="http://schemas.openxmlformats.org/officeDocument/2006/relationships/notesSlide" Target="/ppt/notesSlides/notesSlide9.xml" Id="Ra1e30f92016f48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1ffd4bd2c348ce" /><Relationship Type="http://schemas.openxmlformats.org/officeDocument/2006/relationships/notesSlide" Target="/ppt/notesSlides/notesSlide10.xml" Id="R5da6f396505f48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9237bf6070498b" /><Relationship Type="http://schemas.openxmlformats.org/officeDocument/2006/relationships/notesSlide" Target="/ppt/notesSlides/notesSlide11.xml" Id="R409b63390f6346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596324e1d6410c" /><Relationship Type="http://schemas.openxmlformats.org/officeDocument/2006/relationships/notesSlide" Target="/ppt/notesSlides/notesSlide12.xml" Id="R0d376f975a474d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f6b46eb014491d" /><Relationship Type="http://schemas.openxmlformats.org/officeDocument/2006/relationships/notesSlide" Target="/ppt/notesSlides/notesSlide13.xml" Id="Rf4f779aee1434c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3c914697774e19" /><Relationship Type="http://schemas.openxmlformats.org/officeDocument/2006/relationships/notesSlide" Target="/ppt/notesSlides/notesSlide14.xml" Id="R53efbc7c0d7a4f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2528B-1591-44DD-BCAF-82EB0656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9138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ePTW SYSTEM REBUILD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34EF5-48EB-4108-8B0B-1D9109D2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Proposal for a controlled, secure and maintainable Permit-to-Work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1CA6D-C41A-4D28-9A09-FC173C6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Prepared for solution alignment and implementation planning</a:t>
            </a:r>
          </a:p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628555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52F4E-BD12-4E2C-9589-6D3C094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875C1-E3A1-4D36-A51B-1CC819DC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Executive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550A4-52D5-499B-BDEA-3BE3CD1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requested for the rebuild direction, with policy decisions closed before schema freeze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86632-EDF8-46D5-A37F-601F71B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C36A1-0FEB-43E1-BEE0-ED85E711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ePTW around one controlled permit domain, a server-enforced workflow and a PostgreSQL system of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F7526-8DA4-4C65-A1D6-9B873980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2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081ED-A7F0-48CD-8323-9F270665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6627C-C983-4F89-ABF0-B605960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 consistent permit journey with clearer responsibilities, stronger access control and reliable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A6025-3695-463E-8521-C86D160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0C667-28BA-485D-B413-A4F7929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Technical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8508D-1AE9-4AB6-AEE6-4B2D7A53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22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React web application, dedicated API and workflow service, PostgreSQL, protected file storage and a transactional notification outbox.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BF2FA-7C63-445A-90B3-90C92DF6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B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40D19-6E67-4F9A-8045-7F0A8F9B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13F4D-249D-4753-AAE8-2273E84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496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Freeze policy decisions, profile production data, build in increments, rehearse migration and cut over only after reconciliation gates pass.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B3100-4B4F-4B64-9707-B445C90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Immediate ask: authorize requirements closure and read-only production data profiling.</a:t>
            </a:r>
          </a:p>
        </p:txBody>
      </p:sp>
    </p:spTree>
    <p:extLst>
      <p:ext uri="{BB962C8B-B14F-4D97-AF65-F5344CB8AC3E}">
        <p14:creationId xmlns:p14="http://schemas.microsoft.com/office/powerpoint/2010/main" val="3593441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497EC-42FC-4964-A91F-7D2F716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9F537-1EF9-4293-B115-009E1FD1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Evidence base and authority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32CF1-616F-4AC6-B5D8-0C373A4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Three sources contribute different types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95B89-3A5D-497F-8868-FC945F1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54FCD-D451-40A7-995E-27DD7593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147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F7623-04A6-4D42-990A-48AE079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95-page confirmation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71068-6F8B-4EDF-AC7B-4B6E0F7A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roles, user journeys, visibility, templates, closure, notifications, reporting and 16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1C90C-1639-4A9F-8B35-40435E4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56296-EB1C-414A-9757-090E6DFC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Backend redesign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40D79-7B97-449C-A56D-68833051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5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PostgreSQL proposal and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8C12C-5623-49BD-BF00-961E80C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50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the target domain model, 27 application tables, three migration-control tables and a phased cutover approach.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C03B7-41B6-48E5-9962-7C9E39D4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DB768-2888-42A1-BCA2-10684047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Frontend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3E346-9830-409A-A052-33113096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5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React and TypeScript functional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F6BC0-13E1-4430-A76A-90FC4DE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Demonstrates role-aware navigation, sequential approvals, linked Hot Work permits, revisions, lifecycle actions and audit views.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B7C04-F43F-4578-B1B9-C550088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CD70E-5899-4FFA-91F4-9A07759E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Recommended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53386-7BD1-47FA-8187-3E5C775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Business requirements decide behaviour. The backend proposal decides implementation. The frontend prototype proves interaction patterns and controls, but does not define production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A2A8C-3A9C-41C4-98FA-C63D666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816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597"/>
          </a:bodyPr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450" b="0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Prototype verification: production build succeeded and all 20 automated tests passed on 11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14520736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7E26F-C032-4E88-B478-183E38B9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FFCCD-5A97-4CC3-B146-1F178632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Why the current platform needs a rebuild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8C03D-00C5-4C51-AADE-7C6B5601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same defects affect safety control, data integrity and operating effort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B9B99-0256-4D07-A56A-8FC22211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08FCF-207E-4BD5-9531-29205244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716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Four permit shapes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211D1-A70C-42A9-B39D-C4897BD1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716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Parent permits, drafts, embedded children and child permits require duplicated logic and merged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AE918-3B26-4BBC-AA63-42A093C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98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820B7-AE1A-4140-A366-17C85A3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29F22-3DE1-4E6D-96B1-3D720A54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4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Approval state is implicit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55886-E741-46B3-8F19-B4B46538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Reviewer arrays and mutable group membership can change the meaning of an in-flight permit.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2BD58-B520-4C72-85A7-2A52D69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88E09-A3D3-49E3-8FD6-1686669A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34F85-93B8-4A86-AF9F-8AD1C6D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52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91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Operational data is untyped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F8FE6-8EB7-41C7-8006-2419A8FD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Dates and key fields appear in several formats and template-specific answer keys.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3AE9E-3CCF-4749-8CC6-826BA228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FF46A-D7AD-4339-9E74-F427FA8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F00B4-4E9E-463D-AFFD-54A5F79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53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History is difficult to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DAF5F-D8F0-4D06-9CA0-85A98EA5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String logs and permit-shaped document copies cannot support precise filtering or reconciliation.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EEE57-6089-4C75-A97F-AFB2EBE3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88B6A-6CDC-42B9-B490-2F2BFB3B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F5214-EB46-45F3-BC68-9E51D91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65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Integrity depends on application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805E4-558D-40FD-96AC-1D1FF293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339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Numbering races, weak uniqueness and hard-coded identifiers create avoidable failure modes.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409AA-ED36-4ACE-BC6A-592C2E3D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589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Repository inspection cannot quantify live defects. Production profiling must establish row counts, duplicates, nulls, orphaned references and historical variants.</a:t>
            </a:r>
          </a:p>
        </p:txBody>
      </p:sp>
    </p:spTree>
    <p:extLst>
      <p:ext uri="{BB962C8B-B14F-4D97-AF65-F5344CB8AC3E}">
        <p14:creationId xmlns:p14="http://schemas.microsoft.com/office/powerpoint/2010/main" val="6697443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9DB97D-C846-4911-92BB-504D013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AAF37-0C78-488E-A135-6333F2B5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user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8077C-8D6D-4D44-8EA4-8903627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One traceable permit journey from creation to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DE756-4216-4FEF-BE09-5C9CAFE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C1339-1257-4E8E-B73F-6313BADC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92B8E-E4E0-4788-AE5A-C60A291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C6C96-F8C5-4A6C-ABE0-2F8665D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Template-driven form, reserved fields, files and linked child permits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0A0D3-8597-41B0-AAC7-2D5A987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76450-D5D5-412D-B5B5-EEC8BB2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9FFCC-7666-4D90-BFE1-F8A65CB2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BB4C6-D971-48E0-84C5-F44BB1A7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2219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Validation completes and the company-specific approval route is fixed</a:t>
            </a:r>
          </a:p>
        </p:txBody>
      </p: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CD99B-AB14-40A3-B7E5-D07266F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52369-2497-4AAF-922F-17E9C09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83EBB-A820-4822-AF16-66AB202A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AD16A-80F8-4B78-8F25-E6F88AAC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961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current reviewer can act; reasons and signatures are recorded</a:t>
            </a:r>
          </a:p>
        </p:txBody>
      </p: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8147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0A082-97C8-4482-B2AF-F3244646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6A353-3D25-45DC-BBFE-B3CF1AB5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B9E4A-B2F2-4623-BDEA-7A7AD9CD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87712-5A06-420E-B8A5-910B7E65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39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Approved work, readings, controlled amendments and lifecycle actions</a:t>
            </a:r>
          </a:p>
        </p:txBody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7695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385CF-DCE3-4BA7-886E-F51156B1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78453-C0AE-45E6-9923-A0BEB3D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73F40-86A1-4F69-9EDA-07851299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95EFB-249D-4559-B672-B840B6F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5000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Signed request, authorised confirmation and independent child outcomes</a:t>
            </a:r>
          </a:p>
        </p:txBody>
      </p: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97242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B3DEA-3220-40B2-875D-A1D8224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F71629-3BDC-4516-98B8-239C6036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0F526-BAB2-44C6-B43B-2E86615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181489-76B8-46EB-8B4E-4E60807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73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Search, PDF generation, dashboards and retained audit history</a:t>
            </a:r>
          </a:p>
        </p:txBody>
      </p: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679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7A3195-E8EA-4F4E-A9E0-A7DBC133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907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Cross-cutting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E900DA-3D6C-4656-86F0-F77C980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365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Server-side authorization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5D129-87CC-4713-A134-831FB3AF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671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Versioned templates and revisions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A73F43-DB93-482F-B381-812B5789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Append-only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0085D-87EB-4345-9A40-4577F0AD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UTC storage with Singapore display 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379D66-25CD-46AA-98EF-047E251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299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Administration covers users, companies, sites, maps, disciplines, reviewer groups, templates, announcements and report access.</a:t>
            </a:r>
          </a:p>
        </p:txBody>
      </p:sp>
    </p:spTree>
    <p:extLst>
      <p:ext uri="{BB962C8B-B14F-4D97-AF65-F5344CB8AC3E}">
        <p14:creationId xmlns:p14="http://schemas.microsoft.com/office/powerpoint/2010/main" val="1096835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2CF38-D45E-4E06-9BE5-579C493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84C04-6216-46E3-AFB2-5077C98E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F1829-92C5-471D-895A-5A9C5E2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dedicated service boundary moves security and workflow rules out of the 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CCA3-A396-4A34-A2BF-2B155A65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81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9C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9D617-5D20-42CF-8B15-9CFEF81D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66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React web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22843-A494-4FF7-A3C0-52267D9A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337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41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Role-aware navigation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Permit forms and lists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 and reporting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8B57A-8C66-452F-BA3A-41E705E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3476625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9ED3C-D09B-4D3D-8D27-2F5997A1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801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API and workflow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4F6BA-027D-4852-AD81-8D913BD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1199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 and authorization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Validation and state transitions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Approval sequencing and audit events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Search, document and report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9FB4E-96AA-4F45-9499-ABE38EB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11D8A-3C58-4A8F-A3CD-F688FBB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97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C2C5F-96C8-486B-B182-D146B8C5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CFE5F6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CFE5F6"/>
                </a:solidFill>
                <a:latin typeface="Segoe UI"/>
                <a:ea typeface="Segoe UI"/>
                <a:cs typeface="Segoe UI"/>
              </a:rPr>
              <a:t>System of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2A1F3-ABF2-45FB-BA52-180AFFC4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95C47-94E2-417A-91D5-0E367FE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Protected file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B61A2-7C7B-4C11-A37D-C0BF3588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553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Attachments and generated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D2C27-6944-4379-8781-CA963C4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E0954-820D-4A49-99DF-99C67219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720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Email delivery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3778E-D419-440D-BEF1-8514892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339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Transactional outbox and retries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3429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715250" y="2400300"/>
            <a:ext cx="11430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429000"/>
            <a:ext cx="11430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15250" y="3429000"/>
            <a:ext cx="1143000" cy="1609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EEEE2-2736-4187-B3C3-C0D7186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593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26B43"/>
                </a:solidFill>
                <a:latin typeface="Segoe UI"/>
                <a:ea typeface="Segoe UI"/>
                <a:cs typeface="Segoe UI"/>
              </a:rPr>
              <a:t>Security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64C28-E74B-4916-8C49-9293E8BF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6732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Read models and scheduled exports use the same canonical data and status rules as the operational API.</a:t>
            </a:r>
          </a:p>
        </p:txBody>
      </p:sp>
    </p:spTree>
    <p:extLst>
      <p:ext uri="{BB962C8B-B14F-4D97-AF65-F5344CB8AC3E}">
        <p14:creationId xmlns:p14="http://schemas.microsoft.com/office/powerpoint/2010/main" val="449646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82241-937F-4616-B164-FF3138C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F411A-4AB5-4D37-A62C-FE7E92F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Database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A2725-6410-454C-B989-E0BC3ED8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target model reduces duplication and makes workflow and reporting queryable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905250"/>
                <a:gridCol w="4762500"/>
              </a:tblGrid>
              <a:tr h="6000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Concern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Target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permits, drafts, embedded children and childpermits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One permits table; draft is a status and child is a self-reference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Workflow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arrays and overlapping state fields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Ordered approval steps, eligible members and immutable action records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fields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Mixed dates, strings and template-specific keys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Typed canonical columns; JSONB only for dynamic answers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Human-readable strings and permit-shaped PDF copies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Append-only events, immutable revisions and generated document links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Templates and numbering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template references and application-side counters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Pinned template versions and transactional sequences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85EB1-C7F0-4E25-B6FA-CC0A3D98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Result: predictable filtering, reliable audit reconstruction and a migration path that preserves legacy evidence.</a:t>
            </a:r>
          </a:p>
        </p:txBody>
      </p:sp>
    </p:spTree>
    <p:extLst>
      <p:ext uri="{BB962C8B-B14F-4D97-AF65-F5344CB8AC3E}">
        <p14:creationId xmlns:p14="http://schemas.microsoft.com/office/powerpoint/2010/main" val="12313531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83B4B-AD3D-4C65-A991-B02B5C3E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DF650-11A0-45C4-8FAF-CB8F1CFB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Workflow controls proven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809DA-8834-4471-B7EF-7A07B90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production service should retain the control intent while adopting the confirmed business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2794D-10F9-486A-840E-1BB5BCA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83F79-636B-4F11-930F-36E67ED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Complete permit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6E55B-9D39-4800-B7E5-55066A9C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Required permit and safety fields must pass validation before submission.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85967-AC58-4550-8B32-116438E7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17F53-2311-4B64-9D23-00FE30E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Enforce current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F94C1-7656-4BB2-907A-07746071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assigned role can act. Separation of duties blocks self-approval.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6A818-AC33-4FF1-AE73-2449E265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74D11-6511-4E76-A1D1-E7EE4AB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Record every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2F61D-C87F-4AF8-B9F9-FEFC409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Approvals, rejection reasons, status changes and revision events remain traceable.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1E4E7-6F13-4636-B4C2-C1370171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F8857-575E-446C-A504-C3D181F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Control operational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DB191-F688-4B0E-B892-1C84666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Activation, suspension, resumption, closure and expiry checks use one policy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FCEFC-FC69-4260-841A-5522FB16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AA976-4AAC-4B21-A1C5-FD10FC9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Preserve revisions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B0711-5527-4D35-A7D1-F72A6CA2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revised permit returns for approval and prior approved revisions become superseded.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98D58-C48F-4013-AFBB-ECF1B1E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0D44A-0850-4A60-8AEA-9CB1813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Handle linked permits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4FAF9-8408-4047-BAC4-92A83AC6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Hot Work selection creates a linked child permit; final parent gating remains a policy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10146-DE23-4738-81E3-CBBE951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Current prototype chain: Individual Reviewer, MT Group, Permit Manager. Requirements propose a company-driven chain with Host, Host Manager, optional stages and OPS.</a:t>
            </a:r>
          </a:p>
        </p:txBody>
      </p:sp>
    </p:spTree>
    <p:extLst>
      <p:ext uri="{BB962C8B-B14F-4D97-AF65-F5344CB8AC3E}">
        <p14:creationId xmlns:p14="http://schemas.microsoft.com/office/powerpoint/2010/main" val="13064679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F1115-FEDF-4E74-8379-FEAD3698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B078C-6776-4B66-A2CE-B14E669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Policy decisions required before schema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486C6-A832-4551-98B0-6BF1116D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supplied sources differ on six behaviours that directly affect data structures and workflow code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2009775"/>
          <a:ext xmlns:a="http://schemas.openxmlformats.org/drawingml/2006/main" cx="111442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857500"/>
                <a:gridCol w="3048000"/>
                <a:gridCol w="3524250"/>
              </a:tblGrid>
              <a:tr h="5783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Decision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Requirements review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or prototype position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Recommended action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roles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Company-driven Host chain with optional stages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uses Individual Reviewer, MT Group and PM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one canonical role and stage model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Parent-child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 and child approval may proceed independently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blocks parent final approval until required child approval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whether approval or only work start is gated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group changes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Changes update every live permit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snapshots eligibility at submission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Choose audit certainty or live reassignment semantics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 changes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Labels and ordering may change after publish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makes published versions immutable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 every published change and define edit rules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PDF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Generate on demand from current state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includes revisions and generated document records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retention, evidence and regeneration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No dedicated Expired status proposed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contains EXPIRED and automatic 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status, flag and reporting behaviour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18B4B-E58C-4BEF-A2C1-05AD0EB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Recommendation: close these decisions in a short design authority workshop and record them as testable acceptance rules.</a:t>
            </a:r>
          </a:p>
        </p:txBody>
      </p:sp>
    </p:spTree>
    <p:extLst>
      <p:ext uri="{BB962C8B-B14F-4D97-AF65-F5344CB8AC3E}">
        <p14:creationId xmlns:p14="http://schemas.microsoft.com/office/powerpoint/2010/main" val="3707062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19C365-5AA0-46D4-A9EB-AEF5AE5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1827-AA15-4554-BB39-C9CC0D24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cutover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2062B-0282-424A-8A85-9F200791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restartable, evidence-preserving migration reduces operational and audit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8D25E-4F47-4FED-8576-7C4EE6B1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E69E4-46B8-485D-B6BD-3770E33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068E5-7805-4610-8177-FE7EBB06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Inventory and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E21D6-01CD-4E9D-AFCB-3FF5ECD3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17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Profile a sanitized production snapshot. Resolve status, key mapping, numbering, retention and duplicate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EABB3-5116-4553-AAA0-8E83262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0F7A9-BE38-4FEE-89D7-FB0DA019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3A2D0-69F0-4342-B9E0-65BF09DC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1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Build and rehearse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C994D-4307-43D1-B665-EC1F7AD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Deploy an empty PostgreSQL schema. Load reference data, users, templates and permits with deterministic mappings.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1937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00037-BA2F-44F0-90F7-51BAA1CF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51EED-EFAD-41E6-AC2A-52BC5DB8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E7358-A7F3-4DF6-8511-1B3D2349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Reconstruct permit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DC039-FC57-4141-9949-1E95A02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Extract canonical fields, migrate children and retain the unmodified legacy submission in the first revision.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9FC15-D26C-400F-AE23-5B463996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EA4EE-18CE-4FE5-9503-D45AE7A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0DBD4-A198-4918-B670-5A1D326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workflow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61F4A-5529-47E9-B089-5C8B7633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074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Recreate approval steps and events conservatively. Flag ambiguity instead of inventing historical order.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1042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1607A-AEBA-43A2-A4FF-B65E7763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B4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9D225-828E-4A09-8934-B506EA28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73896-4023-4C64-AAF7-34DA4DBD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Synchronize and cut 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65349-01BF-4D8A-A22A-362B8EDF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47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Run change capture or a short freeze, reconcile, switch traffic and retain a rollback window.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50595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5CE9E-7D02-46F2-A4F9-6D3B3D2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Reconciliation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19070-FB43-4229-B28E-561BAF3D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82FF29-7D68-48E3-A357-A17CC0F8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Every source record is migrated, explicitly excluded or quarantined with a reason.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3A29D-16F4-4D7D-812F-DD449E6C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C0CFA-A333-4D67-8AC4-71AB2802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Counts reconcile by status, site, template, parent-child relationship and approval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3393F-7706-4263-99C0-1043EE2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Cutover proceeds only after critical reconciliation gates pass.</a:t>
            </a:r>
          </a:p>
        </p:txBody>
      </p:sp>
    </p:spTree>
    <p:extLst>
      <p:ext uri="{BB962C8B-B14F-4D97-AF65-F5344CB8AC3E}">
        <p14:creationId xmlns:p14="http://schemas.microsoft.com/office/powerpoint/2010/main" val="414173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832B0-24AE-441C-BA16-90C9FFA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199DD-AB54-4729-8405-2CA7D08A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86D4A-668F-46DC-A1B0-0031A104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sequence protects domain decisions first and postpones irreversible migration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2AAAA-4778-46AE-9A0E-18DE007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CF5A6-0515-416C-9C9C-FCE20E0A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Domain alignment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A617B-25C2-4644-B259-8822CB6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Close the six policy decisions, acceptance rules and role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38BAE-6838-43CD-B200-38621C6B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12612-EDDE-4E62-8FAD-A94943C7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FBCCE-275E-436A-8EE8-90472740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Platform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0AF09-152F-494B-B1B2-D117AE31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Authentication, authorization, schema, files, event logging and deployment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8A086-B364-4382-ABBB-953B418F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42A84-8908-4B5F-96BF-42DC7FCC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D274E-06AA-43FD-978B-8FB1948F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Permit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C1DFC-B013-4AB8-B7AB-A93CF43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829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Creation, child logic, approvals, operational actions, closure and revisions.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ED887-FCCA-4C29-8FFB-1270D82D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1F6B1-4E9D-4125-A9AD-6A4B876A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CA60C-34DD-4F74-B426-5298784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309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Administration and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62B4F-EFEE-45E4-9713-120F221B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Configuration screens, search, dashboards, PDF and scheduled exports.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08E30-D514-48B7-B625-596D351B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2DF8F-7AB2-47F4-A6FB-F22E5E1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938BF-8D1A-469B-B489-5EB4C3A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1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9016D-E7FB-4671-A613-9C7E167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Profiling, ETL rehearsals, reconciliation, training, cutover and hypercare.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9B96E-332C-49F3-8B1B-13FE6DD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12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Each track ends with working software, automated controls and explicit exit criteria. Time and staffing estimates follow the profiling and domain-alignment work.</a:t>
            </a:r>
          </a:p>
        </p:txBody>
      </p:sp>
    </p:spTree>
    <p:extLst>
      <p:ext uri="{BB962C8B-B14F-4D97-AF65-F5344CB8AC3E}">
        <p14:creationId xmlns:p14="http://schemas.microsoft.com/office/powerpoint/2010/main" val="13549487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2456B-D79B-4EF4-879D-BA618E1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50463-B38C-4379-8CA6-F1DDA4B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Principal delivery risks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8A5C1-3414-4ED5-B58C-691ACF80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main risks can be reduced before production migration begins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333750"/>
                <a:gridCol w="4857750"/>
              </a:tblGrid>
              <a:tr h="5687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Risk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Potential impact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control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Unresolved workflow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rework and inconsistent approvals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Design authority workshop with signed acceptance rules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Unknown legacy data variants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Migration errors or incomplete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Sanitized snapshot profiling, quarantine and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Authorization implemented only in UI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bypass or cross-company exposure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policy checks and negative security tests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configuration changes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Past permits become difficult to explain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Versioned templates and explicit reviewer-change events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Reporting logic diverges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disagree and trust falls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Canonical date/status definitions and shared read models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Cutover without rollback evidence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Extended operational disruption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Rehearsed cutover, rollback window and post-switch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FF752-309E-4172-8546-9BA1621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Risk ownership and thresholds should be assigned during implementation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0796183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0A55F-7EB8-49E8-BF5F-1BFE15B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35D28-E619-4ED0-AD44-E6CD95E1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Decision requested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73FB-51B8-4C3F-80C2-030BAC39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now enables controlled discovery without committing to an unverified migration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7F11D-C199-47D6-A7E5-94A550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53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Approve the rebuild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0BE53-C9C9-48F3-B940-7F2D0C1E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AAF94-5141-4D86-AFA1-D5A58C3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PostgreSQL becomes the system of record for permits, workflow and audit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7ED09-A116-4390-A747-EE8CA3D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873BE-630C-45F4-8201-821CBC4F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92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95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The React frontend continues as the interaction baseline, backed by production services and server-side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8976A-1EB8-4BC3-B142-B7C4D110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45E9E-C3A3-498E-9D07-0590A8B4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Migration follows a profiled, restartable and reconciled cutover process.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CE004-B04D-425F-88F8-2A0788C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5148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FCF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ADEAC-3180-4DB9-BECA-5998C0E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Authorize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4C39B-DC0F-4223-8218-2212FAAA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A9364-6DE0-4821-A577-6DEE8B2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037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 policy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C5F96-BA8F-4D7C-9BA5-6D51FD3F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9565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Confirm roles, gating, group changes, templates, PDF history and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E1B4C-DCCB-4BBC-9882-F5326B9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1EFEF-5A4F-47A8-9BAF-A04F1BF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338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Profile production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CED5C-E537-497C-9D2B-764A46AB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291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Use a recent sanitized snapshot and publish the reconciliation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9964C-4927-4B76-828D-F435F32F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76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F4EC8-3BE2-4090-BE59-29804772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6727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Plan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5CCEF-D56E-4117-88B5-BA9315BA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6255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3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Assign owners, delivery capacity, environments and measurable exit criteria.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CF2C7-0D7E-4352-903D-E6D0B8A7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Production build and migration dates follow these three actions.</a:t>
            </a:r>
          </a:p>
        </p:txBody>
      </p:sp>
    </p:spTree>
    <p:extLst>
      <p:ext uri="{BB962C8B-B14F-4D97-AF65-F5344CB8AC3E}">
        <p14:creationId xmlns:p14="http://schemas.microsoft.com/office/powerpoint/2010/main" val="10804197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CA70B-FB8E-4A64-813F-633BF775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A1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FEFCD-9469-4414-903E-F3842FB4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2870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Appendix: frontend prototype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05EE8-CF39-4628-827D-344A17EC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codebase demonstrates workflow intent but remains a browser-based functional draft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38350"/>
          <a:ext xmlns:a="http://schemas.openxmlformats.org/drawingml/2006/main" cx="108585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810250"/>
              </a:tblGrid>
              <a:tr h="51792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Demonstrated now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capability still required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Role-aware navigation and permit queues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Real identity provider integration, sessions and server authorization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Template-driven permit creation and validation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Published template versioning, reserved-field enforcement and file services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Sequential review decisions and separation of duties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role chain, delegation policy, concurrency and transactional workflow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Linked Hot Work child permit and parent controls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Full B1-B5/LSS rules, merge semantics and decision on approval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Activation, suspension, closure, expiry and revisions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status model, notifications, scheduled jobs and immutable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Admin screens for users, sites, maps, templates and groups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Persistent master data, soft deletion, audit logging and permission checks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17922"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Local search, audit register and PDF action placeholders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search, dashboards, exports, document generation and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9C20F-D50E-4A60-AC8E-1062D04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rPr>
              <a:t>Verification: React production build succeeded; 3 test files and 20 tests passed.</a:t>
            </a:r>
          </a:p>
        </p:txBody>
      </p:sp>
    </p:spTree>
    <p:extLst>
      <p:ext uri="{BB962C8B-B14F-4D97-AF65-F5344CB8AC3E}">
        <p14:creationId xmlns:p14="http://schemas.microsoft.com/office/powerpoint/2010/main" val="1554452152"/>
      </p:ext>
    </p:extLst>
  </p:cSld>
</p:sld>
</file>

<file path=ppt/theme/theme1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2026-09-11T06:24:23.7300000Z</dcterms:created>
  <dcterms:modified xsi:type="dcterms:W3CDTF">2026-09-11T06:24:23.7300000Z</dcterms:modified>
</coreProperties>
</file>