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51a4e587644ef2" /><Relationship Type="http://schemas.openxmlformats.org/officeDocument/2006/relationships/extended-properties" Target="/docProps/app.xml" Id="R7e5d687c03c74253" /><Relationship Type="http://schemas.openxmlformats.org/officeDocument/2006/relationships/officeDocument" Target="/ppt/presentation.xml" Id="Rabe943162ae94a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667cc572fb4467"/>
  </p:sldMasterIdLst>
  <p:notesMasterIdLst>
    <p:notesMasterId xmlns:r="http://schemas.openxmlformats.org/officeDocument/2006/relationships" r:id="Rc247e3a503464085"/>
  </p:notesMasterIdLst>
  <p:sldIdLst>
    <p:sldId xmlns:r="http://schemas.openxmlformats.org/officeDocument/2006/relationships" id="256" r:id="R0c68594579914098"/>
    <p:sldId xmlns:r="http://schemas.openxmlformats.org/officeDocument/2006/relationships" id="257" r:id="R785e6a6960084ef0"/>
    <p:sldId xmlns:r="http://schemas.openxmlformats.org/officeDocument/2006/relationships" id="258" r:id="Rd799312fc6584da9"/>
    <p:sldId xmlns:r="http://schemas.openxmlformats.org/officeDocument/2006/relationships" id="259" r:id="R2246f99a0c114e0c"/>
    <p:sldId xmlns:r="http://schemas.openxmlformats.org/officeDocument/2006/relationships" id="260" r:id="Rf653b15246df450e"/>
    <p:sldId xmlns:r="http://schemas.openxmlformats.org/officeDocument/2006/relationships" id="261" r:id="Rb02b23109bbd40ca"/>
    <p:sldId xmlns:r="http://schemas.openxmlformats.org/officeDocument/2006/relationships" id="262" r:id="R0cc1a40e4348413e"/>
    <p:sldId xmlns:r="http://schemas.openxmlformats.org/officeDocument/2006/relationships" id="263" r:id="R9df91f31dd9a4038"/>
    <p:sldId xmlns:r="http://schemas.openxmlformats.org/officeDocument/2006/relationships" id="264" r:id="R36969b847394439a"/>
    <p:sldId xmlns:r="http://schemas.openxmlformats.org/officeDocument/2006/relationships" id="265" r:id="R1c80db275df74102"/>
    <p:sldId xmlns:r="http://schemas.openxmlformats.org/officeDocument/2006/relationships" id="266" r:id="R0f307abe8e814986"/>
    <p:sldId xmlns:r="http://schemas.openxmlformats.org/officeDocument/2006/relationships" id="267" r:id="R1cb36944586749b0"/>
    <p:sldId xmlns:r="http://schemas.openxmlformats.org/officeDocument/2006/relationships" id="268" r:id="Re284571667a04711"/>
    <p:sldId xmlns:r="http://schemas.openxmlformats.org/officeDocument/2006/relationships" id="269" r:id="R4c4066286bc14d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ebc8e39603469c" /><Relationship Type="http://schemas.openxmlformats.org/officeDocument/2006/relationships/slideMaster" Target="/ppt/slideMasters/slideMaster1.xml" Id="R4c667cc572fb4467" /><Relationship Type="http://schemas.openxmlformats.org/officeDocument/2006/relationships/notesMaster" Target="/ppt/notesMasters/notesMaster1.xml" Id="Rc247e3a503464085" /><Relationship Type="http://schemas.openxmlformats.org/officeDocument/2006/relationships/presProps" Target="/ppt/presProps.xml" Id="R09ca5b4d2fc84b1b" /><Relationship Type="http://schemas.openxmlformats.org/officeDocument/2006/relationships/viewProps" Target="/ppt/viewProps.xml" Id="Rb31e66d47b864ec2" /><Relationship Type="http://schemas.openxmlformats.org/officeDocument/2006/relationships/tableStyles" Target="/ppt/tableStyles.xml" Id="Rff34a8d9edf249ee" /><Relationship Type="http://schemas.openxmlformats.org/officeDocument/2006/relationships/slide" Target="/ppt/slides/slide1.xml" Id="R0c68594579914098" /><Relationship Type="http://schemas.openxmlformats.org/officeDocument/2006/relationships/slide" Target="/ppt/slides/slide2.xml" Id="R785e6a6960084ef0" /><Relationship Type="http://schemas.openxmlformats.org/officeDocument/2006/relationships/slide" Target="/ppt/slides/slide3.xml" Id="Rd799312fc6584da9" /><Relationship Type="http://schemas.openxmlformats.org/officeDocument/2006/relationships/slide" Target="/ppt/slides/slide4.xml" Id="R2246f99a0c114e0c" /><Relationship Type="http://schemas.openxmlformats.org/officeDocument/2006/relationships/slide" Target="/ppt/slides/slide5.xml" Id="Rf653b15246df450e" /><Relationship Type="http://schemas.openxmlformats.org/officeDocument/2006/relationships/slide" Target="/ppt/slides/slide6.xml" Id="Rb02b23109bbd40ca" /><Relationship Type="http://schemas.openxmlformats.org/officeDocument/2006/relationships/slide" Target="/ppt/slides/slide7.xml" Id="R0cc1a40e4348413e" /><Relationship Type="http://schemas.openxmlformats.org/officeDocument/2006/relationships/slide" Target="/ppt/slides/slide8.xml" Id="R9df91f31dd9a4038" /><Relationship Type="http://schemas.openxmlformats.org/officeDocument/2006/relationships/slide" Target="/ppt/slides/slide9.xml" Id="R36969b847394439a" /><Relationship Type="http://schemas.openxmlformats.org/officeDocument/2006/relationships/slide" Target="/ppt/slides/slide10.xml" Id="R1c80db275df74102" /><Relationship Type="http://schemas.openxmlformats.org/officeDocument/2006/relationships/slide" Target="/ppt/slides/slide11.xml" Id="R0f307abe8e814986" /><Relationship Type="http://schemas.openxmlformats.org/officeDocument/2006/relationships/slide" Target="/ppt/slides/slide12.xml" Id="R1cb36944586749b0" /><Relationship Type="http://schemas.openxmlformats.org/officeDocument/2006/relationships/slide" Target="/ppt/slides/slide13.xml" Id="Re284571667a04711" /><Relationship Type="http://schemas.openxmlformats.org/officeDocument/2006/relationships/slide" Target="/ppt/slides/slide14.xml" Id="R4c4066286bc14d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c3c5a4791043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ST PPT Template">
  <a:themeElements>
    <a:clrScheme name="OneSystems Colour">
      <a:dk1>
        <a:srgbClr val="003366"/>
      </a:dk1>
      <a:lt1>
        <a:srgbClr val="F5F5F5"/>
      </a:lt1>
      <a:dk2>
        <a:srgbClr val="333333"/>
      </a:dk2>
      <a:lt2>
        <a:srgbClr val="9FC9EB"/>
      </a:lt2>
      <a:accent1>
        <a:srgbClr val="FF8C00"/>
      </a:accent1>
      <a:accent2>
        <a:srgbClr val="0066CC"/>
      </a:accent2>
      <a:accent3>
        <a:srgbClr val="0000A5"/>
      </a:accent3>
      <a:accent4>
        <a:srgbClr val="C0C0C0"/>
      </a:accent4>
      <a:accent5>
        <a:srgbClr val="0066CC"/>
      </a:accent5>
      <a:accent6>
        <a:srgbClr val="333333"/>
      </a:accent6>
      <a:hlink>
        <a:srgbClr val="FF8C00"/>
      </a:hlink>
      <a:folHlink>
        <a:srgbClr val="0066CC"/>
      </a:folHlink>
    </a:clrScheme>
    <a:fontScheme name="OST Font">
      <a:majorFont>
        <a:latin typeface="Bahnschrift"/>
        <a:ea typeface=""/>
        <a:cs typeface=""/>
      </a:majorFont>
      <a:minorFont>
        <a:latin typeface="Segoe UI"/>
        <a:ea typeface=""/>
        <a:cs typeface=""/>
      </a:minorFont>
    </a:fontScheme>
    <a:fmtScheme name="OneSystems Colou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e941e0132f4e73" /><Relationship Type="http://schemas.openxmlformats.org/officeDocument/2006/relationships/notesMaster" Target="/ppt/notesMasters/notesMaster1.xml" Id="R34793958110444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1b94476ff24508" /><Relationship Type="http://schemas.openxmlformats.org/officeDocument/2006/relationships/notesMaster" Target="/ppt/notesMasters/notesMaster1.xml" Id="R1b3eb40bca4545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1117abc42d45c5" /><Relationship Type="http://schemas.openxmlformats.org/officeDocument/2006/relationships/notesMaster" Target="/ppt/notesMasters/notesMaster1.xml" Id="R1f402bd4a58548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87c8e102df4714" /><Relationship Type="http://schemas.openxmlformats.org/officeDocument/2006/relationships/notesMaster" Target="/ppt/notesMasters/notesMaster1.xml" Id="Re0e534a22cc44d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4d6e09a52b417c" /><Relationship Type="http://schemas.openxmlformats.org/officeDocument/2006/relationships/notesMaster" Target="/ppt/notesMasters/notesMaster1.xml" Id="Red9fd65fffe84d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6881cfc4be4916" /><Relationship Type="http://schemas.openxmlformats.org/officeDocument/2006/relationships/notesMaster" Target="/ppt/notesMasters/notesMaster1.xml" Id="R853b94e25fb043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2bcc1f3c0a4e97" /><Relationship Type="http://schemas.openxmlformats.org/officeDocument/2006/relationships/notesMaster" Target="/ppt/notesMasters/notesMaster1.xml" Id="Re4dd68ba2d3a47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05d381960446b9" /><Relationship Type="http://schemas.openxmlformats.org/officeDocument/2006/relationships/notesMaster" Target="/ppt/notesMasters/notesMaster1.xml" Id="R8193c73518884d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8b39f275a142d2" /><Relationship Type="http://schemas.openxmlformats.org/officeDocument/2006/relationships/notesMaster" Target="/ppt/notesMasters/notesMaster1.xml" Id="Re6e468f6f7bb43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fd567171824823" /><Relationship Type="http://schemas.openxmlformats.org/officeDocument/2006/relationships/notesMaster" Target="/ppt/notesMasters/notesMaster1.xml" Id="R06cd39ed0a5646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c4ce732fc64f58" /><Relationship Type="http://schemas.openxmlformats.org/officeDocument/2006/relationships/notesMaster" Target="/ppt/notesMasters/notesMaster1.xml" Id="R3cdd0704cf7b41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8c78dcf90b46e8" /><Relationship Type="http://schemas.openxmlformats.org/officeDocument/2006/relationships/notesMaster" Target="/ppt/notesMasters/notesMaster1.xml" Id="R554f3d30df9948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e61826d39741e7" /><Relationship Type="http://schemas.openxmlformats.org/officeDocument/2006/relationships/notesMaster" Target="/ppt/notesMasters/notesMaster1.xml" Id="Rfa34e01b9f6148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c21bc26274457e" /><Relationship Type="http://schemas.openxmlformats.org/officeDocument/2006/relationships/notesMaster" Target="/ppt/notesMasters/notesMaster1.xml" Id="R7d6cd467586841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present the rebuild direction and obtain approval to proceed into requirements closure and production data profiling.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OST PPT Template Apr 2026.potx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production migration recommendation remains conditional on profiling a recent sanitized production snapshot.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1 and 10</a:t>
            </a:r>
          </a:p>
          <a:p xmlns:a="http://schemas.openxmlformats.org/drawingml/2006/main">
            <a:r>
              <a:t>- ePTW-Requirements-Review.pdf, pages 5-7 and 93-95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run: npm.cmd run build and npm.cmd test; 3 test files and 20 tests passed.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ePTW-Requirements-Review.pdf</a:t>
            </a:r>
          </a:p>
          <a:p xmlns:a="http://schemas.openxmlformats.org/drawingml/2006/main">
            <a:r>
              <a:t>- database-redesign-proposal.docx</a:t>
            </a:r>
          </a:p>
          <a:p xmlns:a="http://schemas.openxmlformats.org/drawingml/2006/main">
            <a:r>
              <a:t>- old-vs-new-schema.docx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package.json</a:t>
            </a:r>
          </a:p>
          <a:p xmlns:a="http://schemas.openxmlformats.org/drawingml/2006/main">
            <a:r>
              <a:t>- tests/app.test.tsx</a:t>
            </a:r>
          </a:p>
          <a:p xmlns:a="http://schemas.openxmlformats.org/drawingml/2006/main">
            <a:r>
              <a:t>- tests/policy.test.ts</a:t>
            </a:r>
          </a:p>
          <a:p xmlns:a="http://schemas.openxmlformats.org/drawingml/2006/main">
            <a:r>
              <a:t>- tests/repository.test.ts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issues shown are code-level findings. Live prevalence remains to be measured against a sanitized production snapshot.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2-3</a:t>
            </a:r>
          </a:p>
          <a:p xmlns:a="http://schemas.openxmlformats.org/drawingml/2006/main">
            <a:r>
              <a:t>- old-vs-new-schema.docx, sections 1-3</a:t>
            </a:r>
          </a:p>
          <a:p xmlns:a="http://schemas.openxmlformats.org/drawingml/2006/main">
            <a:r>
              <a:t>- ePTW-Requirements-Review.pdf, pages 5-6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consolidates the proposed end-to-end user journey. Specific workflow roles remain subject to the decisions on slide 9.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ePTW-Requirements-Review.pdf, sections 5-22</a:t>
            </a:r>
          </a:p>
          <a:p xmlns:a="http://schemas.openxmlformats.org/drawingml/2006/main">
            <a:r>
              <a:t>- database-redesign-proposal.docx, sections 6-8</a:t>
            </a:r>
          </a:p>
          <a:p xmlns:a="http://schemas.openxmlformats.org/drawingml/2006/main">
            <a:r>
              <a:t>- src/App.tsx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frontend stores seeded data in the browser and explicitly provides no real authentication, upload, notification or backend security.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4, 5 and 7</a:t>
            </a:r>
          </a:p>
          <a:p xmlns:a="http://schemas.openxmlformats.org/drawingml/2006/main">
            <a:r>
              <a:t>- ePTW-Requirements-Review.pdf, sections 15-21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proposal specifies 27 application tables and three migration-control tables.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3-7</a:t>
            </a:r>
          </a:p>
          <a:p xmlns:a="http://schemas.openxmlformats.org/drawingml/2006/main">
            <a:r>
              <a:t>- old-vs-new-schema.docx, sections 1-9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prototype is a control proof, not the final role model.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src/policy.ts</a:t>
            </a:r>
          </a:p>
          <a:p xmlns:a="http://schemas.openxmlformats.org/drawingml/2006/main">
            <a:r>
              <a:t>- src/repository.ts</a:t>
            </a:r>
          </a:p>
          <a:p xmlns:a="http://schemas.openxmlformats.org/drawingml/2006/main">
            <a:r>
              <a:t>- src/types.ts</a:t>
            </a:r>
          </a:p>
          <a:p xmlns:a="http://schemas.openxmlformats.org/drawingml/2006/main">
            <a:r>
              <a:t>- tests/policy.test.ts</a:t>
            </a:r>
          </a:p>
          <a:p xmlns:a="http://schemas.openxmlformats.org/drawingml/2006/main">
            <a:r>
              <a:t>- tests/repository.test.ts</a:t>
            </a:r>
          </a:p>
          <a:p xmlns:a="http://schemas.openxmlformats.org/drawingml/2006/main">
            <a:r>
              <a:t>- ePTW-Requirements-Review.pdf, sections 3, 8-10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source conflicts or unresolved questions, not implementation defects in the prototype.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ePTW-Requirements-Review.pdf, pages 21, 35, 37-42, 56, 59, 75-76 and 83</a:t>
            </a:r>
          </a:p>
          <a:p xmlns:a="http://schemas.openxmlformats.org/drawingml/2006/main">
            <a:r>
              <a:t>- database-redesign-proposal.docx, sections 4-6 and 12</a:t>
            </a:r>
          </a:p>
          <a:p xmlns:a="http://schemas.openxmlformats.org/drawingml/2006/main">
            <a:r>
              <a:t>- src/policy.ts</a:t>
            </a:r>
          </a:p>
          <a:p xmlns:a="http://schemas.openxmlformats.org/drawingml/2006/main">
            <a:r>
              <a:t>- src/types.ts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schedule duration is asserted because the sources do not contain production volumes or resource commitments.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 10</a:t>
            </a:r>
          </a:p>
          <a:p xmlns:a="http://schemas.openxmlformats.org/drawingml/2006/main">
            <a:r>
              <a:t>- old-vs-new-schema.docx, section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sequencing rather than a duration estimate.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10-11</a:t>
            </a:r>
          </a:p>
          <a:p xmlns:a="http://schemas.openxmlformats.org/drawingml/2006/main">
            <a:r>
              <a:t>- ePTW-Requirements-Review.pdf, sections 22-24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Risks are derived from the supplied design gaps and open questions; no probability scoring is asserted.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3, 10, 12 and 13</a:t>
            </a:r>
          </a:p>
          <a:p xmlns:a="http://schemas.openxmlformats.org/drawingml/2006/main">
            <a:r>
              <a:t>- ePTW-Requirements-Review.pdf, sections 19 and 21-24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requested decision is intentionally limited to direction and controlled discovery.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1, 10-12</a:t>
            </a:r>
          </a:p>
          <a:p xmlns:a="http://schemas.openxmlformats.org/drawingml/2006/main">
            <a:r>
              <a:t>- ePTW-Requirements-Review.pdf, pages 93-95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README explicitly states that the draft has no real authentication, file upload, notification or backend security.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src/App.tsx</a:t>
            </a:r>
          </a:p>
          <a:p xmlns:a="http://schemas.openxmlformats.org/drawingml/2006/main">
            <a:r>
              <a:t>- src/TemplateBuilderPage.tsx</a:t>
            </a:r>
          </a:p>
          <a:p xmlns:a="http://schemas.openxmlformats.org/drawingml/2006/main">
            <a:r>
              <a:t>- src/AdminUsersMaps.tsx</a:t>
            </a:r>
          </a:p>
          <a:p xmlns:a="http://schemas.openxmlformats.org/drawingml/2006/main">
            <a:r>
              <a:t>- src/AdminDirectories.tsx</a:t>
            </a:r>
          </a:p>
          <a:p xmlns:a="http://schemas.openxmlformats.org/drawingml/2006/main">
            <a:r>
              <a:t>- src/policy.ts</a:t>
            </a:r>
          </a:p>
          <a:p xmlns:a="http://schemas.openxmlformats.org/drawingml/2006/main">
            <a:r>
              <a:t>- src/repository.ts</a:t>
            </a:r>
          </a:p>
          <a:p xmlns:a="http://schemas.openxmlformats.org/drawingml/2006/main">
            <a:r>
              <a:t>- tests/*.ts and tests/*.tsx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6f153e1da4c03" /><Relationship Type="http://schemas.openxmlformats.org/officeDocument/2006/relationships/image" Target="/ppt/media/image.jpeg" Id="R52a888935b8b4565" /><Relationship Type="http://schemas.openxmlformats.org/officeDocument/2006/relationships/image" Target="/ppt/media/image.png" Id="Rd0bafa31e2954c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232fb320c42aa" /><Relationship Type="http://schemas.openxmlformats.org/officeDocument/2006/relationships/image" Target="/ppt/media/image.jpeg" Id="R4f4059cb1c3c4524" /><Relationship Type="http://schemas.openxmlformats.org/officeDocument/2006/relationships/image" Target="/ppt/media/image.png" Id="Rcd6e2cdd006a48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54af0d43df40b3" /><Relationship Type="http://schemas.openxmlformats.org/officeDocument/2006/relationships/image" Target="/ppt/media/image2.jpeg" Id="R55d61c182fe54319" /><Relationship Type="http://schemas.openxmlformats.org/officeDocument/2006/relationships/image" Target="/ppt/media/image.png" Id="R3a65ae5232854c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e28ec2e824eb5" /><Relationship Type="http://schemas.openxmlformats.org/officeDocument/2006/relationships/image" Target="/ppt/media/image2.jpeg" Id="Rc7343ce5573f4fe1" /><Relationship Type="http://schemas.openxmlformats.org/officeDocument/2006/relationships/image" Target="/ppt/media/image.png" Id="R5b1eed65f56b46c3" /><Relationship Type="http://schemas.openxmlformats.org/officeDocument/2006/relationships/image" Target="/ppt/media/image2.png" Id="R7f9b394eb38041e3" /><Relationship Type="http://schemas.openxmlformats.org/officeDocument/2006/relationships/image" Target="/ppt/media/image3.png" Id="R4a801503c7d44c8e" /><Relationship Type="http://schemas.openxmlformats.org/officeDocument/2006/relationships/image" Target="/ppt/media/image4.png" Id="R196ad726a3bf4764" /><Relationship Type="http://schemas.openxmlformats.org/officeDocument/2006/relationships/image" Target="/ppt/media/image5.png" Id="Rf7d978af22634e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5f6593aa7448d" /><Relationship Type="http://schemas.openxmlformats.org/officeDocument/2006/relationships/image" Target="/ppt/media/image2.jpeg" Id="R5a686331ceea4db9" /></Relationships>
</file>

<file path=ppt/slideLayouts/slideLayout1.xml><?xml version="1.0" encoding="utf-8"?>
<p:sldLayout xmlns:p="http://schemas.openxmlformats.org/presentationml/2006/main" preserve="1">
  <p:cSld name="Cover">
    <p:bg>
      <p:bgPr>
        <a:blipFill xmlns:a="http://schemas.openxmlformats.org/drawingml/2006/main" rotWithShape="1">
          <a:blip xmlns:r="http://schemas.openxmlformats.org/officeDocument/2006/relationships" r:embed="R52a888935b8b456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DD886DB-98B2-35DE-F8C5-0272A3CB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180B648-99F0-F3A2-8792-08432184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67" y="1615183"/>
            <a:ext cx="7253909" cy="1631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ONESYSTEMS</a:t>
            </a:r>
            <a:r>
              <a:rPr sz="64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 </a:t>
            </a:r>
          </a:p>
          <a:p xmlns:a="http://schemas.openxmlformats.org/drawingml/2006/main">
            <a:r>
              <a:rPr sz="36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TECHNOLOGIES PTE LTD​</a:t>
            </a:r>
            <a:endParaRPr sz="3600" b="1">
              <a:solidFill>
                <a:schemeClr val="bg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93D10E4-676A-0D49-2600-A5B3FC0E295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59367" y="3429000"/>
            <a:ext cx="6126289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 b="1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  <a:endParaRPr/>
          </a:p>
        </p:txBody>
      </p:sp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afa31e2954c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899" y="406672"/>
            <a:ext cx="1848388" cy="555933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29AF47-3C44-831A-C3EE-C8B2064F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Company Name">
    <p:bg>
      <p:bgPr>
        <a:blipFill xmlns:a="http://schemas.openxmlformats.org/drawingml/2006/main" rotWithShape="1">
          <a:blip xmlns:r="http://schemas.openxmlformats.org/officeDocument/2006/relationships" r:embed="R4f4059cb1c3c452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DD886DB-98B2-35DE-F8C5-0272A3CB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93D10E4-676A-0D49-2600-A5B3FC0E295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59367" y="3429000"/>
            <a:ext cx="6126289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 b="1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  <a:endParaRPr/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e2cdd006a48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899" y="406672"/>
            <a:ext cx="1848388" cy="555933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29AF47-3C44-831A-C3EE-C8B2064F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8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A2B08D02-22CB-CF7D-1A31-504CF60ED79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59366" y="2374721"/>
            <a:ext cx="6126289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 defTabSz="457200">
              <a:buNone/>
              <a:defRPr sz="63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Company Name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0" preserve="1">
  <p:cSld name="1_BACKGROUND">
    <p:bg>
      <p:bgPr>
        <a:blipFill xmlns:a="http://schemas.openxmlformats.org/drawingml/2006/main" rotWithShape="1">
          <a:blip xmlns:r="http://schemas.openxmlformats.org/officeDocument/2006/relationships" r:embed="R55d61c182fe5431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8">
            <a:extLst xmlns:a="http://schemas.openxmlformats.org/drawingml/2006/main">
              <a:ext uri="{FF2B5EF4-FFF2-40B4-BE49-F238E27FC236}">
                <a16:creationId xmlns:a16="http://schemas.microsoft.com/office/drawing/2014/main" id="{20F203D7-0A7A-0DEE-DA2F-CD91F37B60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9444" y="272613"/>
            <a:ext cx="8691562" cy="54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8A55977-7A3F-A9BD-8659-735C9F606668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1308893" y="1899548"/>
            <a:ext cx="9574213" cy="388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bg1">
                    <a:lumMod val="1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BODY TEXT</a:t>
            </a: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B835BE7-B93B-6F4A-4A50-A7B8159C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777" y="6479823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Ownership. Sustainability. Trustworthy</a:t>
            </a:r>
            <a:endParaRPr sz="800" b="0" i="0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1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5ae5232854c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8057" y="297657"/>
            <a:ext cx="1667688" cy="489560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68E8EB5-F260-83CA-7447-0011100F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777" y="6479823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Ownership. Sustainability. Trustworthy</a:t>
            </a:r>
            <a:endParaRPr sz="800" b="0" i="0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1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5ae5232854c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8057" y="297657"/>
            <a:ext cx="1667688" cy="48956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showMasterSp="0" preserve="1" userDrawn="1">
  <p:cSld name="Contact Us">
    <p:bg>
      <p:bgPr>
        <a:blipFill xmlns:a="http://schemas.openxmlformats.org/drawingml/2006/main" rotWithShape="1">
          <a:blip xmlns:r="http://schemas.openxmlformats.org/officeDocument/2006/relationships" r:embed="Rc7343ce5573f4fe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8">
            <a:extLst xmlns:a="http://schemas.openxmlformats.org/drawingml/2006/main">
              <a:ext uri="{FF2B5EF4-FFF2-40B4-BE49-F238E27FC236}">
                <a16:creationId xmlns:a16="http://schemas.microsoft.com/office/drawing/2014/main" id="{20F203D7-0A7A-0DEE-DA2F-CD91F37B604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9444" y="272613"/>
            <a:ext cx="8691562" cy="54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rPr sz="3200" b="1">
                <a:latin typeface="Bahnschrift"/>
                <a:ea typeface="Bahnschrift"/>
                <a:cs typeface="Bahnschrift"/>
              </a:rPr>
              <a:t>CONTACT US</a:t>
            </a:r>
            <a:endParaRPr/>
          </a:p>
        </p:txBody>
      </p:sp>
      <p:pic>
        <p:nvPicPr>
          <p:cNvPr id="5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eed65f56b46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8057" y="297657"/>
            <a:ext cx="1667688" cy="489560"/>
          </a:xfrm>
          <a:prstGeom xmlns:a="http://schemas.openxmlformats.org/drawingml/2006/main" prst="rect">
            <a:avLst/>
          </a:prstGeom>
        </p:spPr>
      </p:pic>
      <p:sp>
        <p:nvSpPr>
          <p:cNvPr id="2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FE9F713-6118-DE25-4BAA-36AFB319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865" y="1931899"/>
            <a:ext cx="3918856" cy="3897086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256F19B-365D-5465-BF7B-51B5E9C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19" y="1352468"/>
            <a:ext cx="6543776" cy="692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 marL="0" indent="0" algn="l" defTabSz="914400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/>
              <a:buNone/>
              <a:defRPr sz="1800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9144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2pPr>
            <a:lvl3pPr marL="13716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3pPr>
            <a:lvl4pPr marL="18288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4pPr>
            <a:lvl5pPr marL="22860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5pPr>
            <a:lvl6pPr marL="27432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6pPr>
            <a:lvl7pPr marL="32004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7pPr>
            <a:lvl8pPr marL="36576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8pPr>
            <a:lvl9pPr marL="41148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400">
                <a:latin typeface="Segoe UI"/>
                <a:ea typeface="Segoe UI"/>
                <a:cs typeface="Segoe UI"/>
              </a:rPr>
              <a:t>Thank you for your interest in </a:t>
            </a:r>
            <a:r>
              <a:rPr sz="1400" b="1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OneSystems Technologies</a:t>
            </a:r>
            <a:r>
              <a:rPr sz="1400">
                <a:latin typeface="Segoe UI"/>
                <a:ea typeface="Segoe UI"/>
                <a:cs typeface="Segoe UI"/>
              </a:rPr>
              <a:t>.</a:t>
            </a:r>
            <a:br/>
            <a:r>
              <a:rPr sz="1400">
                <a:latin typeface="Segoe UI"/>
                <a:ea typeface="Segoe UI"/>
                <a:cs typeface="Segoe UI"/>
              </a:rPr>
              <a:t>Our team is here to help with technical-specific questions or general inquiries.</a:t>
            </a:r>
            <a:br/>
            <a:endParaRPr sz="1400">
              <a:latin typeface="Segoe UI"/>
              <a:ea typeface="Segoe UI"/>
              <a:cs typeface="Segoe UI"/>
            </a:endParaRPr>
          </a:p>
        </p:txBody>
      </p:sp>
      <p:pic>
        <p:nvPicPr>
          <p:cNvPr id="5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b394eb38041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8380" y="2403443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141B27-BD35-87EA-F93C-FC7B79B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89" y="3489807"/>
            <a:ext cx="1106424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LinkedIn</a:t>
            </a:r>
          </a:p>
        </p:txBody>
      </p:sp>
      <p:pic>
        <p:nvPicPr>
          <p:cNvPr id="5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01503c7d44c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8293" y="2403443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E01FE7B-3878-CE27-B61E-2E7E3FF2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102" y="3483199"/>
            <a:ext cx="1106424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Facebook</a:t>
            </a:r>
          </a:p>
        </p:txBody>
      </p:sp>
      <p:pic>
        <p:nvPicPr>
          <p:cNvPr id="59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ad726a3bf47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8380" y="4083306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819E2B9-3BC6-9B8E-06A2-CE3982E6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605" y="5174587"/>
            <a:ext cx="130759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Instagram</a:t>
            </a:r>
          </a:p>
        </p:txBody>
      </p:sp>
      <p:pic>
        <p:nvPicPr>
          <p:cNvPr id="61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978af22634e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78484" y="4083306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9396DD3-7167-EB99-153D-8E42E4D5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09" y="5161675"/>
            <a:ext cx="130759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YouTube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1C44A26-1A86-1BCC-1B1B-D4E87C85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60" y="2678835"/>
            <a:ext cx="2406040" cy="1815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Singapore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190 Woodlands Industrial Park E5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#06-11 Woodlands Bizhub S757516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+65 6776 7611 </a:t>
            </a:r>
          </a:p>
          <a:p xmlns:a="http://schemas.openxmlformats.org/drawingml/2006/main"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Philippines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East Tower 1904b Tektite Building, 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Exchange Road, San Antonio Pasig, Philippines 1600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+63 945 6111 180</a:t>
            </a:r>
            <a:endParaRPr sz="1000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AC5C708-6F43-6AAF-E593-95DFF2A6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040" y="2678834"/>
            <a:ext cx="2613498" cy="18081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Malaysia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02-08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 Blok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G, Komersil Southkey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Mozek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</a:t>
            </a:r>
            <a:br/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Persiaran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Southkey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 1, Kota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Southkey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 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80150 Johor Bahru, Malaysia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+607 6907 866</a:t>
            </a:r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India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Plot No.23A Kk Salai Main, Road 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Akkarai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Sholinganallur,Kanchipuram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 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Saidapet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 Tamil Nadu, India, 600119​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+91 98842 13454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CB55C82D-CBB2-4F6B-73F1-D6E5D3E7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60" y="2347202"/>
            <a:ext cx="104067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 spc="100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u="none" cap="none" spc="0">
                <a:ln>
                  <a:noFill/>
                </a:ln>
                <a:solidFill>
                  <a:schemeClr val="accent1"/>
                </a:solidFill>
                <a:latin typeface="Bahnschrift"/>
                <a:ea typeface="Bahnschrift"/>
                <a:cs typeface="Bahnschrift"/>
              </a:rPr>
              <a:t>Addresses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E6100B91-8AC5-DD03-7456-631BD5BA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3040" y="4969875"/>
            <a:ext cx="816249" cy="307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 spc="100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u="none" cap="none" spc="0">
                <a:ln>
                  <a:noFill/>
                </a:ln>
                <a:solidFill>
                  <a:schemeClr val="accent1"/>
                </a:solidFill>
                <a:latin typeface="Bahnschrift"/>
                <a:ea typeface="Bahnschrift"/>
                <a:cs typeface="Bahnschrift"/>
              </a:rPr>
              <a:t>Website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BC07FDC-A939-586E-BEFA-80810D7A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3040" y="5259310"/>
            <a:ext cx="2406040" cy="24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www.onesystemstech.com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3C775B8D-3F08-DF9C-9217-4CBD5044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160" y="4969875"/>
            <a:ext cx="638316" cy="371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 spc="100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u="none" cap="none" spc="0">
                <a:ln>
                  <a:noFill/>
                </a:ln>
                <a:solidFill>
                  <a:schemeClr val="accent1"/>
                </a:solidFill>
                <a:latin typeface="Bahnschrift"/>
                <a:ea typeface="Bahnschrift"/>
                <a:cs typeface="Bahnschrift"/>
              </a:rPr>
              <a:t>Email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7E8BE22-5F1E-30A1-5847-364F0E8F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160" y="5157501"/>
            <a:ext cx="240604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enquiries@onesystemstech.com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              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0" preserve="1" userDrawn="1">
  <p:cSld name="Blank Page">
    <p:bg>
      <p:bgPr>
        <a:blipFill xmlns:a="http://schemas.openxmlformats.org/drawingml/2006/main" rotWithShape="1">
          <a:blip xmlns:r="http://schemas.openxmlformats.org/officeDocument/2006/relationships" r:embed="R5a686331ceea4db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0E5DE6-5090-AD1C-448C-54A9D265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002c68c701d1433b" /><Relationship Type="http://schemas.openxmlformats.org/officeDocument/2006/relationships/theme" Target="/ppt/slideMasters/theme/theme2.xml" Id="R64a43dd4de9742ed" /><Relationship Type="http://schemas.openxmlformats.org/officeDocument/2006/relationships/slideLayout" Target="/ppt/slideLayouts/slideLayout1.xml" Id="R5ef72eb6479a4494" /><Relationship Type="http://schemas.openxmlformats.org/officeDocument/2006/relationships/slideLayout" Target="/ppt/slideLayouts/slideLayout2.xml" Id="Ra8a6a3b1b3e94b33" /><Relationship Type="http://schemas.openxmlformats.org/officeDocument/2006/relationships/slideLayout" Target="/ppt/slideLayouts/slideLayout3.xml" Id="Ra0b94fc41d4d4810" /><Relationship Type="http://schemas.openxmlformats.org/officeDocument/2006/relationships/slideLayout" Target="/ppt/slideLayouts/slideLayout4.xml" Id="Rcd27f58c379a4107" /><Relationship Type="http://schemas.openxmlformats.org/officeDocument/2006/relationships/slideLayout" Target="/ppt/slideLayouts/slideLayout5.xml" Id="Ra8ff9ac1a9f147a1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02c68c701d1433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f72eb6479a4494"/>
    <p:sldLayoutId xmlns:r="http://schemas.openxmlformats.org/officeDocument/2006/relationships" id="2147483650" r:id="Ra8a6a3b1b3e94b33"/>
    <p:sldLayoutId xmlns:r="http://schemas.openxmlformats.org/officeDocument/2006/relationships" id="2147483651" r:id="Ra0b94fc41d4d4810"/>
    <p:sldLayoutId xmlns:r="http://schemas.openxmlformats.org/officeDocument/2006/relationships" id="2147483652" r:id="Rcd27f58c379a4107"/>
    <p:sldLayoutId xmlns:r="http://schemas.openxmlformats.org/officeDocument/2006/relationships" id="2147483653" r:id="Ra8ff9ac1a9f147a1"/>
  </p:sldLayoutIdLst>
  <p:txStyles>
    <p:titleStyle>
      <a:lvl1pPr xmlns:a="http://schemas.openxmlformats.org/drawingml/2006/main" algn="l" defTabSz="914400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84048" indent="-384048" algn="l" defTabSz="914400">
        <a:lnSpc>
          <a:spcPct val="94000"/>
        </a:lnSpc>
        <a:spcBef>
          <a:spcPts val="1000"/>
        </a:spcBef>
        <a:spcAft>
          <a:spcPts val="200"/>
        </a:spcAft>
        <a:buFont typeface="Franklin Gothic Book"/>
        <a:buChar char="■"/>
        <a:defRPr sz="2000" kern="1200" baseline="0">
          <a:solidFill>
            <a:schemeClr val="tx2"/>
          </a:solidFill>
          <a:latin typeface="+mn-lt"/>
          <a:ea typeface="+mn-lt"/>
          <a:cs typeface="+mn-lt"/>
        </a:defRPr>
      </a:lvl1pPr>
      <a:lvl2pPr xmlns:a="http://schemas.openxmlformats.org/drawingml/2006/main" marL="914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2000" i="1" kern="1200" baseline="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800" kern="1200" baseline="0">
          <a:solidFill>
            <a:schemeClr val="tx2"/>
          </a:solidFill>
          <a:latin typeface="+mn-lt"/>
          <a:ea typeface="+mn-lt"/>
          <a:cs typeface="+mn-lt"/>
        </a:defRPr>
      </a:lvl3pPr>
      <a:lvl4pPr xmlns:a="http://schemas.openxmlformats.org/drawingml/2006/main" marL="1828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800" i="1" kern="1200" baseline="0">
          <a:solidFill>
            <a:schemeClr val="tx2"/>
          </a:solidFill>
          <a:latin typeface="+mn-lt"/>
          <a:ea typeface="+mn-lt"/>
          <a:cs typeface="+mn-lt"/>
        </a:defRPr>
      </a:lvl4pPr>
      <a:lvl5pPr xmlns:a="http://schemas.openxmlformats.org/drawingml/2006/main" marL="22860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600" kern="1200" baseline="0">
          <a:solidFill>
            <a:schemeClr val="tx2"/>
          </a:solidFill>
          <a:latin typeface="+mn-lt"/>
          <a:ea typeface="+mn-lt"/>
          <a:cs typeface="+mn-lt"/>
        </a:defRPr>
      </a:lvl5pPr>
      <a:lvl6pPr xmlns:a="http://schemas.openxmlformats.org/drawingml/2006/main" marL="27432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600" i="1" kern="1200" baseline="0">
          <a:solidFill>
            <a:schemeClr val="tx2"/>
          </a:solidFill>
          <a:latin typeface="+mn-lt"/>
          <a:ea typeface="+mn-lt"/>
          <a:cs typeface="+mn-lt"/>
        </a:defRPr>
      </a:lvl6pPr>
      <a:lvl7pPr xmlns:a="http://schemas.openxmlformats.org/drawingml/2006/main" marL="3200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7pPr>
      <a:lvl8pPr xmlns:a="http://schemas.openxmlformats.org/drawingml/2006/main" marL="3657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400" i="1" kern="1200" baseline="0">
          <a:solidFill>
            <a:schemeClr val="tx2"/>
          </a:solidFill>
          <a:latin typeface="+mn-lt"/>
          <a:ea typeface="+mn-lt"/>
          <a:cs typeface="+mn-lt"/>
        </a:defRPr>
      </a:lvl8pPr>
      <a:lvl9pPr xmlns:a="http://schemas.openxmlformats.org/drawingml/2006/main" marL="4114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xmlns:a="http://schemas.openxmlformats.org/drawingml/2006/main" val="F26B43"/>
          </p15:clr>
        </p15:guide>
        <p15:guide id="4" orient="horz" pos="1440">
          <p15:clr>
            <a:srgbClr xmlns:a="http://schemas.openxmlformats.org/drawingml/2006/main" val="F26B43"/>
          </p15:clr>
        </p15:guide>
        <p15:guide id="6" orient="horz" pos="3696">
          <p15:clr>
            <a:srgbClr xmlns:a="http://schemas.openxmlformats.org/drawingml/2006/main" val="F26B43"/>
          </p15:clr>
        </p15:guide>
        <p15:guide id="7" orient="horz" pos="432">
          <p15:clr>
            <a:srgbClr xmlns:a="http://schemas.openxmlformats.org/drawingml/2006/main" val="F26B43"/>
          </p15:clr>
        </p15:guide>
        <p15:guide id="8" orient="horz" pos="1512">
          <p15:clr>
            <a:srgbClr xmlns:a="http://schemas.openxmlformats.org/drawingml/2006/main" val="F26B43"/>
          </p15:clr>
        </p15:guide>
        <p15:guide id="9" pos="6912">
          <p15:clr>
            <a:srgbClr xmlns:a="http://schemas.openxmlformats.org/drawingml/2006/main" val="F26B43"/>
          </p15:clr>
        </p15:guide>
        <p15:guide id="10" pos="936">
          <p15:clr>
            <a:srgbClr xmlns:a="http://schemas.openxmlformats.org/drawingml/2006/main" val="F26B43"/>
          </p15:clr>
        </p15:guide>
        <p15:guide id="11" pos="864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ST PPT Template">
  <a:themeElements>
    <a:clrScheme name="OneSystems Colour">
      <a:dk1>
        <a:srgbClr val="003366"/>
      </a:dk1>
      <a:lt1>
        <a:srgbClr val="F5F5F5"/>
      </a:lt1>
      <a:dk2>
        <a:srgbClr val="333333"/>
      </a:dk2>
      <a:lt2>
        <a:srgbClr val="9FC9EB"/>
      </a:lt2>
      <a:accent1>
        <a:srgbClr val="FF8C00"/>
      </a:accent1>
      <a:accent2>
        <a:srgbClr val="0066CC"/>
      </a:accent2>
      <a:accent3>
        <a:srgbClr val="0000A5"/>
      </a:accent3>
      <a:accent4>
        <a:srgbClr val="C0C0C0"/>
      </a:accent4>
      <a:accent5>
        <a:srgbClr val="0066CC"/>
      </a:accent5>
      <a:accent6>
        <a:srgbClr val="333333"/>
      </a:accent6>
      <a:hlink>
        <a:srgbClr val="FF8C00"/>
      </a:hlink>
      <a:folHlink>
        <a:srgbClr val="0066CC"/>
      </a:folHlink>
    </a:clrScheme>
    <a:fontScheme name="OST Font">
      <a:majorFont>
        <a:latin typeface="Bahnschrift"/>
        <a:ea typeface=""/>
        <a:cs typeface=""/>
      </a:majorFont>
      <a:minorFont>
        <a:latin typeface="Segoe UI"/>
        <a:ea typeface=""/>
        <a:cs typeface=""/>
      </a:minorFont>
    </a:fontScheme>
    <a:fmtScheme name="OneSystems Colou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29edcf76a41d0" /><Relationship Type="http://schemas.openxmlformats.org/officeDocument/2006/relationships/notesSlide" Target="/ppt/notesSlides/notesSlide1.xml" Id="R90034be74f6243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388073e7e9e454b" /><Relationship Type="http://schemas.openxmlformats.org/officeDocument/2006/relationships/notesSlide" Target="/ppt/notesSlides/notesSlide2.xml" Id="R545876e3ced04c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ff33dd6b7ac4ebf" /><Relationship Type="http://schemas.openxmlformats.org/officeDocument/2006/relationships/notesSlide" Target="/ppt/notesSlides/notesSlide3.xml" Id="Rebb94a72058b4e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a9453d702c04c8b" /><Relationship Type="http://schemas.openxmlformats.org/officeDocument/2006/relationships/notesSlide" Target="/ppt/notesSlides/notesSlide4.xml" Id="R9f91f95d8ceb4e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f634c0046a048b1" /><Relationship Type="http://schemas.openxmlformats.org/officeDocument/2006/relationships/notesSlide" Target="/ppt/notesSlides/notesSlide5.xml" Id="Rc45eff97c39546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3060b0eadb34d93" /><Relationship Type="http://schemas.openxmlformats.org/officeDocument/2006/relationships/notesSlide" Target="/ppt/notesSlides/notesSlide6.xml" Id="Rbec2765b3b9847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4a277a3c6544174" /><Relationship Type="http://schemas.openxmlformats.org/officeDocument/2006/relationships/notesSlide" Target="/ppt/notesSlides/notesSlide7.xml" Id="Rb58e7f1aadd14e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c75b42ec1342d9" /><Relationship Type="http://schemas.openxmlformats.org/officeDocument/2006/relationships/notesSlide" Target="/ppt/notesSlides/notesSlide8.xml" Id="R5697f3ce29914d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2b73b51745b41e4" /><Relationship Type="http://schemas.openxmlformats.org/officeDocument/2006/relationships/notesSlide" Target="/ppt/notesSlides/notesSlide9.xml" Id="R2c6b21f9576344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6037fb373534340" /><Relationship Type="http://schemas.openxmlformats.org/officeDocument/2006/relationships/notesSlide" Target="/ppt/notesSlides/notesSlide10.xml" Id="R0216543f2b4f48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a46a130957b4d80" /><Relationship Type="http://schemas.openxmlformats.org/officeDocument/2006/relationships/notesSlide" Target="/ppt/notesSlides/notesSlide11.xml" Id="R2067f079b0df40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89ea7fb36d14a13" /><Relationship Type="http://schemas.openxmlformats.org/officeDocument/2006/relationships/notesSlide" Target="/ppt/notesSlides/notesSlide12.xml" Id="R8ff90f64bf304e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839e2f009754316" /><Relationship Type="http://schemas.openxmlformats.org/officeDocument/2006/relationships/notesSlide" Target="/ppt/notesSlides/notesSlide13.xml" Id="R964813cb2bb04e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61901d449554e63" /><Relationship Type="http://schemas.openxmlformats.org/officeDocument/2006/relationships/notesSlide" Target="/ppt/notesSlides/notesSlide14.xml" Id="R8d54663ed27f45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C4311-A148-47EA-9565-B55C77D7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9138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9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ePTW SYSTEM REBUILD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E5606-751E-47C0-8B0A-6EF9910F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Proposal for a controlled, secure and maintainable Permit-to-Work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A75CC-BE2A-4919-ADD3-DFC63286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E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EFF"/>
                </a:solidFill>
                <a:latin typeface="Segoe UI"/>
                <a:ea typeface="Segoe UI"/>
                <a:cs typeface="Segoe UI"/>
              </a:rPr>
              <a:t>Prepared for solution alignment and implementation planning</a:t>
            </a:r>
          </a:p>
          <a:p xmlns:a="http://schemas.openxmlformats.org/drawingml/2006/main">
            <a:pPr algn="l">
              <a:defRPr sz="1350" b="0">
                <a:solidFill>
                  <a:srgbClr val="DCEE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EFF"/>
                </a:solidFill>
                <a:latin typeface="Segoe UI"/>
                <a:ea typeface="Segoe UI"/>
                <a:cs typeface="Segoe UI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716804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7284D9-DBD4-49AF-AFC3-DE6565FC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5F9A3-2FCD-448C-900D-94A3AEAE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Executive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84031-5687-4419-A638-C902B8D4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Approval requested for the rebuild direction, with policy decisions closed before schema freeze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B7D53-4CBD-4D7F-B247-1ACC3F5B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RECOMMENDATION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7CDB2-BBE4-466B-B3AC-61FE7D9D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982"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Rebuild ePTW around one controlled permit domain, a server-enforced workflow and a PostgreSQL system of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7C06D-DAF3-4E0F-9094-7FD2DD60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2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4AE36-F4F0-4CBB-8ADF-0E8C05BD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Business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FA920-B28B-468E-ADCF-9070C52F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 consistent permit journey with clearer responsibilities, stronger access control and reliable audit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DC7EE-7867-4E15-A001-24DF511C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14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0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4689C-9B3F-43C5-BEF6-E62CCCFF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Technical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FCBFE-78FF-49D1-B87D-88BD48E1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227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React web application, dedicated API and workflow service, PostgreSQL, protected file storage and a transactional notification outbox.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BBB5B-0179-4002-B258-9842AD96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6B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29E87-B1FF-4941-9821-F26A1BAC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Delivery approach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CDAA5-9855-4CFA-A806-13FB41A2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496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Freeze policy decisions, profile production data, build in increments, rehearse migration and cut over only after reconciliation gates pass.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6CCF1-BF35-40C7-ABC9-8E1ED3D5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Immediate ask: authorize requirements closure and read-only production data profiling.</a:t>
            </a:r>
          </a:p>
        </p:txBody>
      </p:sp>
    </p:spTree>
    <p:extLst>
      <p:ext uri="{BB962C8B-B14F-4D97-AF65-F5344CB8AC3E}">
        <p14:creationId xmlns:p14="http://schemas.microsoft.com/office/powerpoint/2010/main" val="19616480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1E675-AECE-443A-A311-0C013E28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12125-0A35-45AE-AE2A-30D55C12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Evidence base and authority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94899-7D1D-4528-9C80-FB5E1778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Three sources contribute different types of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06C82-F694-4389-8330-2D33E0C2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22305-88D4-4A33-B9D9-B510239D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812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147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Business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E87EB-E34C-4223-99DF-6012EF33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0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95-page confirmation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2A302-4BF1-413D-9239-681BAAE4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04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Defines roles, user journeys, visibility, templates, closure, notifications, reporting and 16 open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21B95-D418-40C0-ACF3-32DFF7EA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57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E5EB0-21C4-42D4-BC9E-D59D0F13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Backend redesign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78ECC-D93C-4FE6-B090-F6A38EC6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5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PostgreSQL proposal and mapping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967E3-1074-4B2B-BF5C-7D40739B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304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507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Defines the target domain model, 27 application tables, three migration-control tables and a phased cutover approach.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D6F9D-20E5-4305-AF0C-C06501E2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57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0AEA3-8312-4A3D-95A4-982DE4E2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812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Frontend 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44844-FA97-4804-90B4-F4B11E0D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15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React and TypeScript functional 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987C1-DCFD-4A94-8287-DBAE8CB3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67050"/>
            <a:ext cx="304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Demonstrates role-aware navigation, sequential approvals, linked Hot Work permits, revisions, lifecycle actions and audit views.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6FE89-8764-4118-BCFA-A381BC97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D6CC4-C399-4CCA-A65A-71828EDA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4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Recommended authority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7475B-9358-478B-ABFB-9ABAB948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05375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Business requirements decide behaviour. The backend proposal decides implementation. The frontend prototype proves interaction patterns and controls, but does not define production architecture.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0A3C3-6F8A-4489-B3A6-B6EBCEEF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8167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597"/>
          </a:bodyPr>
          <a:lstStyle xmlns:a="http://schemas.openxmlformats.org/drawingml/2006/main"/>
          <a:p xmlns:a="http://schemas.openxmlformats.org/drawingml/2006/main">
            <a:pPr algn="l">
              <a:defRPr sz="1450" b="0">
                <a:solidFill>
                  <a:srgbClr val="2E7D5A"/>
                </a:solidFill>
                <a:latin typeface="Segoe UI"/>
                <a:ea typeface="Segoe UI"/>
                <a:cs typeface="Segoe UI"/>
              </a:defRPr>
            </a:pPr>
            <a:r>
              <a:rPr sz="1450" b="0">
                <a:solidFill>
                  <a:srgbClr val="2E7D5A"/>
                </a:solidFill>
                <a:latin typeface="Segoe UI"/>
                <a:ea typeface="Segoe UI"/>
                <a:cs typeface="Segoe UI"/>
              </a:rPr>
              <a:t>Prototype verification: production build succeeded and all 20 automated tests passed on 11 September 2026.</a:t>
            </a:r>
          </a:p>
        </p:txBody>
      </p:sp>
    </p:spTree>
    <p:extLst>
      <p:ext uri="{BB962C8B-B14F-4D97-AF65-F5344CB8AC3E}">
        <p14:creationId xmlns:p14="http://schemas.microsoft.com/office/powerpoint/2010/main" val="8754733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2E67F-AA36-4B90-9B38-A506A68F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43B58-CFDC-4D7C-B4DA-6D418BD1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Why the current platform needs a rebuild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9E8A7-CE99-4792-82ED-7F2D6D13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same defects affect safety control, data integrity and operating effort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04DFA-C36A-405F-985C-CE11D4A0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BB18E-BB72-48C5-ACE6-5CD51FE6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716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Four permit shapes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DCEB3-9BB8-481F-A8BE-E4871639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7167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Parent permits, drafts, embedded children and child permits require duplicated logic and merged reporting.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22CBE-66A2-48D5-87CE-4DF632E5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0985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41601-B341-451B-B22C-DFC750EF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A7D6F-F7E2-41F9-B1C1-2DDDD90F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2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848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Approval state is implicit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20180-9485-4346-9F51-0E99429C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Reviewer arrays and mutable group membership can change the meaning of an in-flight permit.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490E6-BCC0-4A65-9596-70B0741A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25891-385D-4E21-833A-2F37E3C7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64E6E-5569-4EAC-BA02-6178579B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528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913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Operational data is untyped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E639A-9390-4499-BA39-7FC984C7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5282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Dates and key fields appear in several formats and template-specific answer keys.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89F2E-4F57-48C4-9F70-A5FBBD1D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910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B51AB-1E06-4354-8454-B285CFDD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6F03E-83B9-4520-A78D-795FA858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434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534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History is difficult to trust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F6B71-494A-4210-8017-85911CCE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String logs and permit-shaped document copies cannot support precise filtering or reconciliation.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6BB5B-8931-42E3-9275-DA779D5B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81575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91921-9BFB-40B8-B1D8-0AE60FAC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D96CE-0B51-4BAA-96B6-ACA18B49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654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Integrity depends on application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FB8B3-1F28-4134-B761-43A68308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3397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Numbering races, weak uniqueness and hard-coded identifiers create avoidable failure modes.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7461BB-EE49-4221-8DEC-87640940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2589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B43B35"/>
                </a:solidFill>
                <a:latin typeface="Segoe UI"/>
                <a:ea typeface="Segoe UI"/>
                <a:cs typeface="Segoe UI"/>
              </a:defRPr>
            </a:pPr>
            <a:r>
              <a:rPr sz="1400" b="1">
                <a:solidFill>
                  <a:srgbClr val="B43B35"/>
                </a:solidFill>
                <a:latin typeface="Segoe UI"/>
                <a:ea typeface="Segoe UI"/>
                <a:cs typeface="Segoe UI"/>
              </a:rPr>
              <a:t>Repository inspection cannot quantify live defects. Production profiling must establish row counts, duplicates, nulls, orphaned references and historical variants.</a:t>
            </a:r>
          </a:p>
        </p:txBody>
      </p:sp>
    </p:spTree>
    <p:extLst>
      <p:ext uri="{BB962C8B-B14F-4D97-AF65-F5344CB8AC3E}">
        <p14:creationId xmlns:p14="http://schemas.microsoft.com/office/powerpoint/2010/main" val="6125744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7384AA-CCA1-419A-AADB-88F95896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733AE-2919-4F36-9510-AA8E8D6D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Target user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AF336-DBC7-4AF2-A796-8C1647DB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One traceable permit journey from creation to archive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68D94-94F3-4FD8-BC3E-9D3B9851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87DA1-28D9-4A28-AE7E-A1F7618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4123C-159E-4EB4-A1B0-ACEAA79A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Create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F438B-63D4-4B6F-9C5F-B262F5CC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347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Template-driven form, reserved fields, files and linked child permits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B7844-97E1-4276-9ADE-4ED0E648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A8AE7-BB51-4CEF-9D21-0C94C171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7514D-84F8-42DF-B0A2-CFC44E85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Submit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94663-1F03-41CF-8F55-BDFFB89E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2219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Validation completes and the company-specific approval route is fixed</a:t>
            </a:r>
          </a:p>
        </p:txBody>
      </p:sp>
      <p:cxnSp>
        <p:nvCxnSpPr>
          <p:cNvPr id="50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86000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17268-B93C-4FB0-BA92-E4C23D06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B3051-5F50-4DC4-AE11-8CA3C51F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3946D-838D-4B9C-9A9D-28D07341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6D42F-E530-45C9-94FF-A696A592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1961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Only the current reviewer can act; reasons and signatures are recorded</a:t>
            </a:r>
          </a:p>
        </p:txBody>
      </p:sp>
      <p:cxnSp>
        <p:nvCxnSpPr>
          <p:cNvPr id="55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81475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445D57-2381-42E5-8A30-398D24A7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E9820-E24F-4F32-9BAE-962CA650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73388-74B5-440A-B3C9-EB2190C2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Operate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1E833-02CF-444C-9FEC-85E7B59E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1397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Approved work, readings, controlled amendments and lifecycle actions</a:t>
            </a:r>
          </a:p>
        </p:txBody>
      </p: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076950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A999B3-1F34-4481-BA3B-9E3943F0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F11A6-8EAD-4264-A345-6D38E97E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4F3E4-34A1-446D-8E53-525E6C15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Close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9A4F72-FDAD-4D40-BB21-1B9F4DE4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65000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Signed request, authorised confirmation and independent child outcomes</a:t>
            </a:r>
          </a:p>
        </p:txBody>
      </p:sp>
      <p:cxnSp>
        <p:nvCxnSpPr>
          <p:cNvPr id="65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972425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91C05F-17FC-4F70-BEA1-A67F144D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6E68B8-2A29-4071-98FF-D720C253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E2C908-E8B8-4EDC-A2DC-353D096E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9FAE4C-0FF9-475C-976F-550042CE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773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Search, PDF generation, dashboards and retained audit history</a:t>
            </a:r>
          </a:p>
        </p:txBody>
      </p:sp>
      <p:cxnSp>
        <p:nvCxnSpPr>
          <p:cNvPr id="70" name=""/>
          <p:cNvCxnSpPr>
            <a:stCxn xmlns:a="http://schemas.openxmlformats.org/drawingml/2006/main" id="2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67900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856B1C-F632-4B73-8B81-0062FD3C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907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Cross-cutting controls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53FB12-5774-470A-8E88-BF7557A8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365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Server-side authorization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CFD305-06AC-4B53-8A45-AD4477BF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10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671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Versioned templates and revisions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C272EE-8665-4C3C-A056-FBA07B17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10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Append-only events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F59191-2982-4601-9BE3-38224AF6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844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UTC storage with Singapore display time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1DE610-D10D-4288-90AB-14318A81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4299"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Administration covers users, companies, sites, maps, disciplines, reviewer groups, templates, announcements and report access.</a:t>
            </a:r>
          </a:p>
        </p:txBody>
      </p:sp>
    </p:spTree>
    <p:extLst>
      <p:ext uri="{BB962C8B-B14F-4D97-AF65-F5344CB8AC3E}">
        <p14:creationId xmlns:p14="http://schemas.microsoft.com/office/powerpoint/2010/main" val="9549476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E98D2C-C125-4DAE-BE7D-3D1D8B8A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88695-4C87-4A17-8F5E-8A97B415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Target 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3FF05-9D85-472F-9566-F0ACB27F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 dedicated service boundary moves security and workflow rules out of the browser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04EFD-2CD6-4E37-BFF5-655663B0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23812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A9C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90C21-7DFE-4DF8-BF3D-AD6C6C86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813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166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React web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66973-0F3E-4569-A24F-9882A610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337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241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Role-aware navigation</a:t>
            </a:r>
          </a:p>
          <a:p xmlns:a="http://schemas.openxmlformats.org/drawingml/2006/main">
            <a:pPr algn="ctr">
              <a:defRPr sz="15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Permit forms and lists</a:t>
            </a:r>
          </a:p>
          <a:p xmlns:a="http://schemas.openxmlformats.org/drawingml/2006/main">
            <a:pPr algn="ctr">
              <a:defRPr sz="15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Admin and reporting 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F82B8-0B29-4995-810D-BCFAE784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09800"/>
            <a:ext cx="3476625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2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C0052-D977-4A46-A2A2-91748534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801"/>
          </a:bodyPr>
          <a:lstStyle xmlns:a="http://schemas.openxmlformats.org/drawingml/2006/main"/>
          <a:p xmlns:a="http://schemas.openxmlformats.org/drawingml/2006/main">
            <a:pPr algn="ctr">
              <a:def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API and workflow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CEB45-3536-451F-BE52-82D2790F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9562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1199"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Authentication and authorization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Validation and state transitions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Approval sequencing and audit events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Search, document and report orchestration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39A66-3790-4A96-8050-EAD928D3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2880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2AC70-257C-40FD-85F8-FFA239A7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0977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23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3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222D6-6A6E-4BF3-945E-592FFB27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574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8214"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CFE5F6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CFE5F6"/>
                </a:solidFill>
                <a:latin typeface="Segoe UI"/>
                <a:ea typeface="Segoe UI"/>
                <a:cs typeface="Segoe UI"/>
              </a:rPr>
              <a:t>System of record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460D9-EADF-4585-BE44-3BF141C3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476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3501B-D12F-405E-A5C5-425BAF57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147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Protected file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CB091-97FB-4FE3-AFD1-D55D01E3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76675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553"/>
          </a:bodyPr>
          <a:lstStyle xmlns:a="http://schemas.openxmlformats.org/drawingml/2006/main"/>
          <a:p xmlns:a="http://schemas.openxmlformats.org/drawingml/2006/main">
            <a:pPr algn="ctr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Attachments and generated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61E44-9533-4867-BAEC-910D0B03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2476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BB634-65F2-45F5-84F6-53EB4168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720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Email delivery worker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4E9D8-D7CF-42A5-B91B-637B77D9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33975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Transactional outbox and retries</a:t>
            </a:r>
          </a:p>
        </p:txBody>
      </p:sp>
      <p:cxnSp>
        <p:nvCxnSpPr>
          <p:cNvPr id="4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43250" y="342900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715250" y="2400300"/>
            <a:ext cx="114300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15250" y="3429000"/>
            <a:ext cx="114300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715250" y="3429000"/>
            <a:ext cx="1143000" cy="1609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9957E-A419-46D6-972E-0ECB30ED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593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6B4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26B43"/>
                </a:solidFill>
                <a:latin typeface="Segoe UI"/>
                <a:ea typeface="Segoe UI"/>
                <a:cs typeface="Segoe UI"/>
              </a:rPr>
              <a:t>Security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3A7E2-DBBE-4CF7-B9B4-B31F9F87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67325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5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E7D5A"/>
                </a:solidFill>
                <a:latin typeface="Segoe UI"/>
                <a:ea typeface="Segoe UI"/>
                <a:cs typeface="Segoe UI"/>
              </a:rPr>
              <a:t>Read models and scheduled exports use the same canonical data and status rules as the operational API.</a:t>
            </a:r>
          </a:p>
        </p:txBody>
      </p:sp>
    </p:spTree>
    <p:extLst>
      <p:ext uri="{BB962C8B-B14F-4D97-AF65-F5344CB8AC3E}">
        <p14:creationId xmlns:p14="http://schemas.microsoft.com/office/powerpoint/2010/main" val="18147488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44FDE-E83D-4F4A-BAB2-3C63CF33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BCB66-C7EF-4000-BB90-DF7C6083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Database redesign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7374C-B6A5-42B1-8736-718189EF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target model reduces duplication and makes workflow and reporting queryable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06680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905250"/>
                <a:gridCol w="4762500"/>
              </a:tblGrid>
              <a:tr h="60007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Concern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Current design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Target design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Permit storage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permits, drafts, embedded children and childpermits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One permits table; draft is a status and child is a self-reference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Workflow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Reviewer arrays and overlapping state fields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Ordered approval steps, eligible members and immutable action records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Operational fields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Mixed dates, strings and template-specific keys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Typed canonical columns; JSONB only for dynamic answers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History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Human-readable strings and permit-shaped PDF copies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Append-only events, immutable revisions and generated document links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Templates and numbering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Mutable template references and application-side counters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Pinned template versions and transactional sequences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D7556-EAC3-4F82-A228-9BF768B5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Result: predictable filtering, reliable audit reconstruction and a migration path that preserves legacy evidence.</a:t>
            </a:r>
          </a:p>
        </p:txBody>
      </p:sp>
    </p:spTree>
    <p:extLst>
      <p:ext uri="{BB962C8B-B14F-4D97-AF65-F5344CB8AC3E}">
        <p14:creationId xmlns:p14="http://schemas.microsoft.com/office/powerpoint/2010/main" val="7706268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24F75-CB84-4C58-B489-0E047E3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F3E29-74EF-4668-8E60-2865893B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Workflow controls proven in the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89804-C77B-4316-B74B-55FDF437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production service should retain the control intent while adopting the confirmed business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6B842-803D-44F4-A760-2F1959A2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52B70-D6E1-4DF2-9222-9A36B531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33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Complete permit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F3DC6-B792-4013-8ED6-ACBC05A9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2887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Required permit and safety fields must pass validation before submission.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CA15D-16B7-4437-B1C4-41886A2F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9E6EE-1E31-43ED-BA49-FDEB431A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133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Enforce current 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A0E5C-AF38-4FC7-99EB-908D2ACE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2887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Only the assigned role can act. Separation of duties blocks self-approval.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ECB24-6613-4A3C-80A9-77EB2623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1F548-0A79-4106-A350-1CAF3765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133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Record every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EDD27-C40F-4CDD-BBBF-F10BBC99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2887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Approvals, rejection reasons, status changes and revision events remain traceable.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5D261-C4D3-422B-9E95-C82B1654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AAF9E-6FD1-4A25-BA85-7091BBA8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957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Control operational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528F0-3246-4A07-BBD8-B60C88E2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91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Activation, suspension, resumption, closure and expiry checks use one policy layer.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63B79-62D5-497C-AD5D-F7B18CFD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22A87-AE83-4FC4-9F53-6B53A8EA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8957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Preserve revisions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D103E-AACF-4F31-83F1-9ABD47CF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191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 revised permit returns for approval and prior approved revisions become superseded.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BEA9B3-8A1C-4DDD-A4AE-A1656D37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48DE9-4B62-4EA8-86F2-178B3203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8957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Handle linked permits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6CE35-9819-4AE9-8A36-4FEF1F9C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91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Hot Work selection creates a linked child permit; final parent gating remains a policy decision.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C2C83-AB98-47C0-B41D-1233CB33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81675"/>
            <a:ext cx="1042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3B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B43B35"/>
                </a:solidFill>
                <a:latin typeface="Segoe UI"/>
                <a:ea typeface="Segoe UI"/>
                <a:cs typeface="Segoe UI"/>
              </a:rPr>
              <a:t>Current prototype chain: Individual Reviewer, MT Group, Permit Manager. Requirements propose a company-driven chain with Host, Host Manager, optional stages and OPS.</a:t>
            </a:r>
          </a:p>
        </p:txBody>
      </p:sp>
    </p:spTree>
    <p:extLst>
      <p:ext uri="{BB962C8B-B14F-4D97-AF65-F5344CB8AC3E}">
        <p14:creationId xmlns:p14="http://schemas.microsoft.com/office/powerpoint/2010/main" val="9409891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19B1F-6F90-4D9D-A3D3-0F782715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0D663-EDAC-470D-AC36-A46FEC98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Policy decisions required before schema freeze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A1537-4A99-4C46-BAA6-F922C9AC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supplied sources differ on six behaviours that directly affect data structures and workflow code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23875" y="2009775"/>
          <a:ext xmlns:a="http://schemas.openxmlformats.org/drawingml/2006/main" cx="1114425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857500"/>
                <a:gridCol w="3048000"/>
                <a:gridCol w="3524250"/>
              </a:tblGrid>
              <a:tr h="5783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Decision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Requirements review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Backend or prototype position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Recommended action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Approval roles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Company-driven Host chain with optional stages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Prototype uses Individual Reviewer, MT Group and PM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one canonical role and stage model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Parent-child gating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Parent and child approval may proceed independently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Prototype blocks parent final approval until required child approval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whether approval or only work start is gated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Reviewer group changes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Changes update every live permit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Database proposal snapshots eligibility at submission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Choose audit certainty or live reassignment semantics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Template changes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Labels and ordering may change after publish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Database proposal makes published versions immutable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Version every published change and define edit rules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PDF history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Generate on demand from current state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Schema includes revisions and generated document records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retention, evidence and regeneration policy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Expiry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No dedicated Expired status proposed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Prototype contains EXPIRED and automatic expiry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status, flag and reporting behaviour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3B617-2DB3-4FD4-8D42-A290850A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Recommendation: close these decisions in a short design authority workshop and record them as testable acceptance rules.</a:t>
            </a:r>
          </a:p>
        </p:txBody>
      </p:sp>
    </p:spTree>
    <p:extLst>
      <p:ext uri="{BB962C8B-B14F-4D97-AF65-F5344CB8AC3E}">
        <p14:creationId xmlns:p14="http://schemas.microsoft.com/office/powerpoint/2010/main" val="7454380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1F2416-340D-4021-B215-121BFD4B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B67B1-AB0B-4842-8019-0C77A901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Migration and cutover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E038C-E888-41D0-81B3-B6003033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 restartable, evidence-preserving migration reduces operational and audit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5F059-12DA-468D-AAAC-6680AAE1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D2383-E84A-4D31-AA98-EE1E9813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CB063-C6F9-4EFB-BE36-D5D64F90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Inventory and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3D14C-2063-4EC4-B056-F093CCF3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8170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Profile a sanitized production snapshot. Resolve status, key mapping, numbering, retention and duplicate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ED619-B342-4D84-B204-16790B61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CAB82-D5CF-4F7B-9273-0534307C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F67BA-286A-497C-A323-BB3FC2D5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412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Build and rehearse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88723-C508-4CDD-B1D9-4A0F9201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0769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Deploy an empty PostgreSQL schema. Load reference data, users, templates and permits with deterministic mappings.</a:t>
            </a:r>
          </a:p>
        </p:txBody>
      </p: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19375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ECC46-829A-4E42-9CDB-CCC50416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D07E7-2110-4FE3-92CB-F3C1D5CC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9E121-A9AE-4E61-8423-34646C87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Reconstruct permit detail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29834-31FE-4A17-9AC2-2BB64F69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0769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Extract canonical fields, migrate children and retain the unmodified legacy submission in the first revision.</a:t>
            </a:r>
          </a:p>
        </p:txBody>
      </p: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14900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6CA74-C61D-4ABC-A6F3-1EAE23BD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C84801-F920-48DD-B5F0-AF62105A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AFAE6-7976-4EDF-AE26-C7F30649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Rebuild workflow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92654-6468-4D0A-92E5-8BA95C1E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6074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Recreate approval steps and events conservatively. Flag ambiguity instead of inventing historical order.</a:t>
            </a:r>
          </a:p>
        </p:txBody>
      </p: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210425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ACAC02-EF33-4DF2-A315-140FFD4A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2B4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29DA0-873B-4979-858E-E3324E09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E7E08A-2EC0-485C-B516-78563DCB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Synchronize and cut over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B78A62-34D6-4435-9CF7-D6491DA8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47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Run change capture or a short freeze, reconcile, switch traffic and retain a rollback window.</a:t>
            </a:r>
          </a:p>
        </p:txBody>
      </p:sp>
      <p:cxnSp>
        <p:nvCxnSpPr>
          <p:cNvPr id="60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505950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51E41D-8613-4A66-AB65-E87EBF23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Reconciliation gates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A6558-7F57-4CEB-8DF7-35193CA0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18A8E1-983A-4D88-9D47-A674A57E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710"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Every source record is migrated, explicitly excluded or quarantined with a reason.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FB8671-12BF-4540-9FD1-4D933946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DB9B06-DD90-42B9-BA45-BA3890E4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2925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710"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Counts reconcile by status, site, template, parent-child relationship and approval outcome.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9ABF8C-9DFD-4E12-B758-E9E7B34F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3B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B43B35"/>
                </a:solidFill>
                <a:latin typeface="Segoe UI"/>
                <a:ea typeface="Segoe UI"/>
                <a:cs typeface="Segoe UI"/>
              </a:rPr>
              <a:t>Cutover proceeds only after critical reconciliation gates pass.</a:t>
            </a:r>
          </a:p>
        </p:txBody>
      </p:sp>
    </p:spTree>
    <p:extLst>
      <p:ext uri="{BB962C8B-B14F-4D97-AF65-F5344CB8AC3E}">
        <p14:creationId xmlns:p14="http://schemas.microsoft.com/office/powerpoint/2010/main" val="12773475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C53510-337E-439F-958B-F44A8F4D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50114-2E27-47C2-B0CB-106B82CB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Delivery sequencing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90C1C-C57B-4121-A712-0596807A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sequence protects domain decisions first and postpones irreversible migration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A9FF6-F67E-4B77-8B64-FB11F831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D9C39-5936-4F77-A53D-68ACE35D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383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Domain alignment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6DB8B-D785-489F-A0F9-01772E4C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Close the six policy decisions, acceptance rules and role matrix.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9F2B9-3A7C-4D62-8509-C3249E01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1A47C-3D98-436B-B903-CC8BACA8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7655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5DFC6-F3C3-4506-91B2-6C12092C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Platform 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9026D-0148-4709-8AE4-60D0BB39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844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Authentication, authorization, schema, files, event logging and deployment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C62BB-F994-4A5F-8FBD-530E8EA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DC66D-50C1-4172-996C-6B9399D2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9570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1A456-7B95-4882-A699-020FF4A0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766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Permit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7AF45-5B96-458E-AA44-C8F4A444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8829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Creation, child logic, approvals, operational actions, closure and revisions.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517F3-F01E-40FF-8DC0-30CCA458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FBCBD-E6A8-4455-8690-8ED67C9D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1485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3C16B-391B-41BF-B845-EFF26798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958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309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Administration and reporting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EEC38-81F8-46A4-9229-3A4FFAE6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958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Configuration screens, search, dashboards, PDF and scheduled exports.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410598-A78C-4FAD-B726-48C15C3C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BF4C8B-0478-4420-9E67-549EAEDE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0988CB-50C1-4B5E-B698-4A693DD7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1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Migration and launch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0DFD4C-D051-4CE4-900B-BF1ACADD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149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Profiling, ETL rehearsals, reconciliation, training, cutover and hypercare.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0A7B75-EB6F-470B-8114-A71984A2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712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1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Each track ends with working software, automated controls and explicit exit criteria. Time and staffing estimates follow the profiling and domain-alignment work.</a:t>
            </a:r>
          </a:p>
        </p:txBody>
      </p:sp>
    </p:spTree>
    <p:extLst>
      <p:ext uri="{BB962C8B-B14F-4D97-AF65-F5344CB8AC3E}">
        <p14:creationId xmlns:p14="http://schemas.microsoft.com/office/powerpoint/2010/main" val="17647764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AF71A-E226-4E51-A5B3-C9FE53A3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42447-0806-466A-B07F-7A0BE9F6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Principal delivery risks and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FE261-FCE9-4051-85BD-4E37CEE6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main risks can be reduced before production migration begins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76450"/>
          <a:ext xmlns:a="http://schemas.openxmlformats.org/drawingml/2006/main" cx="108585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333750"/>
                <a:gridCol w="4857750"/>
              </a:tblGrid>
              <a:tr h="56877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Risk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Potential impact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Primary control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Unresolved workflow policy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Schema rework and inconsistent approvals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Design authority workshop with signed acceptance rules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Unknown legacy data variants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Migration errors or incomplete history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Sanitized snapshot profiling, quarantine and reconciliation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Authorization implemented only in UI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Approval bypass or cross-company exposure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Server-side policy checks and negative security tests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Mutable configuration changes history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Past permits become difficult to explain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Versioned templates and explicit reviewer-change events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Reporting logic diverges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Dashboards disagree and trust falls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Canonical date/status definitions and shared read models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Cutover without rollback evidence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Extended operational disruption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Rehearsed cutover, rollback window and post-switch reconciliation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1B16C-922B-46D7-9D91-BB713A59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4828"/>
          </a:bodyPr>
          <a:lstStyle xmlns:a="http://schemas.openxmlformats.org/drawingml/2006/main"/>
          <a:p xmlns:a="http://schemas.openxmlformats.org/drawingml/2006/main">
            <a:pPr algn="l">
              <a:def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Risk ownership and thresholds should be assigned during implementation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17436921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D4910-0D64-4365-B8D8-A791E47E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C601D-14C3-4DC1-8836-0F1F4089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Decision requested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1722F-31A2-4E7F-94B5-76F45D0D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Approval now enables controlled discovery without committing to an unverified migration 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49CDC-14C5-4E0F-9C0F-65E8FF70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853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Approve the rebuild 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0F05C-6D3F-4348-9EED-5A81FB43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67795-F716-4E8A-B74F-9283719C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4924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PostgreSQL becomes the system of record for permits, workflow and audit history.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1F53B-52E6-4801-99B6-17AF30D4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00042-BE14-4A84-A54C-1DD24727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4924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495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The React frontend continues as the interaction baseline, backed by production services and server-side controls.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72F35-AB09-463C-8EB9-55A5E839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A6C5B-825F-4209-9484-0CF7EFD0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4924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Migration follows a profiled, restartable and reconciled cutover process.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3BFEC-F3DE-409C-A1A2-CD721302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52625"/>
            <a:ext cx="4514850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AFCF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6CEAD-C00B-4DF8-B8D7-E9201EF6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Authorize 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C94DD-C722-4AB6-8714-FAE85E50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8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6613F-D43F-47A6-A3BA-55C7E51C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289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Close policy decisions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3497F-C12B-4F09-A5D0-610D784F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24200"/>
            <a:ext cx="320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Confirm roles, gating, group changes, templates, PDF history and expiry.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4FB89-6DEC-440E-9A55-286BAD26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F0D0C-E57C-4ACB-9F42-17A01329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433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Profile production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E7959-FC4A-4DFA-9E55-B4FB9B01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38600"/>
            <a:ext cx="320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Use a recent sanitized snapshot and publish the reconciliation baseline.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840DE5-747A-42A1-99BE-66A69299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67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86F70-3BF7-4C13-A461-4896A860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577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Plan implementation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EF839D-A781-4535-8ED9-BA1EF5C4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53000"/>
            <a:ext cx="320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33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Assign owners, delivery capacity, environments and measurable exit criteria.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BF4E6-4E6B-422A-BD21-D63AF671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959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Production build and migration dates follow these three actions.</a:t>
            </a:r>
          </a:p>
        </p:txBody>
      </p:sp>
    </p:spTree>
    <p:extLst>
      <p:ext uri="{BB962C8B-B14F-4D97-AF65-F5344CB8AC3E}">
        <p14:creationId xmlns:p14="http://schemas.microsoft.com/office/powerpoint/2010/main" val="18812320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B02A9-D03E-4D98-B875-2A466F90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A1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DAB64-3861-4E50-8B99-F949CB1C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Appendix: frontend prototype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4D499-19E7-428F-823D-ECA547E2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codebase demonstrates workflow intent but remains a browser-based functional draft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810250"/>
              </a:tblGrid>
              <a:tr h="53067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Demonstrated now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Production capability still required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Role-aware navigation and permit queues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Real identity provider integration, sessions and server authorization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Template-driven permit creation and validation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Published template versioning, reserved-field enforcement and file services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Sequential review decisions and separation of duties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Confirmed role chain, delegation policy, concurrency and transactional workflow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Linked Hot Work child permit and parent controls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Full B1-B5/LSS rules, merge semantics and decision on approval gating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Activation, suspension, closure, expiry and revisions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Confirmed status model, notifications, scheduled jobs and immutable history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Admin, search, audit and PDF action views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Persistent master data, server-side search, dashboards, documents, audit and permission checks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1182B-C525-4919-BD4D-2BF475C9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0357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2E7D5A"/>
                </a:solidFill>
                <a:latin typeface="Bahnschrift"/>
                <a:ea typeface="Bahnschrift"/>
                <a:cs typeface="Bahnschrift"/>
              </a:defRPr>
            </a:pPr>
            <a:r>
              <a:rPr sz="1400" b="1">
                <a:solidFill>
                  <a:srgbClr val="2E7D5A"/>
                </a:solidFill>
                <a:latin typeface="Bahnschrift"/>
                <a:ea typeface="Bahnschrift"/>
                <a:cs typeface="Bahnschrift"/>
              </a:rPr>
              <a:t>Verification: React production build succeeded; 3 test files and 20 tests passed.</a:t>
            </a:r>
          </a:p>
        </p:txBody>
      </p:sp>
    </p:spTree>
    <p:extLst>
      <p:ext uri="{BB962C8B-B14F-4D97-AF65-F5344CB8AC3E}">
        <p14:creationId xmlns:p14="http://schemas.microsoft.com/office/powerpoint/2010/main" val="1339925491"/>
      </p:ext>
    </p:extLst>
  </p:cSld>
</p:sld>
</file>

<file path=ppt/theme/theme1.xml><?xml version="1.0" encoding="utf-8"?>
<a:theme xmlns:a="http://schemas.openxmlformats.org/drawingml/2006/main" name="OST PPT Template">
  <a:themeElements>
    <a:clrScheme name="OneSystems Colour">
      <a:dk1>
        <a:srgbClr val="003366"/>
      </a:dk1>
      <a:lt1>
        <a:srgbClr val="F5F5F5"/>
      </a:lt1>
      <a:dk2>
        <a:srgbClr val="333333"/>
      </a:dk2>
      <a:lt2>
        <a:srgbClr val="9FC9EB"/>
      </a:lt2>
      <a:accent1>
        <a:srgbClr val="FF8C00"/>
      </a:accent1>
      <a:accent2>
        <a:srgbClr val="0066CC"/>
      </a:accent2>
      <a:accent3>
        <a:srgbClr val="0000A5"/>
      </a:accent3>
      <a:accent4>
        <a:srgbClr val="C0C0C0"/>
      </a:accent4>
      <a:accent5>
        <a:srgbClr val="0066CC"/>
      </a:accent5>
      <a:accent6>
        <a:srgbClr val="333333"/>
      </a:accent6>
      <a:hlink>
        <a:srgbClr val="FF8C00"/>
      </a:hlink>
      <a:folHlink>
        <a:srgbClr val="0066CC"/>
      </a:folHlink>
    </a:clrScheme>
    <a:fontScheme name="OST Font">
      <a:majorFont>
        <a:latin typeface="Bahnschrift"/>
        <a:ea typeface=""/>
        <a:cs typeface=""/>
      </a:majorFont>
      <a:minorFont>
        <a:latin typeface="Segoe UI"/>
        <a:ea typeface=""/>
        <a:cs typeface=""/>
      </a:minorFont>
    </a:fontScheme>
    <a:fmtScheme name="OneSystems Colou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2026-09-11T06:36:43.7170000Z</dcterms:created>
  <dcterms:modified xsi:type="dcterms:W3CDTF">2026-09-11T06:36:43.7170000Z</dcterms:modified>
</coreProperties>
</file>